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1"/>
  </p:sldMasterIdLst>
  <p:sldIdLst>
    <p:sldId id="267" r:id="rId2"/>
    <p:sldId id="268" r:id="rId3"/>
    <p:sldId id="256" r:id="rId4"/>
    <p:sldId id="296" r:id="rId5"/>
    <p:sldId id="259" r:id="rId6"/>
    <p:sldId id="260" r:id="rId7"/>
    <p:sldId id="261" r:id="rId8"/>
    <p:sldId id="262" r:id="rId9"/>
    <p:sldId id="263" r:id="rId10"/>
    <p:sldId id="264" r:id="rId11"/>
    <p:sldId id="286" r:id="rId12"/>
    <p:sldId id="287" r:id="rId13"/>
    <p:sldId id="288" r:id="rId14"/>
    <p:sldId id="289" r:id="rId15"/>
    <p:sldId id="274" r:id="rId16"/>
    <p:sldId id="265" r:id="rId17"/>
    <p:sldId id="266" r:id="rId18"/>
    <p:sldId id="273" r:id="rId19"/>
    <p:sldId id="277" r:id="rId20"/>
    <p:sldId id="297" r:id="rId21"/>
    <p:sldId id="298" r:id="rId22"/>
    <p:sldId id="299" r:id="rId23"/>
    <p:sldId id="300" r:id="rId24"/>
    <p:sldId id="301" r:id="rId25"/>
    <p:sldId id="302" r:id="rId26"/>
    <p:sldId id="280" r:id="rId27"/>
    <p:sldId id="285" r:id="rId28"/>
    <p:sldId id="303" r:id="rId29"/>
    <p:sldId id="290" r:id="rId30"/>
    <p:sldId id="291" r:id="rId31"/>
    <p:sldId id="292" r:id="rId32"/>
    <p:sldId id="293" r:id="rId33"/>
    <p:sldId id="294" r:id="rId34"/>
    <p:sldId id="295" r:id="rId3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8CB0664-59BE-43B5-B69C-8BEEA8C18053}">
          <p14:sldIdLst>
            <p14:sldId id="267"/>
            <p14:sldId id="268"/>
            <p14:sldId id="256"/>
            <p14:sldId id="296"/>
            <p14:sldId id="259"/>
            <p14:sldId id="260"/>
            <p14:sldId id="261"/>
            <p14:sldId id="262"/>
            <p14:sldId id="263"/>
            <p14:sldId id="264"/>
            <p14:sldId id="286"/>
            <p14:sldId id="287"/>
            <p14:sldId id="288"/>
            <p14:sldId id="289"/>
            <p14:sldId id="274"/>
            <p14:sldId id="265"/>
            <p14:sldId id="266"/>
            <p14:sldId id="273"/>
            <p14:sldId id="277"/>
            <p14:sldId id="297"/>
            <p14:sldId id="298"/>
            <p14:sldId id="299"/>
            <p14:sldId id="300"/>
            <p14:sldId id="301"/>
            <p14:sldId id="302"/>
            <p14:sldId id="280"/>
            <p14:sldId id="285"/>
          </p14:sldIdLst>
        </p14:section>
        <p14:section name="Untitled Section" id="{DE5B1754-505B-4867-9836-66E2C2DF5590}">
          <p14:sldIdLst>
            <p14:sldId id="303"/>
            <p14:sldId id="290"/>
            <p14:sldId id="291"/>
            <p14:sldId id="292"/>
            <p14:sldId id="293"/>
            <p14:sldId id="294"/>
            <p14:sldId id="295"/>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ruce Amey" initials="BA" lastIdx="3" clrIdx="0">
    <p:extLst>
      <p:ext uri="{19B8F6BF-5375-455C-9EA6-DF929625EA0E}">
        <p15:presenceInfo xmlns:p15="http://schemas.microsoft.com/office/powerpoint/2012/main" userId="S::bamey@apwu.org::d8696396-5ffc-4bd2-a128-67356268ead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62" d="100"/>
          <a:sy n="62" d="100"/>
        </p:scale>
        <p:origin x="72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2-03-15T15:26:58.618" idx="2">
    <p:pos x="10" y="10"/>
    <p:text/>
    <p:extLst>
      <p:ext uri="{C676402C-5697-4E1C-873F-D02D1690AC5C}">
        <p15:threadingInfo xmlns:p15="http://schemas.microsoft.com/office/powerpoint/2012/main" timeZoneBias="240"/>
      </p:ext>
    </p:extLst>
  </p:cm>
</p:cmLst>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4E9CF893-FD8C-4F75-8866-EE983A301459}" type="datetimeFigureOut">
              <a:rPr lang="en-US" smtClean="0"/>
              <a:t>8/2/2022</a:t>
            </a:fld>
            <a:endParaRPr lang="en-US" dirty="0"/>
          </a:p>
        </p:txBody>
      </p:sp>
      <p:sp>
        <p:nvSpPr>
          <p:cNvPr id="5" name="Footer Placeholder 4"/>
          <p:cNvSpPr>
            <a:spLocks noGrp="1"/>
          </p:cNvSpPr>
          <p:nvPr>
            <p:ph type="ftr" sz="quarter" idx="11"/>
          </p:nvPr>
        </p:nvSpPr>
        <p:spPr>
          <a:xfrm>
            <a:off x="3962399" y="5870575"/>
            <a:ext cx="4893958" cy="377825"/>
          </a:xfrm>
        </p:spPr>
        <p:txBody>
          <a:bodyPr/>
          <a:lstStyle/>
          <a:p>
            <a:endParaRPr lang="en-US" dirty="0"/>
          </a:p>
        </p:txBody>
      </p:sp>
      <p:sp>
        <p:nvSpPr>
          <p:cNvPr id="6" name="Slide Number Placeholder 5"/>
          <p:cNvSpPr>
            <a:spLocks noGrp="1"/>
          </p:cNvSpPr>
          <p:nvPr>
            <p:ph type="sldNum" sz="quarter" idx="12"/>
          </p:nvPr>
        </p:nvSpPr>
        <p:spPr>
          <a:xfrm>
            <a:off x="10608958" y="5870575"/>
            <a:ext cx="551167" cy="377825"/>
          </a:xfrm>
        </p:spPr>
        <p:txBody>
          <a:bodyPr/>
          <a:lstStyle/>
          <a:p>
            <a:fld id="{00396E4C-3F31-4F92-80E0-3B6000C1680A}" type="slidenum">
              <a:rPr lang="en-US" smtClean="0"/>
              <a:t>‹#›</a:t>
            </a:fld>
            <a:endParaRPr lang="en-US" dirty="0"/>
          </a:p>
        </p:txBody>
      </p:sp>
    </p:spTree>
    <p:extLst>
      <p:ext uri="{BB962C8B-B14F-4D97-AF65-F5344CB8AC3E}">
        <p14:creationId xmlns:p14="http://schemas.microsoft.com/office/powerpoint/2010/main" val="3652504207"/>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E9CF893-FD8C-4F75-8866-EE983A301459}" type="datetimeFigureOut">
              <a:rPr lang="en-US" smtClean="0"/>
              <a:t>8/2/2022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0396E4C-3F31-4F92-80E0-3B6000C1680A}" type="slidenum">
              <a:rPr lang="en-US" smtClean="0"/>
              <a:t>‹#›</a:t>
            </a:fld>
            <a:endParaRPr lang="en-US" dirty="0"/>
          </a:p>
        </p:txBody>
      </p:sp>
    </p:spTree>
    <p:extLst>
      <p:ext uri="{BB962C8B-B14F-4D97-AF65-F5344CB8AC3E}">
        <p14:creationId xmlns:p14="http://schemas.microsoft.com/office/powerpoint/2010/main" val="33694144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E9CF893-FD8C-4F75-8866-EE983A301459}" type="datetimeFigureOut">
              <a:rPr lang="en-US" smtClean="0"/>
              <a:t>8/2/2022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0396E4C-3F31-4F92-80E0-3B6000C1680A}" type="slidenum">
              <a:rPr lang="en-US" smtClean="0"/>
              <a:t>‹#›</a:t>
            </a:fld>
            <a:endParaRPr lang="en-US" dirty="0"/>
          </a:p>
        </p:txBody>
      </p:sp>
    </p:spTree>
    <p:extLst>
      <p:ext uri="{BB962C8B-B14F-4D97-AF65-F5344CB8AC3E}">
        <p14:creationId xmlns:p14="http://schemas.microsoft.com/office/powerpoint/2010/main" val="33031504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E9CF893-FD8C-4F75-8866-EE983A301459}" type="datetimeFigureOut">
              <a:rPr lang="en-US" smtClean="0"/>
              <a:t>8/2/2022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0396E4C-3F31-4F92-80E0-3B6000C1680A}" type="slidenum">
              <a:rPr lang="en-US" smtClean="0"/>
              <a:t>‹#›</a:t>
            </a:fld>
            <a:endParaRPr lang="en-US" dirty="0"/>
          </a:p>
        </p:txBody>
      </p:sp>
    </p:spTree>
    <p:extLst>
      <p:ext uri="{BB962C8B-B14F-4D97-AF65-F5344CB8AC3E}">
        <p14:creationId xmlns:p14="http://schemas.microsoft.com/office/powerpoint/2010/main" val="27716209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E9CF893-FD8C-4F75-8866-EE983A301459}" type="datetimeFigureOut">
              <a:rPr lang="en-US" smtClean="0"/>
              <a:t>8/2/2022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00396E4C-3F31-4F92-80E0-3B6000C1680A}" type="slidenum">
              <a:rPr lang="en-US" smtClean="0"/>
              <a:t>‹#›</a:t>
            </a:fld>
            <a:endParaRPr lang="en-US" dirty="0"/>
          </a:p>
        </p:txBody>
      </p:sp>
    </p:spTree>
    <p:extLst>
      <p:ext uri="{BB962C8B-B14F-4D97-AF65-F5344CB8AC3E}">
        <p14:creationId xmlns:p14="http://schemas.microsoft.com/office/powerpoint/2010/main" val="6543752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E9CF893-FD8C-4F75-8866-EE983A301459}" type="datetimeFigureOut">
              <a:rPr lang="en-US" smtClean="0"/>
              <a:t>8/2/2022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0396E4C-3F31-4F92-80E0-3B6000C1680A}" type="slidenum">
              <a:rPr lang="en-US" smtClean="0"/>
              <a:t>‹#›</a:t>
            </a:fld>
            <a:endParaRPr lang="en-US" dirty="0"/>
          </a:p>
        </p:txBody>
      </p:sp>
    </p:spTree>
    <p:extLst>
      <p:ext uri="{BB962C8B-B14F-4D97-AF65-F5344CB8AC3E}">
        <p14:creationId xmlns:p14="http://schemas.microsoft.com/office/powerpoint/2010/main" val="14881871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4E9CF893-FD8C-4F75-8866-EE983A301459}" type="datetimeFigureOut">
              <a:rPr lang="en-US" smtClean="0"/>
              <a:t>8/2/2022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00396E4C-3F31-4F92-80E0-3B6000C1680A}" type="slidenum">
              <a:rPr lang="en-US" smtClean="0"/>
              <a:t>‹#›</a:t>
            </a:fld>
            <a:endParaRPr lang="en-US" dirty="0"/>
          </a:p>
        </p:txBody>
      </p:sp>
    </p:spTree>
    <p:extLst>
      <p:ext uri="{BB962C8B-B14F-4D97-AF65-F5344CB8AC3E}">
        <p14:creationId xmlns:p14="http://schemas.microsoft.com/office/powerpoint/2010/main" val="692484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E9CF893-FD8C-4F75-8866-EE983A301459}" type="datetimeFigureOut">
              <a:rPr lang="en-US" smtClean="0"/>
              <a:t>8/2/2022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0396E4C-3F31-4F92-80E0-3B6000C1680A}" type="slidenum">
              <a:rPr lang="en-US" smtClean="0"/>
              <a:t>‹#›</a:t>
            </a:fld>
            <a:endParaRPr lang="en-US" dirty="0"/>
          </a:p>
        </p:txBody>
      </p:sp>
    </p:spTree>
    <p:extLst>
      <p:ext uri="{BB962C8B-B14F-4D97-AF65-F5344CB8AC3E}">
        <p14:creationId xmlns:p14="http://schemas.microsoft.com/office/powerpoint/2010/main" val="13967036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E9CF893-FD8C-4F75-8866-EE983A301459}" type="datetimeFigureOut">
              <a:rPr lang="en-US" smtClean="0"/>
              <a:t>8/2/2022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0396E4C-3F31-4F92-80E0-3B6000C1680A}" type="slidenum">
              <a:rPr lang="en-US" smtClean="0"/>
              <a:t>‹#›</a:t>
            </a:fld>
            <a:endParaRPr lang="en-US" dirty="0"/>
          </a:p>
        </p:txBody>
      </p:sp>
    </p:spTree>
    <p:extLst>
      <p:ext uri="{BB962C8B-B14F-4D97-AF65-F5344CB8AC3E}">
        <p14:creationId xmlns:p14="http://schemas.microsoft.com/office/powerpoint/2010/main" val="4236752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E9CF893-FD8C-4F75-8866-EE983A301459}" type="datetimeFigureOut">
              <a:rPr lang="en-US" smtClean="0"/>
              <a:t>8/2/2022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0396E4C-3F31-4F92-80E0-3B6000C1680A}" type="slidenum">
              <a:rPr lang="en-US" smtClean="0"/>
              <a:t>‹#›</a:t>
            </a:fld>
            <a:endParaRPr lang="en-US" dirty="0"/>
          </a:p>
        </p:txBody>
      </p:sp>
    </p:spTree>
    <p:extLst>
      <p:ext uri="{BB962C8B-B14F-4D97-AF65-F5344CB8AC3E}">
        <p14:creationId xmlns:p14="http://schemas.microsoft.com/office/powerpoint/2010/main" val="33685340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E9CF893-FD8C-4F75-8866-EE983A301459}" type="datetimeFigureOut">
              <a:rPr lang="en-US" smtClean="0"/>
              <a:t>8/2/2022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0396E4C-3F31-4F92-80E0-3B6000C1680A}" type="slidenum">
              <a:rPr lang="en-US" smtClean="0"/>
              <a:t>‹#›</a:t>
            </a:fld>
            <a:endParaRPr lang="en-US" dirty="0"/>
          </a:p>
        </p:txBody>
      </p:sp>
    </p:spTree>
    <p:extLst>
      <p:ext uri="{BB962C8B-B14F-4D97-AF65-F5344CB8AC3E}">
        <p14:creationId xmlns:p14="http://schemas.microsoft.com/office/powerpoint/2010/main" val="38460375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E9CF893-FD8C-4F75-8866-EE983A301459}" type="datetimeFigureOut">
              <a:rPr lang="en-US" smtClean="0"/>
              <a:t>8/2/2022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0396E4C-3F31-4F92-80E0-3B6000C1680A}" type="slidenum">
              <a:rPr lang="en-US" smtClean="0"/>
              <a:t>‹#›</a:t>
            </a:fld>
            <a:endParaRPr lang="en-US" dirty="0"/>
          </a:p>
        </p:txBody>
      </p:sp>
    </p:spTree>
    <p:extLst>
      <p:ext uri="{BB962C8B-B14F-4D97-AF65-F5344CB8AC3E}">
        <p14:creationId xmlns:p14="http://schemas.microsoft.com/office/powerpoint/2010/main" val="2654660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E9CF893-FD8C-4F75-8866-EE983A301459}" type="datetimeFigureOut">
              <a:rPr lang="en-US" smtClean="0"/>
              <a:t>8/2/2022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0396E4C-3F31-4F92-80E0-3B6000C1680A}" type="slidenum">
              <a:rPr lang="en-US" smtClean="0"/>
              <a:t>‹#›</a:t>
            </a:fld>
            <a:endParaRPr lang="en-US" dirty="0"/>
          </a:p>
        </p:txBody>
      </p:sp>
    </p:spTree>
    <p:extLst>
      <p:ext uri="{BB962C8B-B14F-4D97-AF65-F5344CB8AC3E}">
        <p14:creationId xmlns:p14="http://schemas.microsoft.com/office/powerpoint/2010/main" val="38883420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E9CF893-FD8C-4F75-8866-EE983A301459}" type="datetimeFigureOut">
              <a:rPr lang="en-US" smtClean="0"/>
              <a:t>8/2/2022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0396E4C-3F31-4F92-80E0-3B6000C1680A}" type="slidenum">
              <a:rPr lang="en-US" smtClean="0"/>
              <a:t>‹#›</a:t>
            </a:fld>
            <a:endParaRPr lang="en-US" dirty="0"/>
          </a:p>
        </p:txBody>
      </p:sp>
    </p:spTree>
    <p:extLst>
      <p:ext uri="{BB962C8B-B14F-4D97-AF65-F5344CB8AC3E}">
        <p14:creationId xmlns:p14="http://schemas.microsoft.com/office/powerpoint/2010/main" val="26198558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E9CF893-FD8C-4F75-8866-EE983A301459}" type="datetimeFigureOut">
              <a:rPr lang="en-US" smtClean="0"/>
              <a:t>8/2/2022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0396E4C-3F31-4F92-80E0-3B6000C1680A}" type="slidenum">
              <a:rPr lang="en-US" smtClean="0"/>
              <a:t>‹#›</a:t>
            </a:fld>
            <a:endParaRPr lang="en-US" dirty="0"/>
          </a:p>
        </p:txBody>
      </p:sp>
    </p:spTree>
    <p:extLst>
      <p:ext uri="{BB962C8B-B14F-4D97-AF65-F5344CB8AC3E}">
        <p14:creationId xmlns:p14="http://schemas.microsoft.com/office/powerpoint/2010/main" val="102202661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E9CF893-FD8C-4F75-8866-EE983A301459}" type="datetimeFigureOut">
              <a:rPr lang="en-US" smtClean="0"/>
              <a:t>8/2/2022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0396E4C-3F31-4F92-80E0-3B6000C1680A}" type="slidenum">
              <a:rPr lang="en-US" smtClean="0"/>
              <a:t>‹#›</a:t>
            </a:fld>
            <a:endParaRPr lang="en-US" dirty="0"/>
          </a:p>
        </p:txBody>
      </p:sp>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Tree>
    <p:extLst>
      <p:ext uri="{BB962C8B-B14F-4D97-AF65-F5344CB8AC3E}">
        <p14:creationId xmlns:p14="http://schemas.microsoft.com/office/powerpoint/2010/main" val="40095229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E9CF893-FD8C-4F75-8866-EE983A301459}" type="datetimeFigureOut">
              <a:rPr lang="en-US" smtClean="0"/>
              <a:t>8/2/2022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0396E4C-3F31-4F92-80E0-3B6000C1680A}" type="slidenum">
              <a:rPr lang="en-US" smtClean="0"/>
              <a:t>‹#›</a:t>
            </a:fld>
            <a:endParaRPr lang="en-US" dirty="0"/>
          </a:p>
        </p:txBody>
      </p:sp>
    </p:spTree>
    <p:extLst>
      <p:ext uri="{BB962C8B-B14F-4D97-AF65-F5344CB8AC3E}">
        <p14:creationId xmlns:p14="http://schemas.microsoft.com/office/powerpoint/2010/main" val="23514227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4E9CF893-FD8C-4F75-8866-EE983A301459}" type="datetimeFigureOut">
              <a:rPr lang="en-US" smtClean="0"/>
              <a:t>8/2/2022</a:t>
            </a:fld>
            <a:endParaRPr lang="en-US" dirty="0"/>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00396E4C-3F31-4F92-80E0-3B6000C1680A}" type="slidenum">
              <a:rPr lang="en-US" smtClean="0"/>
              <a:t>‹#›</a:t>
            </a:fld>
            <a:endParaRPr lang="en-US" dirty="0"/>
          </a:p>
        </p:txBody>
      </p:sp>
    </p:spTree>
    <p:extLst>
      <p:ext uri="{BB962C8B-B14F-4D97-AF65-F5344CB8AC3E}">
        <p14:creationId xmlns:p14="http://schemas.microsoft.com/office/powerpoint/2010/main" val="1752591818"/>
      </p:ext>
    </p:extLst>
  </p:cSld>
  <p:clrMap bg1="dk1" tx1="lt1" bg2="dk2" tx2="lt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 id="2147483729" r:id="rId15"/>
    <p:sldLayoutId id="2147483730" r:id="rId16"/>
    <p:sldLayoutId id="2147483731"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image" Target="../media/image9.emf"/><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865E3F-DD4F-4934-86E6-0D826398F622}"/>
              </a:ext>
            </a:extLst>
          </p:cNvPr>
          <p:cNvSpPr>
            <a:spLocks noGrp="1"/>
          </p:cNvSpPr>
          <p:nvPr>
            <p:ph type="title"/>
          </p:nvPr>
        </p:nvSpPr>
        <p:spPr>
          <a:xfrm>
            <a:off x="685801" y="609600"/>
            <a:ext cx="10682784" cy="1456267"/>
          </a:xfrm>
        </p:spPr>
        <p:txBody>
          <a:bodyPr/>
          <a:lstStyle/>
          <a:p>
            <a:pPr algn="ctr"/>
            <a:r>
              <a:rPr lang="en-US" b="1" dirty="0">
                <a:latin typeface="Arial Black" panose="020B0A04020102020204" pitchFamily="34" charset="0"/>
              </a:rPr>
              <a:t>26</a:t>
            </a:r>
            <a:r>
              <a:rPr lang="en-US" b="1" baseline="30000" dirty="0">
                <a:latin typeface="Arial Black" panose="020B0A04020102020204" pitchFamily="34" charset="0"/>
              </a:rPr>
              <a:t>th</a:t>
            </a:r>
            <a:r>
              <a:rPr lang="en-US" b="1" dirty="0">
                <a:latin typeface="Arial Black" panose="020B0A04020102020204" pitchFamily="34" charset="0"/>
              </a:rPr>
              <a:t> biennial national convention</a:t>
            </a:r>
            <a:br>
              <a:rPr lang="en-US" b="1" dirty="0">
                <a:latin typeface="Arial Black" panose="020B0A04020102020204" pitchFamily="34" charset="0"/>
              </a:rPr>
            </a:br>
            <a:r>
              <a:rPr lang="en-US" b="1" dirty="0">
                <a:latin typeface="Arial Black" panose="020B0A04020102020204" pitchFamily="34" charset="0"/>
              </a:rPr>
              <a:t>pre-convention workshop</a:t>
            </a:r>
          </a:p>
        </p:txBody>
      </p:sp>
      <p:pic>
        <p:nvPicPr>
          <p:cNvPr id="1026" name="Picture 2">
            <a:extLst>
              <a:ext uri="{FF2B5EF4-FFF2-40B4-BE49-F238E27FC236}">
                <a16:creationId xmlns:a16="http://schemas.microsoft.com/office/drawing/2014/main" id="{D79EEF8B-36BC-4C2E-A1D4-2B379C85A5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00612" y="2549928"/>
            <a:ext cx="2390775" cy="309562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898B6E29-1C62-4535-A8EB-DFBAE4A2163C}"/>
              </a:ext>
            </a:extLst>
          </p:cNvPr>
          <p:cNvSpPr txBox="1"/>
          <p:nvPr/>
        </p:nvSpPr>
        <p:spPr>
          <a:xfrm>
            <a:off x="4367284" y="5950424"/>
            <a:ext cx="3534770" cy="369332"/>
          </a:xfrm>
          <a:prstGeom prst="rect">
            <a:avLst/>
          </a:prstGeom>
          <a:noFill/>
        </p:spPr>
        <p:txBody>
          <a:bodyPr wrap="square" rtlCol="0">
            <a:spAutoFit/>
          </a:bodyPr>
          <a:lstStyle/>
          <a:p>
            <a:pPr algn="ctr"/>
            <a:r>
              <a:rPr lang="en-US" dirty="0"/>
              <a:t>Mark Dimondstein, President</a:t>
            </a:r>
          </a:p>
        </p:txBody>
      </p:sp>
    </p:spTree>
    <p:extLst>
      <p:ext uri="{BB962C8B-B14F-4D97-AF65-F5344CB8AC3E}">
        <p14:creationId xmlns:p14="http://schemas.microsoft.com/office/powerpoint/2010/main" val="17568696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B9C216-ACE8-4337-9C84-89318025551C}"/>
              </a:ext>
            </a:extLst>
          </p:cNvPr>
          <p:cNvSpPr>
            <a:spLocks noGrp="1"/>
          </p:cNvSpPr>
          <p:nvPr>
            <p:ph type="title"/>
          </p:nvPr>
        </p:nvSpPr>
        <p:spPr>
          <a:xfrm>
            <a:off x="685801" y="609600"/>
            <a:ext cx="10655489" cy="1456267"/>
          </a:xfrm>
        </p:spPr>
        <p:txBody>
          <a:bodyPr/>
          <a:lstStyle/>
          <a:p>
            <a:pPr algn="ctr"/>
            <a:r>
              <a:rPr lang="en-US" dirty="0">
                <a:latin typeface="Arial Black" panose="020B0A04020102020204" pitchFamily="34" charset="0"/>
              </a:rPr>
              <a:t>Apwu motor vehicle service</a:t>
            </a:r>
            <a:br>
              <a:rPr lang="en-US" dirty="0">
                <a:latin typeface="Arial Black" panose="020B0A04020102020204" pitchFamily="34" charset="0"/>
              </a:rPr>
            </a:br>
            <a:r>
              <a:rPr lang="en-US" dirty="0">
                <a:latin typeface="Arial Black" panose="020B0A04020102020204" pitchFamily="34" charset="0"/>
              </a:rPr>
              <a:t>craft</a:t>
            </a:r>
          </a:p>
        </p:txBody>
      </p:sp>
      <p:pic>
        <p:nvPicPr>
          <p:cNvPr id="2050" name="Picture 2">
            <a:extLst>
              <a:ext uri="{FF2B5EF4-FFF2-40B4-BE49-F238E27FC236}">
                <a16:creationId xmlns:a16="http://schemas.microsoft.com/office/drawing/2014/main" id="{38C16124-B716-4FA0-A1F3-C5CCCB65008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8925" y="2710218"/>
            <a:ext cx="2961422" cy="2961422"/>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1E350318-B168-4FE6-A5CE-6E88121B62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65049" y="2685773"/>
            <a:ext cx="2961422" cy="296142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656E3DC9-9C89-4E25-B89C-3BFCE36DD054}"/>
              </a:ext>
            </a:extLst>
          </p:cNvPr>
          <p:cNvSpPr txBox="1"/>
          <p:nvPr/>
        </p:nvSpPr>
        <p:spPr>
          <a:xfrm>
            <a:off x="1978925" y="6018663"/>
            <a:ext cx="2961422" cy="369332"/>
          </a:xfrm>
          <a:prstGeom prst="rect">
            <a:avLst/>
          </a:prstGeom>
          <a:noFill/>
        </p:spPr>
        <p:txBody>
          <a:bodyPr wrap="square" rtlCol="0">
            <a:spAutoFit/>
          </a:bodyPr>
          <a:lstStyle/>
          <a:p>
            <a:pPr algn="ctr"/>
            <a:r>
              <a:rPr lang="en-US" dirty="0"/>
              <a:t>Michael Foster, Director</a:t>
            </a:r>
          </a:p>
        </p:txBody>
      </p:sp>
      <p:sp>
        <p:nvSpPr>
          <p:cNvPr id="5" name="TextBox 4">
            <a:extLst>
              <a:ext uri="{FF2B5EF4-FFF2-40B4-BE49-F238E27FC236}">
                <a16:creationId xmlns:a16="http://schemas.microsoft.com/office/drawing/2014/main" id="{8B00D5AA-5DD8-446B-A0AB-6A67882E8E44}"/>
              </a:ext>
            </a:extLst>
          </p:cNvPr>
          <p:cNvSpPr txBox="1"/>
          <p:nvPr/>
        </p:nvSpPr>
        <p:spPr>
          <a:xfrm>
            <a:off x="6965049" y="6032311"/>
            <a:ext cx="2961422" cy="369332"/>
          </a:xfrm>
          <a:prstGeom prst="rect">
            <a:avLst/>
          </a:prstGeom>
          <a:noFill/>
        </p:spPr>
        <p:txBody>
          <a:bodyPr wrap="square" rtlCol="0">
            <a:spAutoFit/>
          </a:bodyPr>
          <a:lstStyle/>
          <a:p>
            <a:pPr algn="ctr"/>
            <a:r>
              <a:rPr lang="en-US" dirty="0"/>
              <a:t>Ken Prinz, Asst Director</a:t>
            </a:r>
          </a:p>
        </p:txBody>
      </p:sp>
    </p:spTree>
    <p:extLst>
      <p:ext uri="{BB962C8B-B14F-4D97-AF65-F5344CB8AC3E}">
        <p14:creationId xmlns:p14="http://schemas.microsoft.com/office/powerpoint/2010/main" val="663800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990A3B-1AA3-4233-AB17-AC41E145C792}"/>
              </a:ext>
            </a:extLst>
          </p:cNvPr>
          <p:cNvSpPr>
            <a:spLocks noGrp="1"/>
          </p:cNvSpPr>
          <p:nvPr>
            <p:ph type="ctrTitle"/>
          </p:nvPr>
        </p:nvSpPr>
        <p:spPr>
          <a:xfrm>
            <a:off x="3612107" y="722321"/>
            <a:ext cx="7898310" cy="2421464"/>
          </a:xfrm>
        </p:spPr>
        <p:txBody>
          <a:bodyPr>
            <a:normAutofit fontScale="90000"/>
          </a:bodyPr>
          <a:lstStyle/>
          <a:p>
            <a:r>
              <a:rPr lang="en-US" b="1" dirty="0">
                <a:latin typeface="Arial Black" panose="020B0A04020102020204" pitchFamily="34" charset="0"/>
              </a:rPr>
              <a:t>MAXIMIZATION</a:t>
            </a:r>
            <a:br>
              <a:rPr lang="en-US" b="1" dirty="0">
                <a:latin typeface="Arial Black" panose="020B0A04020102020204" pitchFamily="34" charset="0"/>
              </a:rPr>
            </a:br>
            <a:r>
              <a:rPr lang="en-US" b="1" dirty="0">
                <a:latin typeface="Arial Black" panose="020B0A04020102020204" pitchFamily="34" charset="0"/>
              </a:rPr>
              <a:t>FULL-TIME FLEXIBLE APWU</a:t>
            </a:r>
            <a:br>
              <a:rPr lang="en-US" sz="3600" dirty="0"/>
            </a:br>
            <a:endParaRPr lang="en-US" sz="3600" dirty="0"/>
          </a:p>
        </p:txBody>
      </p:sp>
      <p:sp>
        <p:nvSpPr>
          <p:cNvPr id="3" name="Subtitle 2">
            <a:extLst>
              <a:ext uri="{FF2B5EF4-FFF2-40B4-BE49-F238E27FC236}">
                <a16:creationId xmlns:a16="http://schemas.microsoft.com/office/drawing/2014/main" id="{7D803387-E130-4CB0-BDF9-BF5B022F2082}"/>
              </a:ext>
            </a:extLst>
          </p:cNvPr>
          <p:cNvSpPr>
            <a:spLocks noGrp="1"/>
          </p:cNvSpPr>
          <p:nvPr>
            <p:ph type="subTitle" idx="1"/>
          </p:nvPr>
        </p:nvSpPr>
        <p:spPr>
          <a:xfrm>
            <a:off x="7561262" y="4097741"/>
            <a:ext cx="4122683" cy="1405467"/>
          </a:xfrm>
        </p:spPr>
        <p:txBody>
          <a:bodyPr>
            <a:normAutofit lnSpcReduction="10000"/>
          </a:bodyPr>
          <a:lstStyle/>
          <a:p>
            <a:r>
              <a:rPr lang="en-US" sz="2000" b="1" dirty="0">
                <a:latin typeface="Arial Black" panose="020B0A04020102020204" pitchFamily="34" charset="0"/>
              </a:rPr>
              <a:t>INSTRUCTED BY: </a:t>
            </a:r>
          </a:p>
          <a:p>
            <a:endParaRPr lang="en-US" dirty="0"/>
          </a:p>
          <a:p>
            <a:r>
              <a:rPr lang="en-US" sz="3200" dirty="0"/>
              <a:t>BRUCE AMEY, nba </a:t>
            </a:r>
          </a:p>
        </p:txBody>
      </p:sp>
      <p:pic>
        <p:nvPicPr>
          <p:cNvPr id="3074" name="Picture 2">
            <a:extLst>
              <a:ext uri="{FF2B5EF4-FFF2-40B4-BE49-F238E27FC236}">
                <a16:creationId xmlns:a16="http://schemas.microsoft.com/office/drawing/2014/main" id="{5A09DC58-6C1A-45D9-BADA-20C7518C08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40464" y="2478491"/>
            <a:ext cx="3024717" cy="30247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292800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B6AE7-A47B-A3A8-C8AC-0A140F37736C}"/>
              </a:ext>
            </a:extLst>
          </p:cNvPr>
          <p:cNvSpPr>
            <a:spLocks noGrp="1"/>
          </p:cNvSpPr>
          <p:nvPr>
            <p:ph type="title"/>
          </p:nvPr>
        </p:nvSpPr>
        <p:spPr/>
        <p:txBody>
          <a:bodyPr>
            <a:normAutofit/>
          </a:bodyPr>
          <a:lstStyle/>
          <a:p>
            <a:pPr algn="ctr"/>
            <a:r>
              <a:rPr lang="en-US" sz="4800" dirty="0"/>
              <a:t>Full-Time Flexible Memorandum</a:t>
            </a:r>
          </a:p>
        </p:txBody>
      </p:sp>
    </p:spTree>
    <p:extLst>
      <p:ext uri="{BB962C8B-B14F-4D97-AF65-F5344CB8AC3E}">
        <p14:creationId xmlns:p14="http://schemas.microsoft.com/office/powerpoint/2010/main" val="16278036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91300F3-895E-4617-9121-543902B17A78}"/>
              </a:ext>
            </a:extLst>
          </p:cNvPr>
          <p:cNvSpPr txBox="1"/>
          <p:nvPr/>
        </p:nvSpPr>
        <p:spPr>
          <a:xfrm>
            <a:off x="3047320" y="1443841"/>
            <a:ext cx="6094638" cy="4247317"/>
          </a:xfrm>
          <a:prstGeom prst="rect">
            <a:avLst/>
          </a:prstGeom>
          <a:noFill/>
        </p:spPr>
        <p:txBody>
          <a:bodyPr wrap="square">
            <a:spAutoFit/>
          </a:bodyPr>
          <a:lstStyle/>
          <a:p>
            <a:r>
              <a:rPr lang="en-US" b="1" dirty="0"/>
              <a:t>Section 3. Employee Complements, </a:t>
            </a:r>
            <a:r>
              <a:rPr lang="en-US" dirty="0"/>
              <a:t>The Employer shall staff all postal installations which have 200 or more man years of employment in the regular work force as of the date of this Agreement with 90% full-time employees. The Employer shall maximize the number of full-time employees and minimize the number of part-time employees who have no fixed work schedules in all postal installations: A part-time flexible employee working eight (8) hours within ten (10), on the same five (5) days each week and the same assignment over a six-month period will demonstrate the need for converting the assignment to a full-time position . Where a count and inspection of an auxiliary city delivery assignment indicates that conversion to a full-time position is in order, conversion will be made.</a:t>
            </a:r>
          </a:p>
          <a:p>
            <a:pPr algn="ctr"/>
            <a:r>
              <a:rPr lang="en-US" dirty="0"/>
              <a:t> See Memorandum of Understanding, Page 141. </a:t>
            </a:r>
          </a:p>
        </p:txBody>
      </p:sp>
    </p:spTree>
    <p:extLst>
      <p:ext uri="{BB962C8B-B14F-4D97-AF65-F5344CB8AC3E}">
        <p14:creationId xmlns:p14="http://schemas.microsoft.com/office/powerpoint/2010/main" val="4249707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A39FC26-5235-499D-B981-990C8179F25E}"/>
              </a:ext>
            </a:extLst>
          </p:cNvPr>
          <p:cNvSpPr txBox="1"/>
          <p:nvPr/>
        </p:nvSpPr>
        <p:spPr>
          <a:xfrm>
            <a:off x="3048681" y="487025"/>
            <a:ext cx="6094638" cy="6370975"/>
          </a:xfrm>
          <a:prstGeom prst="rect">
            <a:avLst/>
          </a:prstGeom>
          <a:noFill/>
        </p:spPr>
        <p:txBody>
          <a:bodyPr wrap="square">
            <a:spAutoFit/>
          </a:bodyPr>
          <a:lstStyle/>
          <a:p>
            <a:pPr algn="ctr"/>
            <a:r>
              <a:rPr lang="en-US" b="1" dirty="0"/>
              <a:t>MEMORANDUM OF UNDERSTANDING </a:t>
            </a:r>
          </a:p>
          <a:p>
            <a:pPr algn="ctr"/>
            <a:r>
              <a:rPr lang="en-US" b="1" dirty="0"/>
              <a:t>Between </a:t>
            </a:r>
          </a:p>
          <a:p>
            <a:pPr algn="ctr"/>
            <a:r>
              <a:rPr lang="en-US" b="1" dirty="0"/>
              <a:t>United States Postal Service</a:t>
            </a:r>
          </a:p>
          <a:p>
            <a:pPr algn="ctr"/>
            <a:r>
              <a:rPr lang="en-US" b="1" dirty="0"/>
              <a:t> and </a:t>
            </a:r>
          </a:p>
          <a:p>
            <a:pPr algn="ctr"/>
            <a:r>
              <a:rPr lang="en-US" b="1" dirty="0"/>
              <a:t>American Postal Workers Union, AFL-CIO</a:t>
            </a:r>
          </a:p>
          <a:p>
            <a:pPr algn="ctr"/>
            <a:endParaRPr lang="en-US" b="1" dirty="0"/>
          </a:p>
          <a:p>
            <a:pPr algn="ctr"/>
            <a:r>
              <a:rPr lang="en-US" b="1" dirty="0"/>
              <a:t> National Association of Letter Carriers, AFL-CIO </a:t>
            </a:r>
          </a:p>
          <a:p>
            <a:pPr algn="ctr"/>
            <a:endParaRPr lang="en-US" b="1" dirty="0"/>
          </a:p>
          <a:p>
            <a:pPr algn="ctr"/>
            <a:r>
              <a:rPr lang="en-US" b="1" dirty="0"/>
              <a:t>National Post Office Mail Handlers, Watchmen, Messengers and Group Leaders Division of the Laborers' International Union of North America, AFL-CIO </a:t>
            </a:r>
          </a:p>
          <a:p>
            <a:endParaRPr lang="en-US" dirty="0"/>
          </a:p>
          <a:p>
            <a:r>
              <a:rPr lang="en-US" sz="1600" dirty="0"/>
              <a:t>The parties hereby commit themselves to the maximization of fulltime employees in all installations. Therefore, they agree to establish a National Joint Committee on Maximization . That Committee shall, during the first year of the 1978 National Agreement, develop criteria applicable by craft for the establishment of additional fulltime duty assignments with either regular or flexible schedules. To this end, the Committee shall develop both an approach to combining part-time flexible work hours into full-time duty assignments and a method for determining scheduling needs compatible with the creation of the maximum possible number of such assignments. </a:t>
            </a:r>
          </a:p>
          <a:p>
            <a:endParaRPr lang="en-US" sz="1600" dirty="0"/>
          </a:p>
          <a:p>
            <a:r>
              <a:rPr lang="en-US" sz="1600" dirty="0"/>
              <a:t>Date: September 15, 1978</a:t>
            </a:r>
          </a:p>
        </p:txBody>
      </p:sp>
    </p:spTree>
    <p:extLst>
      <p:ext uri="{BB962C8B-B14F-4D97-AF65-F5344CB8AC3E}">
        <p14:creationId xmlns:p14="http://schemas.microsoft.com/office/powerpoint/2010/main" val="10472400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A922AA3-10E2-4764-AF07-672222FD96EB}"/>
              </a:ext>
            </a:extLst>
          </p:cNvPr>
          <p:cNvSpPr txBox="1"/>
          <p:nvPr/>
        </p:nvSpPr>
        <p:spPr>
          <a:xfrm>
            <a:off x="3048681" y="889843"/>
            <a:ext cx="6094638" cy="5078313"/>
          </a:xfrm>
          <a:prstGeom prst="rect">
            <a:avLst/>
          </a:prstGeom>
          <a:noFill/>
        </p:spPr>
        <p:txBody>
          <a:bodyPr wrap="square">
            <a:spAutoFit/>
          </a:bodyPr>
          <a:lstStyle/>
          <a:p>
            <a:r>
              <a:rPr lang="en-US" b="1" dirty="0"/>
              <a:t>Section 3. Employee Complements </a:t>
            </a:r>
          </a:p>
          <a:p>
            <a:pPr marL="342900" indent="-342900">
              <a:buAutoNum type="alphaUcPeriod"/>
            </a:pPr>
            <a:r>
              <a:rPr lang="en-US" dirty="0"/>
              <a:t>The Employer shall staff all postal installations which have 200 or more man years of employment in the regular work force as of the date of this Agreement with 90% fulltime employees . </a:t>
            </a:r>
          </a:p>
          <a:p>
            <a:pPr marL="342900" indent="-342900">
              <a:buAutoNum type="alphaUcPeriod"/>
            </a:pPr>
            <a:r>
              <a:rPr lang="en-US" dirty="0"/>
              <a:t>B . The Employer shall maximize the number of full-time employees and minimize the number of part-time employees who have no fixed work schedules in all postal installations . </a:t>
            </a:r>
          </a:p>
          <a:p>
            <a:pPr marL="342900" indent="-342900">
              <a:buAutoNum type="alphaUcPeriod"/>
            </a:pPr>
            <a:r>
              <a:rPr lang="en-US" dirty="0"/>
              <a:t>C . A part-time flexible employee working eight (8) hours within ten (10), on the same five (5) days each week and the same assignment over a six month period will demonstrate the need for converting the assignment to a full-time position . </a:t>
            </a:r>
          </a:p>
          <a:p>
            <a:pPr marL="342900" indent="-342900">
              <a:buAutoNum type="alphaUcPeriod"/>
            </a:pPr>
            <a:r>
              <a:rPr lang="en-US" dirty="0"/>
              <a:t>D . Where a count and inspection of an auxiliary city delivery assignment indicates that conversion to a full-time position is in order, conversion will be made .                          See Memo Page 166 and 169 </a:t>
            </a:r>
          </a:p>
        </p:txBody>
      </p:sp>
    </p:spTree>
    <p:extLst>
      <p:ext uri="{BB962C8B-B14F-4D97-AF65-F5344CB8AC3E}">
        <p14:creationId xmlns:p14="http://schemas.microsoft.com/office/powerpoint/2010/main" val="4872188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F1B1EAC-B58C-41CA-8A05-5216A1C127CC}"/>
              </a:ext>
            </a:extLst>
          </p:cNvPr>
          <p:cNvSpPr txBox="1"/>
          <p:nvPr/>
        </p:nvSpPr>
        <p:spPr>
          <a:xfrm>
            <a:off x="3048681" y="1166842"/>
            <a:ext cx="6094638" cy="4524315"/>
          </a:xfrm>
          <a:prstGeom prst="rect">
            <a:avLst/>
          </a:prstGeom>
          <a:noFill/>
        </p:spPr>
        <p:txBody>
          <a:bodyPr wrap="square">
            <a:spAutoFit/>
          </a:bodyPr>
          <a:lstStyle/>
          <a:p>
            <a:pPr algn="ctr"/>
            <a:r>
              <a:rPr lang="en-US" b="1" dirty="0"/>
              <a:t>ARTICLE VII MEMORANDUM OF UNDERSTANDING </a:t>
            </a:r>
          </a:p>
          <a:p>
            <a:endParaRPr lang="en-US" dirty="0"/>
          </a:p>
          <a:p>
            <a:r>
              <a:rPr lang="en-US" b="1" dirty="0"/>
              <a:t>Where a part-time flexible has performed duties within his craft and occupational group within an installation at least 40 hours a week (8 within 9, or 8 within 10, as applicable), 5 days a week, over a period of 6 months, the senior part-time flexible shall be converted to full-time status . </a:t>
            </a:r>
          </a:p>
          <a:p>
            <a:endParaRPr lang="en-US" b="1" dirty="0"/>
          </a:p>
          <a:p>
            <a:r>
              <a:rPr lang="en-US" b="1" dirty="0"/>
              <a:t>This criteria shall be applied to postal installations with 150 or more man years of employment. </a:t>
            </a:r>
          </a:p>
          <a:p>
            <a:endParaRPr lang="en-US" b="1" dirty="0"/>
          </a:p>
          <a:p>
            <a:r>
              <a:rPr lang="en-US" b="1" dirty="0"/>
              <a:t>It is further understood that part-time flexibles converted to full-time under this criteria will have flexible reporting times, flexible non-scheduled days and flexible reporting locations within the installation depending upon operational requirements as established on the preceding Wednesday. </a:t>
            </a:r>
          </a:p>
        </p:txBody>
      </p:sp>
    </p:spTree>
    <p:extLst>
      <p:ext uri="{BB962C8B-B14F-4D97-AF65-F5344CB8AC3E}">
        <p14:creationId xmlns:p14="http://schemas.microsoft.com/office/powerpoint/2010/main" val="28109010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38B1471-2D17-4465-9AEE-F7017B0DDA9C}"/>
              </a:ext>
            </a:extLst>
          </p:cNvPr>
          <p:cNvSpPr txBox="1"/>
          <p:nvPr/>
        </p:nvSpPr>
        <p:spPr>
          <a:xfrm>
            <a:off x="1053193" y="1216479"/>
            <a:ext cx="10229849" cy="5078313"/>
          </a:xfrm>
          <a:prstGeom prst="rect">
            <a:avLst/>
          </a:prstGeom>
          <a:noFill/>
        </p:spPr>
        <p:txBody>
          <a:bodyPr wrap="square">
            <a:spAutoFit/>
          </a:bodyPr>
          <a:lstStyle/>
          <a:p>
            <a:pPr algn="ctr"/>
            <a:r>
              <a:rPr lang="en-US" b="1" dirty="0"/>
              <a:t>MEMORANDUM OF UNDERSTANDING</a:t>
            </a:r>
          </a:p>
          <a:p>
            <a:pPr algn="ctr"/>
            <a:r>
              <a:rPr lang="en-US" b="1" dirty="0"/>
              <a:t> BETWEEN</a:t>
            </a:r>
          </a:p>
          <a:p>
            <a:pPr algn="ctr"/>
            <a:r>
              <a:rPr lang="en-US" b="1" dirty="0"/>
              <a:t> THE UNITED STATES POSTAL SERVICE AND AMERICAN POSTAL WORKERS UNION, AFL-CIO</a:t>
            </a:r>
          </a:p>
          <a:p>
            <a:pPr algn="ctr"/>
            <a:endParaRPr lang="en-US" b="1" dirty="0"/>
          </a:p>
          <a:p>
            <a:r>
              <a:rPr lang="en-US" b="1" dirty="0"/>
              <a:t> Re: Maximization/Full-time Flexible – APWU</a:t>
            </a:r>
          </a:p>
          <a:p>
            <a:endParaRPr lang="en-US" dirty="0"/>
          </a:p>
          <a:p>
            <a:r>
              <a:rPr lang="en-US" dirty="0"/>
              <a:t> Where a part-time flexible has performed duties within his craft and occupational group within an installation at least 40 hours a week (8 within 9, or 8 within l0, as applicable), 5 days a week, over a period of 6 months, the senior part-time flexible shall be converted to full-time status. </a:t>
            </a:r>
          </a:p>
          <a:p>
            <a:endParaRPr lang="en-US" dirty="0"/>
          </a:p>
          <a:p>
            <a:r>
              <a:rPr lang="en-US" dirty="0"/>
              <a:t>This criteria shall be applied to postal installations with l25 or more man years of employment. </a:t>
            </a:r>
          </a:p>
          <a:p>
            <a:endParaRPr lang="en-US" dirty="0"/>
          </a:p>
          <a:p>
            <a:r>
              <a:rPr lang="en-US" dirty="0"/>
              <a:t>It is further understood that part-time flexibles converted to full-time under this criteria will have flexible reporting times, flexible nonscheduled days, and flexible reporting locations within the installation depending upon operational requirements as established on the preceding Wednesday. The parties will implement this in accordance with their past practice.</a:t>
            </a:r>
          </a:p>
          <a:p>
            <a:endParaRPr lang="en-US" dirty="0"/>
          </a:p>
          <a:p>
            <a:r>
              <a:rPr lang="en-US" dirty="0"/>
              <a:t> Date: July 21, 1987</a:t>
            </a:r>
          </a:p>
        </p:txBody>
      </p:sp>
    </p:spTree>
    <p:extLst>
      <p:ext uri="{BB962C8B-B14F-4D97-AF65-F5344CB8AC3E}">
        <p14:creationId xmlns:p14="http://schemas.microsoft.com/office/powerpoint/2010/main" val="10371420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F2DFA18-715F-4B0E-8B29-071ACAE2B579}"/>
              </a:ext>
            </a:extLst>
          </p:cNvPr>
          <p:cNvSpPr txBox="1"/>
          <p:nvPr/>
        </p:nvSpPr>
        <p:spPr>
          <a:xfrm>
            <a:off x="850446" y="1191985"/>
            <a:ext cx="10491107" cy="5355312"/>
          </a:xfrm>
          <a:prstGeom prst="rect">
            <a:avLst/>
          </a:prstGeom>
          <a:noFill/>
        </p:spPr>
        <p:txBody>
          <a:bodyPr wrap="square">
            <a:spAutoFit/>
          </a:bodyPr>
          <a:lstStyle/>
          <a:p>
            <a:pPr algn="ctr"/>
            <a:r>
              <a:rPr lang="en-US" b="1" dirty="0"/>
              <a:t>MEMORANDUM OF UNDERSTANDING </a:t>
            </a:r>
          </a:p>
          <a:p>
            <a:pPr algn="ctr"/>
            <a:r>
              <a:rPr lang="en-US" b="1" dirty="0"/>
              <a:t>BETWEEN </a:t>
            </a:r>
          </a:p>
          <a:p>
            <a:pPr algn="ctr"/>
            <a:r>
              <a:rPr lang="en-US" b="1" dirty="0"/>
              <a:t>THE UNITED STATES POSTAL SERVICE AND AMERICAN POSTAL WORKERS UNION, AFL-CIO</a:t>
            </a:r>
          </a:p>
          <a:p>
            <a:pPr algn="ctr"/>
            <a:endParaRPr lang="en-US" b="1" dirty="0"/>
          </a:p>
          <a:p>
            <a:r>
              <a:rPr lang="en-US" b="1" dirty="0"/>
              <a:t> Re: Conversions under the Maximization Memorandum </a:t>
            </a:r>
          </a:p>
          <a:p>
            <a:endParaRPr lang="en-US" b="1" dirty="0"/>
          </a:p>
          <a:p>
            <a:r>
              <a:rPr lang="en-US" b="1" dirty="0"/>
              <a:t>As discussed, when a full-time assignment(s) is being withheld in accordance with Article 12, the subsequent backfilling of the assignment(s) will not count towards the time considered for maximizing full-time dub assignments, in accordance with the Memorandum of Understanding. </a:t>
            </a:r>
          </a:p>
          <a:p>
            <a:endParaRPr lang="en-US" b="1" dirty="0"/>
          </a:p>
          <a:p>
            <a:r>
              <a:rPr lang="en-US" b="1" dirty="0"/>
              <a:t>The parties also recognize that employees are to be converted to full-time consistent with the memorandum, provided the work being performed to meet maximization qualification in not being performed on assignment(s) described above.</a:t>
            </a:r>
          </a:p>
          <a:p>
            <a:endParaRPr lang="en-US" b="1" dirty="0"/>
          </a:p>
          <a:p>
            <a:r>
              <a:rPr lang="en-US" b="1" dirty="0"/>
              <a:t>____________________________ 								__________________________ </a:t>
            </a:r>
          </a:p>
          <a:p>
            <a:r>
              <a:rPr lang="en-US" b="1" dirty="0"/>
              <a:t>Sherry A. Cagnoli 												William Burrus</a:t>
            </a:r>
          </a:p>
          <a:p>
            <a:r>
              <a:rPr lang="en-US" b="1" dirty="0"/>
              <a:t>Assistant Postmaster General 									Executive Vice President </a:t>
            </a:r>
          </a:p>
          <a:p>
            <a:r>
              <a:rPr lang="en-US" b="1" dirty="0"/>
              <a:t>Labor Relations Department		 								American Postal Workers </a:t>
            </a:r>
          </a:p>
          <a:p>
            <a:r>
              <a:rPr lang="en-US" b="1" dirty="0"/>
              <a:t>U.S. Postal Service				 								Workers Union, AFL-CIO</a:t>
            </a:r>
          </a:p>
        </p:txBody>
      </p:sp>
    </p:spTree>
    <p:extLst>
      <p:ext uri="{BB962C8B-B14F-4D97-AF65-F5344CB8AC3E}">
        <p14:creationId xmlns:p14="http://schemas.microsoft.com/office/powerpoint/2010/main" val="22096881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16180B2-D6DE-67B9-2B41-511964602F18}"/>
              </a:ext>
            </a:extLst>
          </p:cNvPr>
          <p:cNvSpPr txBox="1"/>
          <p:nvPr/>
        </p:nvSpPr>
        <p:spPr>
          <a:xfrm>
            <a:off x="775607" y="1305342"/>
            <a:ext cx="10033907" cy="4708981"/>
          </a:xfrm>
          <a:prstGeom prst="rect">
            <a:avLst/>
          </a:prstGeom>
          <a:noFill/>
        </p:spPr>
        <p:txBody>
          <a:bodyPr wrap="square">
            <a:spAutoFit/>
          </a:bodyPr>
          <a:lstStyle/>
          <a:p>
            <a:r>
              <a:rPr lang="en-US" sz="2000" dirty="0"/>
              <a:t>FULL-TIME FLEXIBLE MEMORANDUM </a:t>
            </a:r>
          </a:p>
          <a:p>
            <a:r>
              <a:rPr lang="en-US" sz="2000" dirty="0"/>
              <a:t>Conversions to full-time are required when the following requirements are met: </a:t>
            </a:r>
          </a:p>
          <a:p>
            <a:endParaRPr lang="en-US" sz="2000" dirty="0"/>
          </a:p>
          <a:p>
            <a:r>
              <a:rPr lang="en-US" sz="2000" dirty="0"/>
              <a:t> The part-time flexible employee works at least thirty-nine hours per week during the previous six months (paid leave hours count as work hours, except where taken to round out to forty hours). </a:t>
            </a:r>
          </a:p>
          <a:p>
            <a:endParaRPr lang="en-US" sz="2000" dirty="0"/>
          </a:p>
          <a:p>
            <a:r>
              <a:rPr lang="en-US" sz="2000" dirty="0"/>
              <a:t> The part-time flexible employee worked practically five eight hour days each service week during the six-month period (consistent with the above thirty-nine-hour requirement). </a:t>
            </a:r>
          </a:p>
          <a:p>
            <a:endParaRPr lang="en-US" sz="2000" dirty="0"/>
          </a:p>
          <a:p>
            <a:r>
              <a:rPr lang="en-US" sz="2000" dirty="0"/>
              <a:t> The employee works in an office with 125 or more work years. </a:t>
            </a:r>
          </a:p>
          <a:p>
            <a:endParaRPr lang="en-US" sz="2000" dirty="0"/>
          </a:p>
          <a:p>
            <a:r>
              <a:rPr lang="en-US" sz="2000" dirty="0"/>
              <a:t>The part-time flexible employee was not working in a withheld position during the period. </a:t>
            </a:r>
          </a:p>
          <a:p>
            <a:endParaRPr lang="en-US" sz="2000" dirty="0"/>
          </a:p>
          <a:p>
            <a:r>
              <a:rPr lang="en-US" sz="2000" dirty="0"/>
              <a:t>The work was performed in the employee’s craft, occupational group and installation. </a:t>
            </a:r>
          </a:p>
        </p:txBody>
      </p:sp>
    </p:spTree>
    <p:extLst>
      <p:ext uri="{BB962C8B-B14F-4D97-AF65-F5344CB8AC3E}">
        <p14:creationId xmlns:p14="http://schemas.microsoft.com/office/powerpoint/2010/main" val="42415015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32BD60B-901B-5B7C-F94F-D9189DA9D221}"/>
              </a:ext>
            </a:extLst>
          </p:cNvPr>
          <p:cNvSpPr txBox="1"/>
          <p:nvPr/>
        </p:nvSpPr>
        <p:spPr>
          <a:xfrm>
            <a:off x="1616529" y="1910442"/>
            <a:ext cx="8637814" cy="3539430"/>
          </a:xfrm>
          <a:prstGeom prst="rect">
            <a:avLst/>
          </a:prstGeom>
          <a:noFill/>
        </p:spPr>
        <p:txBody>
          <a:bodyPr wrap="square">
            <a:spAutoFit/>
          </a:bodyPr>
          <a:lstStyle/>
          <a:p>
            <a:r>
              <a:rPr lang="en-US" sz="2800" dirty="0"/>
              <a:t>If a part-time flexible employee meets the above criterion, the senior part-time flexible employee must be converted to full-time flexible. Such employee has a flexible schedule which is established week-to-week and posted on the Wednesday preceding the service week. The schedule may involve varying daily reporting times, varying nonscheduled days and varying reporting locations within the installation depending on operational requirements. </a:t>
            </a:r>
          </a:p>
        </p:txBody>
      </p:sp>
    </p:spTree>
    <p:extLst>
      <p:ext uri="{BB962C8B-B14F-4D97-AF65-F5344CB8AC3E}">
        <p14:creationId xmlns:p14="http://schemas.microsoft.com/office/powerpoint/2010/main" val="10051847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2945AB0-1EDA-8B6D-09A2-860A3B2ADE9D}"/>
              </a:ext>
            </a:extLst>
          </p:cNvPr>
          <p:cNvSpPr txBox="1"/>
          <p:nvPr/>
        </p:nvSpPr>
        <p:spPr>
          <a:xfrm>
            <a:off x="1641021" y="1934936"/>
            <a:ext cx="8270421" cy="3539430"/>
          </a:xfrm>
          <a:prstGeom prst="rect">
            <a:avLst/>
          </a:prstGeom>
          <a:noFill/>
        </p:spPr>
        <p:txBody>
          <a:bodyPr wrap="square">
            <a:spAutoFit/>
          </a:bodyPr>
          <a:lstStyle/>
          <a:p>
            <a:r>
              <a:rPr lang="en-US" sz="3200" dirty="0"/>
              <a:t>Employees converted to full-time flexible status are considered unassigned (unencumbered in the clerk craft) full-time employees who may bid on posted duty assignments or be assigned to residual duty assignments. Full-time flexible assignments are incumbent only assignments and are not filled when vacated. </a:t>
            </a:r>
          </a:p>
        </p:txBody>
      </p:sp>
    </p:spTree>
    <p:extLst>
      <p:ext uri="{BB962C8B-B14F-4D97-AF65-F5344CB8AC3E}">
        <p14:creationId xmlns:p14="http://schemas.microsoft.com/office/powerpoint/2010/main" val="36848886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BAD77C6-1447-F8E4-A98C-34D7B523F5D6}"/>
              </a:ext>
            </a:extLst>
          </p:cNvPr>
          <p:cNvSpPr txBox="1"/>
          <p:nvPr/>
        </p:nvSpPr>
        <p:spPr>
          <a:xfrm>
            <a:off x="1445079" y="2090058"/>
            <a:ext cx="8907235" cy="2062103"/>
          </a:xfrm>
          <a:prstGeom prst="rect">
            <a:avLst/>
          </a:prstGeom>
          <a:noFill/>
        </p:spPr>
        <p:txBody>
          <a:bodyPr wrap="square">
            <a:spAutoFit/>
          </a:bodyPr>
          <a:lstStyle/>
          <a:p>
            <a:r>
              <a:rPr lang="en-US" sz="3200" dirty="0"/>
              <a:t>Note: Conversions required pursuant to the Full-Time Flexible Memorandum shall be in addition to (but not duplicative of) conversions that may be required pursuant to Article 7.3.A, B and C. </a:t>
            </a:r>
          </a:p>
        </p:txBody>
      </p:sp>
    </p:spTree>
    <p:extLst>
      <p:ext uri="{BB962C8B-B14F-4D97-AF65-F5344CB8AC3E}">
        <p14:creationId xmlns:p14="http://schemas.microsoft.com/office/powerpoint/2010/main" val="19181548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8A21638-67F5-F8EC-2E9E-E42055DEC73F}"/>
              </a:ext>
            </a:extLst>
          </p:cNvPr>
          <p:cNvPicPr>
            <a:picLocks noChangeAspect="1"/>
          </p:cNvPicPr>
          <p:nvPr/>
        </p:nvPicPr>
        <p:blipFill>
          <a:blip r:embed="rId2"/>
          <a:stretch>
            <a:fillRect/>
          </a:stretch>
        </p:blipFill>
        <p:spPr>
          <a:xfrm>
            <a:off x="3412434" y="0"/>
            <a:ext cx="5367131" cy="6858000"/>
          </a:xfrm>
          <a:prstGeom prst="rect">
            <a:avLst/>
          </a:prstGeom>
        </p:spPr>
      </p:pic>
    </p:spTree>
    <p:extLst>
      <p:ext uri="{BB962C8B-B14F-4D97-AF65-F5344CB8AC3E}">
        <p14:creationId xmlns:p14="http://schemas.microsoft.com/office/powerpoint/2010/main" val="34670901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E1D5EAC-5B5E-4B16-B458-D714CD85FD77}"/>
              </a:ext>
            </a:extLst>
          </p:cNvPr>
          <p:cNvPicPr>
            <a:picLocks noChangeAspect="1"/>
          </p:cNvPicPr>
          <p:nvPr/>
        </p:nvPicPr>
        <p:blipFill>
          <a:blip r:embed="rId2"/>
          <a:stretch>
            <a:fillRect/>
          </a:stretch>
        </p:blipFill>
        <p:spPr>
          <a:xfrm>
            <a:off x="2988861" y="0"/>
            <a:ext cx="6173068" cy="6858000"/>
          </a:xfrm>
          <a:prstGeom prst="rect">
            <a:avLst/>
          </a:prstGeom>
        </p:spPr>
      </p:pic>
    </p:spTree>
    <p:extLst>
      <p:ext uri="{BB962C8B-B14F-4D97-AF65-F5344CB8AC3E}">
        <p14:creationId xmlns:p14="http://schemas.microsoft.com/office/powerpoint/2010/main" val="23299281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1C0F48F-505C-4807-8945-7D4C24DE0B7B}"/>
              </a:ext>
            </a:extLst>
          </p:cNvPr>
          <p:cNvPicPr>
            <a:picLocks noChangeAspect="1"/>
          </p:cNvPicPr>
          <p:nvPr/>
        </p:nvPicPr>
        <p:blipFill>
          <a:blip r:embed="rId2"/>
          <a:stretch>
            <a:fillRect/>
          </a:stretch>
        </p:blipFill>
        <p:spPr>
          <a:xfrm>
            <a:off x="916999" y="1134836"/>
            <a:ext cx="9990663" cy="4474028"/>
          </a:xfrm>
          <a:prstGeom prst="rect">
            <a:avLst/>
          </a:prstGeom>
        </p:spPr>
      </p:pic>
    </p:spTree>
    <p:extLst>
      <p:ext uri="{BB962C8B-B14F-4D97-AF65-F5344CB8AC3E}">
        <p14:creationId xmlns:p14="http://schemas.microsoft.com/office/powerpoint/2010/main" val="11063966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DC083-627A-FEAA-A825-CEB95BB23709}"/>
              </a:ext>
            </a:extLst>
          </p:cNvPr>
          <p:cNvSpPr>
            <a:spLocks noGrp="1"/>
          </p:cNvSpPr>
          <p:nvPr>
            <p:ph type="title"/>
          </p:nvPr>
        </p:nvSpPr>
        <p:spPr/>
        <p:txBody>
          <a:bodyPr/>
          <a:lstStyle/>
          <a:p>
            <a:r>
              <a:rPr lang="en-US" dirty="0"/>
              <a:t>Documents needed to support your claim</a:t>
            </a:r>
          </a:p>
        </p:txBody>
      </p:sp>
      <p:sp>
        <p:nvSpPr>
          <p:cNvPr id="3" name="Content Placeholder 2">
            <a:extLst>
              <a:ext uri="{FF2B5EF4-FFF2-40B4-BE49-F238E27FC236}">
                <a16:creationId xmlns:a16="http://schemas.microsoft.com/office/drawing/2014/main" id="{3A789724-943C-0093-8630-E8723D9CFD42}"/>
              </a:ext>
            </a:extLst>
          </p:cNvPr>
          <p:cNvSpPr>
            <a:spLocks noGrp="1"/>
          </p:cNvSpPr>
          <p:nvPr>
            <p:ph idx="1"/>
          </p:nvPr>
        </p:nvSpPr>
        <p:spPr/>
        <p:txBody>
          <a:bodyPr>
            <a:normAutofit/>
          </a:bodyPr>
          <a:lstStyle/>
          <a:p>
            <a:r>
              <a:rPr lang="en-US" sz="3200" dirty="0"/>
              <a:t>Hours Analysis Report</a:t>
            </a:r>
          </a:p>
          <a:p>
            <a:r>
              <a:rPr lang="en-US" sz="3200" dirty="0"/>
              <a:t>Employee Everything Report</a:t>
            </a:r>
          </a:p>
          <a:p>
            <a:r>
              <a:rPr lang="en-US" sz="3200" dirty="0"/>
              <a:t>PS Form(s) 3971 – Notification of Leave Request</a:t>
            </a:r>
          </a:p>
          <a:p>
            <a:r>
              <a:rPr lang="en-US" sz="3200" dirty="0"/>
              <a:t>Weekly Reporting Schedule (Posted Wednesday’s)</a:t>
            </a:r>
          </a:p>
          <a:p>
            <a:r>
              <a:rPr lang="en-US" sz="3200" dirty="0"/>
              <a:t> Hold-Down Awards</a:t>
            </a:r>
          </a:p>
        </p:txBody>
      </p:sp>
    </p:spTree>
    <p:extLst>
      <p:ext uri="{BB962C8B-B14F-4D97-AF65-F5344CB8AC3E}">
        <p14:creationId xmlns:p14="http://schemas.microsoft.com/office/powerpoint/2010/main" val="10448899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99ED099-20FB-001F-DE32-A9C97CA3F4B1}"/>
              </a:ext>
            </a:extLst>
          </p:cNvPr>
          <p:cNvPicPr>
            <a:picLocks noChangeAspect="1"/>
          </p:cNvPicPr>
          <p:nvPr/>
        </p:nvPicPr>
        <p:blipFill>
          <a:blip r:embed="rId2"/>
          <a:stretch>
            <a:fillRect/>
          </a:stretch>
        </p:blipFill>
        <p:spPr>
          <a:xfrm>
            <a:off x="975986" y="0"/>
            <a:ext cx="10240027" cy="6858000"/>
          </a:xfrm>
          <a:prstGeom prst="rect">
            <a:avLst/>
          </a:prstGeom>
        </p:spPr>
      </p:pic>
      <p:sp>
        <p:nvSpPr>
          <p:cNvPr id="6" name="Minus Sign 5">
            <a:extLst>
              <a:ext uri="{FF2B5EF4-FFF2-40B4-BE49-F238E27FC236}">
                <a16:creationId xmlns:a16="http://schemas.microsoft.com/office/drawing/2014/main" id="{0CE4E409-F7FE-63E3-78B3-7011052F43D0}"/>
              </a:ext>
            </a:extLst>
          </p:cNvPr>
          <p:cNvSpPr/>
          <p:nvPr/>
        </p:nvSpPr>
        <p:spPr>
          <a:xfrm>
            <a:off x="975986" y="2320120"/>
            <a:ext cx="1071178" cy="382137"/>
          </a:xfrm>
          <a:prstGeom prst="mathMinus">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8754996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6086A18-8B32-21BC-6BA0-851EAE1F5839}"/>
              </a:ext>
            </a:extLst>
          </p:cNvPr>
          <p:cNvPicPr>
            <a:picLocks noChangeAspect="1"/>
          </p:cNvPicPr>
          <p:nvPr/>
        </p:nvPicPr>
        <p:blipFill>
          <a:blip r:embed="rId2"/>
          <a:stretch>
            <a:fillRect/>
          </a:stretch>
        </p:blipFill>
        <p:spPr>
          <a:xfrm>
            <a:off x="526752" y="0"/>
            <a:ext cx="11138496" cy="6858000"/>
          </a:xfrm>
          <a:prstGeom prst="rect">
            <a:avLst/>
          </a:prstGeom>
        </p:spPr>
      </p:pic>
      <p:sp>
        <p:nvSpPr>
          <p:cNvPr id="4" name="Minus Sign 3">
            <a:extLst>
              <a:ext uri="{FF2B5EF4-FFF2-40B4-BE49-F238E27FC236}">
                <a16:creationId xmlns:a16="http://schemas.microsoft.com/office/drawing/2014/main" id="{874DC773-3519-9FBA-199C-E3C74C42A277}"/>
              </a:ext>
            </a:extLst>
          </p:cNvPr>
          <p:cNvSpPr/>
          <p:nvPr/>
        </p:nvSpPr>
        <p:spPr>
          <a:xfrm>
            <a:off x="320893" y="2224585"/>
            <a:ext cx="1071178" cy="382137"/>
          </a:xfrm>
          <a:prstGeom prst="mathMinus">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5559061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F5A6453-6F1E-99C4-1181-3EB785628F15}"/>
              </a:ext>
            </a:extLst>
          </p:cNvPr>
          <p:cNvPicPr>
            <a:picLocks noChangeAspect="1"/>
          </p:cNvPicPr>
          <p:nvPr/>
        </p:nvPicPr>
        <p:blipFill>
          <a:blip r:embed="rId2"/>
          <a:stretch>
            <a:fillRect/>
          </a:stretch>
        </p:blipFill>
        <p:spPr>
          <a:xfrm>
            <a:off x="1586733" y="163285"/>
            <a:ext cx="9018534" cy="6858000"/>
          </a:xfrm>
          <a:prstGeom prst="rect">
            <a:avLst/>
          </a:prstGeom>
        </p:spPr>
      </p:pic>
      <p:sp>
        <p:nvSpPr>
          <p:cNvPr id="4" name="Minus Sign 3">
            <a:extLst>
              <a:ext uri="{FF2B5EF4-FFF2-40B4-BE49-F238E27FC236}">
                <a16:creationId xmlns:a16="http://schemas.microsoft.com/office/drawing/2014/main" id="{979D8735-1447-AAD9-7723-6D521E18282C}"/>
              </a:ext>
            </a:extLst>
          </p:cNvPr>
          <p:cNvSpPr/>
          <p:nvPr/>
        </p:nvSpPr>
        <p:spPr>
          <a:xfrm>
            <a:off x="1344475" y="1951630"/>
            <a:ext cx="1071178" cy="382137"/>
          </a:xfrm>
          <a:prstGeom prst="mathMinus">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8006515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A34ABBC-7081-C150-2CF9-722C5337544C}"/>
              </a:ext>
            </a:extLst>
          </p:cNvPr>
          <p:cNvPicPr>
            <a:picLocks noChangeAspect="1"/>
          </p:cNvPicPr>
          <p:nvPr/>
        </p:nvPicPr>
        <p:blipFill>
          <a:blip r:embed="rId2"/>
          <a:stretch>
            <a:fillRect/>
          </a:stretch>
        </p:blipFill>
        <p:spPr>
          <a:xfrm>
            <a:off x="1699004" y="0"/>
            <a:ext cx="8793991" cy="6858000"/>
          </a:xfrm>
          <a:prstGeom prst="rect">
            <a:avLst/>
          </a:prstGeom>
        </p:spPr>
      </p:pic>
      <p:sp>
        <p:nvSpPr>
          <p:cNvPr id="4" name="Minus Sign 3">
            <a:extLst>
              <a:ext uri="{FF2B5EF4-FFF2-40B4-BE49-F238E27FC236}">
                <a16:creationId xmlns:a16="http://schemas.microsoft.com/office/drawing/2014/main" id="{F038F5AB-B22E-F8F0-91B2-B60E0CCAC363}"/>
              </a:ext>
            </a:extLst>
          </p:cNvPr>
          <p:cNvSpPr/>
          <p:nvPr/>
        </p:nvSpPr>
        <p:spPr>
          <a:xfrm>
            <a:off x="1480953" y="1719619"/>
            <a:ext cx="1071178" cy="382137"/>
          </a:xfrm>
          <a:prstGeom prst="mathMinus">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9738740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A8FE997-2187-1E2F-09FD-968CA039B947}"/>
              </a:ext>
            </a:extLst>
          </p:cNvPr>
          <p:cNvPicPr>
            <a:picLocks noChangeAspect="1"/>
          </p:cNvPicPr>
          <p:nvPr/>
        </p:nvPicPr>
        <p:blipFill>
          <a:blip r:embed="rId2"/>
          <a:stretch>
            <a:fillRect/>
          </a:stretch>
        </p:blipFill>
        <p:spPr>
          <a:xfrm>
            <a:off x="1104601" y="0"/>
            <a:ext cx="9982797" cy="6858000"/>
          </a:xfrm>
          <a:prstGeom prst="rect">
            <a:avLst/>
          </a:prstGeom>
        </p:spPr>
      </p:pic>
      <p:sp>
        <p:nvSpPr>
          <p:cNvPr id="4" name="Minus Sign 3">
            <a:extLst>
              <a:ext uri="{FF2B5EF4-FFF2-40B4-BE49-F238E27FC236}">
                <a16:creationId xmlns:a16="http://schemas.microsoft.com/office/drawing/2014/main" id="{F0CA2F1A-15B1-A5E2-90D2-D7756C7FA0CE}"/>
              </a:ext>
            </a:extLst>
          </p:cNvPr>
          <p:cNvSpPr/>
          <p:nvPr/>
        </p:nvSpPr>
        <p:spPr>
          <a:xfrm>
            <a:off x="921395" y="1992574"/>
            <a:ext cx="1071178" cy="382137"/>
          </a:xfrm>
          <a:prstGeom prst="mathMinus">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3459966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92748BA-D1CD-D977-B294-D69E6049A825}"/>
              </a:ext>
            </a:extLst>
          </p:cNvPr>
          <p:cNvPicPr>
            <a:picLocks noChangeAspect="1"/>
          </p:cNvPicPr>
          <p:nvPr/>
        </p:nvPicPr>
        <p:blipFill>
          <a:blip r:embed="rId2"/>
          <a:stretch>
            <a:fillRect/>
          </a:stretch>
        </p:blipFill>
        <p:spPr>
          <a:xfrm>
            <a:off x="826725" y="0"/>
            <a:ext cx="10538549" cy="6858000"/>
          </a:xfrm>
          <a:prstGeom prst="rect">
            <a:avLst/>
          </a:prstGeom>
        </p:spPr>
      </p:pic>
      <p:sp>
        <p:nvSpPr>
          <p:cNvPr id="4" name="Minus Sign 3">
            <a:extLst>
              <a:ext uri="{FF2B5EF4-FFF2-40B4-BE49-F238E27FC236}">
                <a16:creationId xmlns:a16="http://schemas.microsoft.com/office/drawing/2014/main" id="{C1349406-8C26-7874-EBDC-45B75342AC99}"/>
              </a:ext>
            </a:extLst>
          </p:cNvPr>
          <p:cNvSpPr/>
          <p:nvPr/>
        </p:nvSpPr>
        <p:spPr>
          <a:xfrm>
            <a:off x="634792" y="2169995"/>
            <a:ext cx="1071178" cy="382137"/>
          </a:xfrm>
          <a:prstGeom prst="mathMinus">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70240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02151C8-1CC6-B1A0-6E47-9BE4E24F072D}"/>
              </a:ext>
            </a:extLst>
          </p:cNvPr>
          <p:cNvPicPr>
            <a:picLocks noChangeAspect="1"/>
          </p:cNvPicPr>
          <p:nvPr/>
        </p:nvPicPr>
        <p:blipFill>
          <a:blip r:embed="rId2"/>
          <a:stretch>
            <a:fillRect/>
          </a:stretch>
        </p:blipFill>
        <p:spPr>
          <a:xfrm>
            <a:off x="1228770" y="0"/>
            <a:ext cx="9734460" cy="6858000"/>
          </a:xfrm>
          <a:prstGeom prst="rect">
            <a:avLst/>
          </a:prstGeom>
        </p:spPr>
      </p:pic>
      <p:sp>
        <p:nvSpPr>
          <p:cNvPr id="4" name="Minus Sign 3">
            <a:extLst>
              <a:ext uri="{FF2B5EF4-FFF2-40B4-BE49-F238E27FC236}">
                <a16:creationId xmlns:a16="http://schemas.microsoft.com/office/drawing/2014/main" id="{89ED614D-FBFA-29AE-F5C7-19B8AA4DEE9F}"/>
              </a:ext>
            </a:extLst>
          </p:cNvPr>
          <p:cNvSpPr/>
          <p:nvPr/>
        </p:nvSpPr>
        <p:spPr>
          <a:xfrm>
            <a:off x="935043" y="1883391"/>
            <a:ext cx="1071178" cy="382137"/>
          </a:xfrm>
          <a:prstGeom prst="mathMinus">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4304613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5045A425-DC04-04D4-9ABD-ACA13787C15A}"/>
              </a:ext>
            </a:extLst>
          </p:cNvPr>
          <p:cNvGraphicFramePr>
            <a:graphicFrameLocks noGrp="1"/>
          </p:cNvGraphicFramePr>
          <p:nvPr>
            <p:extLst>
              <p:ext uri="{D42A27DB-BD31-4B8C-83A1-F6EECF244321}">
                <p14:modId xmlns:p14="http://schemas.microsoft.com/office/powerpoint/2010/main" val="1588475339"/>
              </p:ext>
            </p:extLst>
          </p:nvPr>
        </p:nvGraphicFramePr>
        <p:xfrm>
          <a:off x="996043" y="955221"/>
          <a:ext cx="9935936" cy="4800601"/>
        </p:xfrm>
        <a:graphic>
          <a:graphicData uri="http://schemas.openxmlformats.org/drawingml/2006/table">
            <a:tbl>
              <a:tblPr>
                <a:tableStyleId>{5C22544A-7EE6-4342-B048-85BDC9FD1C3A}</a:tableStyleId>
              </a:tblPr>
              <a:tblGrid>
                <a:gridCol w="876176">
                  <a:extLst>
                    <a:ext uri="{9D8B030D-6E8A-4147-A177-3AD203B41FA5}">
                      <a16:colId xmlns:a16="http://schemas.microsoft.com/office/drawing/2014/main" val="2964574267"/>
                    </a:ext>
                  </a:extLst>
                </a:gridCol>
                <a:gridCol w="698202">
                  <a:extLst>
                    <a:ext uri="{9D8B030D-6E8A-4147-A177-3AD203B41FA5}">
                      <a16:colId xmlns:a16="http://schemas.microsoft.com/office/drawing/2014/main" val="1874843823"/>
                    </a:ext>
                  </a:extLst>
                </a:gridCol>
                <a:gridCol w="698202">
                  <a:extLst>
                    <a:ext uri="{9D8B030D-6E8A-4147-A177-3AD203B41FA5}">
                      <a16:colId xmlns:a16="http://schemas.microsoft.com/office/drawing/2014/main" val="4211131854"/>
                    </a:ext>
                  </a:extLst>
                </a:gridCol>
                <a:gridCol w="698202">
                  <a:extLst>
                    <a:ext uri="{9D8B030D-6E8A-4147-A177-3AD203B41FA5}">
                      <a16:colId xmlns:a16="http://schemas.microsoft.com/office/drawing/2014/main" val="3968703292"/>
                    </a:ext>
                  </a:extLst>
                </a:gridCol>
                <a:gridCol w="698202">
                  <a:extLst>
                    <a:ext uri="{9D8B030D-6E8A-4147-A177-3AD203B41FA5}">
                      <a16:colId xmlns:a16="http://schemas.microsoft.com/office/drawing/2014/main" val="3203793829"/>
                    </a:ext>
                  </a:extLst>
                </a:gridCol>
                <a:gridCol w="698202">
                  <a:extLst>
                    <a:ext uri="{9D8B030D-6E8A-4147-A177-3AD203B41FA5}">
                      <a16:colId xmlns:a16="http://schemas.microsoft.com/office/drawing/2014/main" val="1165766646"/>
                    </a:ext>
                  </a:extLst>
                </a:gridCol>
                <a:gridCol w="605061">
                  <a:extLst>
                    <a:ext uri="{9D8B030D-6E8A-4147-A177-3AD203B41FA5}">
                      <a16:colId xmlns:a16="http://schemas.microsoft.com/office/drawing/2014/main" val="287158584"/>
                    </a:ext>
                  </a:extLst>
                </a:gridCol>
                <a:gridCol w="791345">
                  <a:extLst>
                    <a:ext uri="{9D8B030D-6E8A-4147-A177-3AD203B41FA5}">
                      <a16:colId xmlns:a16="http://schemas.microsoft.com/office/drawing/2014/main" val="2648463258"/>
                    </a:ext>
                  </a:extLst>
                </a:gridCol>
                <a:gridCol w="698202">
                  <a:extLst>
                    <a:ext uri="{9D8B030D-6E8A-4147-A177-3AD203B41FA5}">
                      <a16:colId xmlns:a16="http://schemas.microsoft.com/office/drawing/2014/main" val="2446757501"/>
                    </a:ext>
                  </a:extLst>
                </a:gridCol>
                <a:gridCol w="698202">
                  <a:extLst>
                    <a:ext uri="{9D8B030D-6E8A-4147-A177-3AD203B41FA5}">
                      <a16:colId xmlns:a16="http://schemas.microsoft.com/office/drawing/2014/main" val="3347310958"/>
                    </a:ext>
                  </a:extLst>
                </a:gridCol>
                <a:gridCol w="698202">
                  <a:extLst>
                    <a:ext uri="{9D8B030D-6E8A-4147-A177-3AD203B41FA5}">
                      <a16:colId xmlns:a16="http://schemas.microsoft.com/office/drawing/2014/main" val="457896733"/>
                    </a:ext>
                  </a:extLst>
                </a:gridCol>
                <a:gridCol w="698202">
                  <a:extLst>
                    <a:ext uri="{9D8B030D-6E8A-4147-A177-3AD203B41FA5}">
                      <a16:colId xmlns:a16="http://schemas.microsoft.com/office/drawing/2014/main" val="456947489"/>
                    </a:ext>
                  </a:extLst>
                </a:gridCol>
                <a:gridCol w="698202">
                  <a:extLst>
                    <a:ext uri="{9D8B030D-6E8A-4147-A177-3AD203B41FA5}">
                      <a16:colId xmlns:a16="http://schemas.microsoft.com/office/drawing/2014/main" val="3963494995"/>
                    </a:ext>
                  </a:extLst>
                </a:gridCol>
                <a:gridCol w="681334">
                  <a:extLst>
                    <a:ext uri="{9D8B030D-6E8A-4147-A177-3AD203B41FA5}">
                      <a16:colId xmlns:a16="http://schemas.microsoft.com/office/drawing/2014/main" val="143383942"/>
                    </a:ext>
                  </a:extLst>
                </a:gridCol>
              </a:tblGrid>
              <a:tr h="369277">
                <a:tc>
                  <a:txBody>
                    <a:bodyPr/>
                    <a:lstStyle/>
                    <a:p>
                      <a:pPr algn="l"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PP1</a:t>
                      </a:r>
                      <a:endParaRPr lang="en-US" sz="1100" b="1"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PP2</a:t>
                      </a:r>
                      <a:endParaRPr lang="en-US" sz="1100" b="1"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PP3</a:t>
                      </a:r>
                      <a:endParaRPr lang="en-US" sz="1100" b="1"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PP4</a:t>
                      </a:r>
                      <a:endParaRPr lang="en-US" sz="1100" b="1"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PP5</a:t>
                      </a:r>
                      <a:endParaRPr lang="en-US" sz="1100" b="1"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PP6</a:t>
                      </a:r>
                      <a:endParaRPr lang="en-US" sz="1100" b="1"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PP7</a:t>
                      </a:r>
                      <a:endParaRPr lang="en-US" sz="1100" b="1"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PP8</a:t>
                      </a:r>
                      <a:endParaRPr lang="en-US" sz="1100" b="1"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PP9</a:t>
                      </a:r>
                      <a:endParaRPr lang="en-US" sz="1100" b="1"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PP10</a:t>
                      </a:r>
                      <a:endParaRPr lang="en-US" sz="1100" b="1"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PP11</a:t>
                      </a:r>
                      <a:endParaRPr lang="en-US" sz="1100" b="1"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PP12</a:t>
                      </a:r>
                      <a:endParaRPr lang="en-US" sz="1100" b="1"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PP13</a:t>
                      </a:r>
                      <a:endParaRPr lang="en-US" sz="1100" b="1"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1452928855"/>
                  </a:ext>
                </a:extLst>
              </a:tr>
              <a:tr h="369277">
                <a:tc>
                  <a:txBody>
                    <a:bodyPr/>
                    <a:lstStyle/>
                    <a:p>
                      <a:pPr algn="l" fontAlgn="b"/>
                      <a:r>
                        <a:rPr lang="en-US" sz="1100" u="none" strike="noStrike" dirty="0">
                          <a:effectLst/>
                        </a:rPr>
                        <a:t>Employee A</a:t>
                      </a:r>
                      <a:endParaRPr lang="en-US" sz="1100" b="1"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3720075245"/>
                  </a:ext>
                </a:extLst>
              </a:tr>
              <a:tr h="369277">
                <a:tc>
                  <a:txBody>
                    <a:bodyPr/>
                    <a:lstStyle/>
                    <a:p>
                      <a:pPr algn="l" fontAlgn="b"/>
                      <a:r>
                        <a:rPr lang="en-US" sz="1100" u="none" strike="noStrike" dirty="0">
                          <a:effectLst/>
                        </a:rPr>
                        <a:t>Employee B</a:t>
                      </a:r>
                      <a:endParaRPr lang="en-US" sz="1100" b="1"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513758725"/>
                  </a:ext>
                </a:extLst>
              </a:tr>
              <a:tr h="369277">
                <a:tc>
                  <a:txBody>
                    <a:bodyPr/>
                    <a:lstStyle/>
                    <a:p>
                      <a:pPr algn="l" fontAlgn="b"/>
                      <a:r>
                        <a:rPr lang="en-US" sz="1100" u="none" strike="noStrike" dirty="0">
                          <a:effectLst/>
                        </a:rPr>
                        <a:t>Employee C</a:t>
                      </a:r>
                      <a:endParaRPr lang="en-US" sz="1100" b="1"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745371055"/>
                  </a:ext>
                </a:extLst>
              </a:tr>
              <a:tr h="369277">
                <a:tc>
                  <a:txBody>
                    <a:bodyPr/>
                    <a:lstStyle/>
                    <a:p>
                      <a:pPr algn="l" fontAlgn="b"/>
                      <a:r>
                        <a:rPr lang="en-US" sz="1100" u="none" strike="noStrike" dirty="0">
                          <a:effectLst/>
                        </a:rPr>
                        <a:t>Employee D</a:t>
                      </a:r>
                      <a:endParaRPr lang="en-US" sz="1100" b="1"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1420176728"/>
                  </a:ext>
                </a:extLst>
              </a:tr>
              <a:tr h="369277">
                <a:tc>
                  <a:txBody>
                    <a:bodyPr/>
                    <a:lstStyle/>
                    <a:p>
                      <a:pPr algn="l" fontAlgn="b"/>
                      <a:r>
                        <a:rPr lang="en-US" sz="1100" u="none" strike="noStrike" dirty="0">
                          <a:effectLst/>
                        </a:rPr>
                        <a:t>Employee E</a:t>
                      </a:r>
                      <a:endParaRPr lang="en-US" sz="1100" b="1"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1622593177"/>
                  </a:ext>
                </a:extLst>
              </a:tr>
              <a:tr h="369277">
                <a:tc>
                  <a:txBody>
                    <a:bodyPr/>
                    <a:lstStyle/>
                    <a:p>
                      <a:pPr algn="l" fontAlgn="b"/>
                      <a:r>
                        <a:rPr lang="en-US" sz="1100" u="none" strike="noStrike" dirty="0">
                          <a:effectLst/>
                        </a:rPr>
                        <a:t>Employee F</a:t>
                      </a:r>
                      <a:endParaRPr lang="en-US" sz="1100" b="1"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4226282362"/>
                  </a:ext>
                </a:extLst>
              </a:tr>
              <a:tr h="369277">
                <a:tc>
                  <a:txBody>
                    <a:bodyPr/>
                    <a:lstStyle/>
                    <a:p>
                      <a:pPr algn="l" fontAlgn="b"/>
                      <a:r>
                        <a:rPr lang="en-US" sz="1100" u="none" strike="noStrike" dirty="0">
                          <a:effectLst/>
                        </a:rPr>
                        <a:t>Employee G</a:t>
                      </a:r>
                      <a:endParaRPr lang="en-US" sz="1100" b="1"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955656898"/>
                  </a:ext>
                </a:extLst>
              </a:tr>
              <a:tr h="369277">
                <a:tc>
                  <a:txBody>
                    <a:bodyPr/>
                    <a:lstStyle/>
                    <a:p>
                      <a:pPr algn="l" fontAlgn="b"/>
                      <a:r>
                        <a:rPr lang="en-US" sz="1100" u="none" strike="noStrike" dirty="0">
                          <a:effectLst/>
                        </a:rPr>
                        <a:t>Employee H</a:t>
                      </a:r>
                      <a:endParaRPr lang="en-US" sz="1100" b="1"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623074609"/>
                  </a:ext>
                </a:extLst>
              </a:tr>
              <a:tr h="369277">
                <a:tc>
                  <a:txBody>
                    <a:bodyPr/>
                    <a:lstStyle/>
                    <a:p>
                      <a:pPr algn="l" fontAlgn="b"/>
                      <a:r>
                        <a:rPr lang="en-US" sz="1100" u="none" strike="noStrike" dirty="0">
                          <a:effectLst/>
                        </a:rPr>
                        <a:t>Employee I</a:t>
                      </a:r>
                      <a:endParaRPr lang="en-US" sz="1100" b="1"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3790137837"/>
                  </a:ext>
                </a:extLst>
              </a:tr>
              <a:tr h="369277">
                <a:tc>
                  <a:txBody>
                    <a:bodyPr/>
                    <a:lstStyle/>
                    <a:p>
                      <a:pPr algn="l" fontAlgn="b"/>
                      <a:r>
                        <a:rPr lang="en-US" sz="1100" u="none" strike="noStrike" dirty="0">
                          <a:effectLst/>
                        </a:rPr>
                        <a:t>Employee J</a:t>
                      </a:r>
                      <a:endParaRPr lang="en-US" sz="1100" b="1"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940435272"/>
                  </a:ext>
                </a:extLst>
              </a:tr>
              <a:tr h="369277">
                <a:tc>
                  <a:txBody>
                    <a:bodyPr/>
                    <a:lstStyle/>
                    <a:p>
                      <a:pPr algn="l" fontAlgn="b"/>
                      <a:r>
                        <a:rPr lang="en-US" sz="1100" u="none" strike="noStrike" dirty="0">
                          <a:effectLst/>
                        </a:rPr>
                        <a:t>Employee K</a:t>
                      </a:r>
                      <a:endParaRPr lang="en-US" sz="1100" b="1"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3613605178"/>
                  </a:ext>
                </a:extLst>
              </a:tr>
              <a:tr h="369277">
                <a:tc>
                  <a:txBody>
                    <a:bodyPr/>
                    <a:lstStyle/>
                    <a:p>
                      <a:pPr algn="l"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540934933"/>
                  </a:ext>
                </a:extLst>
              </a:tr>
            </a:tbl>
          </a:graphicData>
        </a:graphic>
      </p:graphicFrame>
    </p:spTree>
    <p:extLst>
      <p:ext uri="{BB962C8B-B14F-4D97-AF65-F5344CB8AC3E}">
        <p14:creationId xmlns:p14="http://schemas.microsoft.com/office/powerpoint/2010/main" val="26322177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B6456E-EB5A-AFA7-B407-3B3FCE4A3F19}"/>
              </a:ext>
            </a:extLst>
          </p:cNvPr>
          <p:cNvSpPr>
            <a:spLocks noGrp="1"/>
          </p:cNvSpPr>
          <p:nvPr>
            <p:ph type="title"/>
          </p:nvPr>
        </p:nvSpPr>
        <p:spPr/>
        <p:txBody>
          <a:bodyPr>
            <a:normAutofit/>
          </a:bodyPr>
          <a:lstStyle/>
          <a:p>
            <a:r>
              <a:rPr lang="en-US" sz="4800" b="1" dirty="0"/>
              <a:t>Article 39.1.J</a:t>
            </a:r>
          </a:p>
        </p:txBody>
      </p:sp>
      <p:sp>
        <p:nvSpPr>
          <p:cNvPr id="3" name="Content Placeholder 2">
            <a:extLst>
              <a:ext uri="{FF2B5EF4-FFF2-40B4-BE49-F238E27FC236}">
                <a16:creationId xmlns:a16="http://schemas.microsoft.com/office/drawing/2014/main" id="{CEFD92D5-D64F-1367-EDFC-519D774B3577}"/>
              </a:ext>
            </a:extLst>
          </p:cNvPr>
          <p:cNvSpPr>
            <a:spLocks noGrp="1"/>
          </p:cNvSpPr>
          <p:nvPr>
            <p:ph idx="1"/>
          </p:nvPr>
        </p:nvSpPr>
        <p:spPr/>
        <p:txBody>
          <a:bodyPr>
            <a:normAutofit/>
          </a:bodyPr>
          <a:lstStyle/>
          <a:p>
            <a:r>
              <a:rPr lang="en-US" sz="3200" dirty="0"/>
              <a:t>When an employee is serving on a holddown assignment pursuant to Article 39.1.J, the hours and/or schedule of the holddown which exceed thirty cumulative workdays shall not be used for any maximization purposes. A maximum of five days of any work week will count towards the thirty cumulative workdays. </a:t>
            </a:r>
          </a:p>
        </p:txBody>
      </p:sp>
    </p:spTree>
    <p:extLst>
      <p:ext uri="{BB962C8B-B14F-4D97-AF65-F5344CB8AC3E}">
        <p14:creationId xmlns:p14="http://schemas.microsoft.com/office/powerpoint/2010/main" val="13791202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68D9A40-39A0-8F14-67C4-7A51D5EB0B28}"/>
              </a:ext>
            </a:extLst>
          </p:cNvPr>
          <p:cNvSpPr txBox="1"/>
          <p:nvPr/>
        </p:nvSpPr>
        <p:spPr>
          <a:xfrm>
            <a:off x="526942" y="263471"/>
            <a:ext cx="11282766" cy="6955750"/>
          </a:xfrm>
          <a:prstGeom prst="rect">
            <a:avLst/>
          </a:prstGeom>
          <a:noFill/>
        </p:spPr>
        <p:txBody>
          <a:bodyPr wrap="square">
            <a:spAutoFit/>
          </a:bodyPr>
          <a:lstStyle/>
          <a:p>
            <a:pPr marR="25530" algn="ctr"/>
            <a:r>
              <a:rPr lang="en-US" sz="1800" b="1" i="0" u="none" strike="noStrike" baseline="0" dirty="0">
                <a:latin typeface="Arial" panose="020B0604020202020204" pitchFamily="34" charset="0"/>
              </a:rPr>
              <a:t>MEMORANDUM OF UNDERSTANDING BETWEEN THE</a:t>
            </a:r>
          </a:p>
          <a:p>
            <a:pPr marR="18520" algn="ctr"/>
            <a:r>
              <a:rPr lang="en-US" sz="1800" b="1" i="0" u="none" strike="noStrike" baseline="0" dirty="0">
                <a:latin typeface="Arial" panose="020B0604020202020204" pitchFamily="34" charset="0"/>
              </a:rPr>
              <a:t>UNITED STATES POSTAL SERVICE  &amp; AMERICAN POSTAL WORKERS UNION, AFL-CIO</a:t>
            </a:r>
          </a:p>
          <a:p>
            <a:pPr marR="18520" algn="ctr"/>
            <a:endParaRPr lang="en-US" sz="1800" b="1" i="0" u="none" strike="noStrike" baseline="0" dirty="0">
              <a:latin typeface="Arial" panose="020B0604020202020204" pitchFamily="34" charset="0"/>
            </a:endParaRPr>
          </a:p>
          <a:p>
            <a:r>
              <a:rPr lang="en-US" b="1" dirty="0"/>
              <a:t>RE: ARTICLE 39.1 .J .Temporary Holddowns Maximization</a:t>
            </a:r>
          </a:p>
          <a:p>
            <a:endParaRPr lang="en-US" sz="300" dirty="0"/>
          </a:p>
          <a:p>
            <a:r>
              <a:rPr lang="en-US" dirty="0"/>
              <a:t>The backfilling of temporarily vacant assignment(s) described in Article 39.1   Temporary Holddowns, which exceed thirty (30) cumulative work days will not count towards the time considered for maximization in accordance with the Maximization Memorandum of Understanding and Article 7.3.C</a:t>
            </a:r>
          </a:p>
          <a:p>
            <a:r>
              <a:rPr lang="en-US" dirty="0"/>
              <a:t>The patties recognize that the intent of the language in Article 39.1    Temporary Holddowns, was not meant to provide for:</a:t>
            </a:r>
          </a:p>
          <a:p>
            <a:endParaRPr lang="en-US" sz="300" dirty="0"/>
          </a:p>
          <a:p>
            <a:r>
              <a:rPr lang="en-US" dirty="0"/>
              <a:t>The creation of a duplicative duty assignment through application of Article 7, Section 3.C. or; A senior PTF being maximized using the hours and/or schedule of the through application of the provisions of the Maximization MOU associated with Article 7 (pages 299-300 of the Collective Bargaining Agreement).</a:t>
            </a:r>
          </a:p>
          <a:p>
            <a:r>
              <a:rPr lang="en-US" dirty="0"/>
              <a:t>In concert with the understanding above, the parties agree that when a PTF is serving on a  assignment per Article 39.1  the duty assignment’s hours and/or schedule which exceed thirty (30) cumulative work days shall not be used for any maximization purposes.</a:t>
            </a:r>
          </a:p>
          <a:p>
            <a:endParaRPr lang="en-US" sz="300" dirty="0"/>
          </a:p>
          <a:p>
            <a:r>
              <a:rPr lang="en-US" dirty="0"/>
              <a:t>This  agreement  resolves  all  grievances  relating  to  maximization  issues  resulting from time spent in assignments.</a:t>
            </a:r>
          </a:p>
          <a:p>
            <a:endParaRPr lang="en-US" sz="800" dirty="0"/>
          </a:p>
          <a:p>
            <a:r>
              <a:rPr lang="en-US" dirty="0"/>
              <a:t>Peter A. Sgro Manager</a:t>
            </a:r>
          </a:p>
          <a:p>
            <a:r>
              <a:rPr lang="en-US" dirty="0"/>
              <a:t>‘Contract Administration, APWU United States Postal Service</a:t>
            </a:r>
          </a:p>
          <a:p>
            <a:r>
              <a:rPr lang="en-US" dirty="0"/>
              <a:t>Robert C. Pritchard Director</a:t>
            </a:r>
          </a:p>
          <a:p>
            <a:r>
              <a:rPr lang="en-US" dirty="0"/>
              <a:t>Motor Vehicle Services Division American Postal Workers</a:t>
            </a:r>
          </a:p>
          <a:p>
            <a:r>
              <a:rPr lang="en-US" dirty="0"/>
              <a:t>Union, AFL-CIO</a:t>
            </a:r>
          </a:p>
          <a:p>
            <a:r>
              <a:rPr lang="en-US" dirty="0"/>
              <a:t>Date: </a:t>
            </a:r>
          </a:p>
          <a:p>
            <a:endParaRPr lang="en-US" dirty="0"/>
          </a:p>
        </p:txBody>
      </p:sp>
    </p:spTree>
    <p:extLst>
      <p:ext uri="{BB962C8B-B14F-4D97-AF65-F5344CB8AC3E}">
        <p14:creationId xmlns:p14="http://schemas.microsoft.com/office/powerpoint/2010/main" val="9791607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A9A22C-FA3E-13C1-146F-EC8419423EB9}"/>
              </a:ext>
            </a:extLst>
          </p:cNvPr>
          <p:cNvSpPr>
            <a:spLocks noGrp="1"/>
          </p:cNvSpPr>
          <p:nvPr>
            <p:ph type="title"/>
          </p:nvPr>
        </p:nvSpPr>
        <p:spPr/>
        <p:txBody>
          <a:bodyPr>
            <a:normAutofit/>
          </a:bodyPr>
          <a:lstStyle/>
          <a:p>
            <a:pPr algn="ctr"/>
            <a:r>
              <a:rPr lang="en-US" sz="6600" dirty="0"/>
              <a:t>Remedies</a:t>
            </a:r>
          </a:p>
        </p:txBody>
      </p:sp>
      <p:sp>
        <p:nvSpPr>
          <p:cNvPr id="3" name="Content Placeholder 2">
            <a:extLst>
              <a:ext uri="{FF2B5EF4-FFF2-40B4-BE49-F238E27FC236}">
                <a16:creationId xmlns:a16="http://schemas.microsoft.com/office/drawing/2014/main" id="{DBD0385A-0785-10BA-928B-1473E3F5DF1A}"/>
              </a:ext>
            </a:extLst>
          </p:cNvPr>
          <p:cNvSpPr>
            <a:spLocks noGrp="1"/>
          </p:cNvSpPr>
          <p:nvPr>
            <p:ph idx="1"/>
          </p:nvPr>
        </p:nvSpPr>
        <p:spPr/>
        <p:txBody>
          <a:bodyPr>
            <a:normAutofit/>
          </a:bodyPr>
          <a:lstStyle/>
          <a:p>
            <a:r>
              <a:rPr lang="en-US" sz="3200" dirty="0"/>
              <a:t>Any installation with 200 or more work years of employment in the regular workforce, which fails to maintain the staffing ratio in any accounting period shall immediately convert and compensate the affected part-time employee(s) retroactively to the date which they should have been converted as follows:</a:t>
            </a:r>
          </a:p>
        </p:txBody>
      </p:sp>
    </p:spTree>
    <p:extLst>
      <p:ext uri="{BB962C8B-B14F-4D97-AF65-F5344CB8AC3E}">
        <p14:creationId xmlns:p14="http://schemas.microsoft.com/office/powerpoint/2010/main" val="34807405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B8767BD-48F9-AFFA-9762-632E51F7C5AC}"/>
              </a:ext>
            </a:extLst>
          </p:cNvPr>
          <p:cNvSpPr txBox="1"/>
          <p:nvPr/>
        </p:nvSpPr>
        <p:spPr>
          <a:xfrm>
            <a:off x="3047320" y="3105835"/>
            <a:ext cx="6219144" cy="1200329"/>
          </a:xfrm>
          <a:prstGeom prst="rect">
            <a:avLst/>
          </a:prstGeom>
          <a:noFill/>
        </p:spPr>
        <p:txBody>
          <a:bodyPr wrap="square">
            <a:spAutoFit/>
          </a:bodyPr>
          <a:lstStyle/>
          <a:p>
            <a:r>
              <a:rPr lang="en-US" sz="2400" dirty="0"/>
              <a:t>A. Paid the straight time rate for any hours less than forty hours (five eight hour days) worked in a particular week. </a:t>
            </a:r>
          </a:p>
        </p:txBody>
      </p:sp>
    </p:spTree>
    <p:extLst>
      <p:ext uri="{BB962C8B-B14F-4D97-AF65-F5344CB8AC3E}">
        <p14:creationId xmlns:p14="http://schemas.microsoft.com/office/powerpoint/2010/main" val="25600506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8A9CAB0-EAFE-D679-8CC9-F46DC991D45C}"/>
              </a:ext>
            </a:extLst>
          </p:cNvPr>
          <p:cNvSpPr txBox="1"/>
          <p:nvPr/>
        </p:nvSpPr>
        <p:spPr>
          <a:xfrm>
            <a:off x="3047320" y="3105835"/>
            <a:ext cx="6094638" cy="954107"/>
          </a:xfrm>
          <a:prstGeom prst="rect">
            <a:avLst/>
          </a:prstGeom>
          <a:noFill/>
        </p:spPr>
        <p:txBody>
          <a:bodyPr wrap="square">
            <a:spAutoFit/>
          </a:bodyPr>
          <a:lstStyle/>
          <a:p>
            <a:r>
              <a:rPr lang="en-US" sz="2800" dirty="0"/>
              <a:t>B. Paid the eight-hour guarantee for any day of work beyond five days. </a:t>
            </a:r>
          </a:p>
        </p:txBody>
      </p:sp>
    </p:spTree>
    <p:extLst>
      <p:ext uri="{BB962C8B-B14F-4D97-AF65-F5344CB8AC3E}">
        <p14:creationId xmlns:p14="http://schemas.microsoft.com/office/powerpoint/2010/main" val="18231399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F79AAC1-C087-E593-78E1-43322A54205D}"/>
              </a:ext>
            </a:extLst>
          </p:cNvPr>
          <p:cNvSpPr txBox="1"/>
          <p:nvPr/>
        </p:nvSpPr>
        <p:spPr>
          <a:xfrm>
            <a:off x="3047320" y="3105835"/>
            <a:ext cx="6094638" cy="830997"/>
          </a:xfrm>
          <a:prstGeom prst="rect">
            <a:avLst/>
          </a:prstGeom>
          <a:noFill/>
        </p:spPr>
        <p:txBody>
          <a:bodyPr wrap="square">
            <a:spAutoFit/>
          </a:bodyPr>
          <a:lstStyle/>
          <a:p>
            <a:r>
              <a:rPr lang="en-US" sz="2400" dirty="0"/>
              <a:t>C. If appropriate, based on the aforementioned, paid the applicable overtime rate. </a:t>
            </a:r>
          </a:p>
        </p:txBody>
      </p:sp>
    </p:spTree>
    <p:extLst>
      <p:ext uri="{BB962C8B-B14F-4D97-AF65-F5344CB8AC3E}">
        <p14:creationId xmlns:p14="http://schemas.microsoft.com/office/powerpoint/2010/main" val="20412858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B4ECF38-F7F5-9D10-03CC-22ABD3ECA937}"/>
              </a:ext>
            </a:extLst>
          </p:cNvPr>
          <p:cNvSpPr txBox="1"/>
          <p:nvPr/>
        </p:nvSpPr>
        <p:spPr>
          <a:xfrm>
            <a:off x="3047320" y="2828836"/>
            <a:ext cx="6094638" cy="1938992"/>
          </a:xfrm>
          <a:prstGeom prst="rect">
            <a:avLst/>
          </a:prstGeom>
          <a:noFill/>
        </p:spPr>
        <p:txBody>
          <a:bodyPr wrap="square">
            <a:spAutoFit/>
          </a:bodyPr>
          <a:lstStyle/>
          <a:p>
            <a:r>
              <a:rPr lang="en-US" sz="2400" dirty="0"/>
              <a:t>D. Further, the schedule to which the employee is assigned when converted will be applied retroactively to the date the employee should have been converted and the employee will be paid out-of-schedule pay. </a:t>
            </a:r>
          </a:p>
        </p:txBody>
      </p:sp>
    </p:spTree>
    <p:extLst>
      <p:ext uri="{BB962C8B-B14F-4D97-AF65-F5344CB8AC3E}">
        <p14:creationId xmlns:p14="http://schemas.microsoft.com/office/powerpoint/2010/main" val="242176079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1F6192E-D9A7-DB48-D157-7BBB70119D55}"/>
              </a:ext>
            </a:extLst>
          </p:cNvPr>
          <p:cNvSpPr txBox="1"/>
          <p:nvPr/>
        </p:nvSpPr>
        <p:spPr>
          <a:xfrm>
            <a:off x="3047320" y="2967335"/>
            <a:ext cx="6094638" cy="1323439"/>
          </a:xfrm>
          <a:prstGeom prst="rect">
            <a:avLst/>
          </a:prstGeom>
          <a:noFill/>
        </p:spPr>
        <p:txBody>
          <a:bodyPr wrap="square">
            <a:spAutoFit/>
          </a:bodyPr>
          <a:lstStyle/>
          <a:p>
            <a:r>
              <a:rPr lang="en-US" sz="2000" dirty="0"/>
              <a:t>E. Where application of Items A-D above, shows an employee is entitled to two or more rates of pay for the same work or time, management shall pay the highest of the rates. </a:t>
            </a:r>
          </a:p>
        </p:txBody>
      </p:sp>
    </p:spTree>
    <p:extLst>
      <p:ext uri="{BB962C8B-B14F-4D97-AF65-F5344CB8AC3E}">
        <p14:creationId xmlns:p14="http://schemas.microsoft.com/office/powerpoint/2010/main" val="370296343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docProps/app.xml><?xml version="1.0" encoding="utf-8"?>
<Properties xmlns="http://schemas.openxmlformats.org/officeDocument/2006/extended-properties" xmlns:vt="http://schemas.openxmlformats.org/officeDocument/2006/docPropsVTypes">
  <Template>TM03457452[[fn=Celestial]]</Template>
  <TotalTime>710</TotalTime>
  <Words>1961</Words>
  <Application>Microsoft Office PowerPoint</Application>
  <PresentationFormat>Widescreen</PresentationFormat>
  <Paragraphs>296</Paragraphs>
  <Slides>34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34</vt:i4>
      </vt:variant>
    </vt:vector>
  </HeadingPairs>
  <TitlesOfParts>
    <vt:vector size="39" baseType="lpstr">
      <vt:lpstr>Arial</vt:lpstr>
      <vt:lpstr>Arial Black</vt:lpstr>
      <vt:lpstr>Calibri</vt:lpstr>
      <vt:lpstr>Calibri Light</vt:lpstr>
      <vt:lpstr>Celestial</vt:lpstr>
      <vt:lpstr>26th biennial national convention pre-convention workshop</vt:lpstr>
      <vt:lpstr>Apwu motor vehicle service craft</vt:lpstr>
      <vt:lpstr>MAXIMIZATION FULL-TIME FLEXIBLE APWU </vt:lpstr>
      <vt:lpstr>Full-Time Flexible Memorandum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Documents needed to support your claim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Article 39.1.J</vt:lpstr>
      <vt:lpstr>PowerPoint Presentation</vt:lpstr>
      <vt:lpstr>Remedies</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MAXIMIZATION FULL-TIME FLEXIBLE APWU</dc:title>
  <dc:creator>Bruce Amey</dc:creator>
  <cp:lastModifiedBy>Joyce Robinson</cp:lastModifiedBy>
  <cp:revision>26</cp:revision>
  <dcterms:created xsi:type="dcterms:W3CDTF">2022-03-15T17:28:04Z</dcterms:created>
  <dcterms:modified xsi:type="dcterms:W3CDTF">2022-08-02T17:32:34Z</dcterms:modified>
</cp:coreProperties>
</file>