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Lst>
  <p:notesMasterIdLst>
    <p:notesMasterId r:id="rId89"/>
  </p:notesMasterIdLst>
  <p:handoutMasterIdLst>
    <p:handoutMasterId r:id="rId90"/>
  </p:handoutMasterIdLst>
  <p:sldIdLst>
    <p:sldId id="356" r:id="rId2"/>
    <p:sldId id="729" r:id="rId3"/>
    <p:sldId id="673" r:id="rId4"/>
    <p:sldId id="573" r:id="rId5"/>
    <p:sldId id="723" r:id="rId6"/>
    <p:sldId id="724" r:id="rId7"/>
    <p:sldId id="725" r:id="rId8"/>
    <p:sldId id="726" r:id="rId9"/>
    <p:sldId id="517" r:id="rId10"/>
    <p:sldId id="727" r:id="rId11"/>
    <p:sldId id="519" r:id="rId12"/>
    <p:sldId id="520" r:id="rId13"/>
    <p:sldId id="521" r:id="rId14"/>
    <p:sldId id="522" r:id="rId15"/>
    <p:sldId id="523" r:id="rId16"/>
    <p:sldId id="545" r:id="rId17"/>
    <p:sldId id="676" r:id="rId18"/>
    <p:sldId id="728" r:id="rId19"/>
    <p:sldId id="546" r:id="rId20"/>
    <p:sldId id="526" r:id="rId21"/>
    <p:sldId id="527" r:id="rId22"/>
    <p:sldId id="551" r:id="rId23"/>
    <p:sldId id="658" r:id="rId24"/>
    <p:sldId id="518" r:id="rId25"/>
    <p:sldId id="657" r:id="rId26"/>
    <p:sldId id="528" r:id="rId27"/>
    <p:sldId id="529" r:id="rId28"/>
    <p:sldId id="536" r:id="rId29"/>
    <p:sldId id="381" r:id="rId30"/>
    <p:sldId id="257" r:id="rId31"/>
    <p:sldId id="730" r:id="rId32"/>
    <p:sldId id="374" r:id="rId33"/>
    <p:sldId id="370" r:id="rId34"/>
    <p:sldId id="677" r:id="rId35"/>
    <p:sldId id="371" r:id="rId36"/>
    <p:sldId id="366" r:id="rId37"/>
    <p:sldId id="376" r:id="rId38"/>
    <p:sldId id="273" r:id="rId39"/>
    <p:sldId id="367" r:id="rId40"/>
    <p:sldId id="256" r:id="rId41"/>
    <p:sldId id="718" r:id="rId42"/>
    <p:sldId id="408" r:id="rId43"/>
    <p:sldId id="276" r:id="rId44"/>
    <p:sldId id="409" r:id="rId45"/>
    <p:sldId id="279" r:id="rId46"/>
    <p:sldId id="280" r:id="rId47"/>
    <p:sldId id="719" r:id="rId48"/>
    <p:sldId id="262" r:id="rId49"/>
    <p:sldId id="667" r:id="rId50"/>
    <p:sldId id="263" r:id="rId51"/>
    <p:sldId id="559" r:id="rId52"/>
    <p:sldId id="665" r:id="rId53"/>
    <p:sldId id="666" r:id="rId54"/>
    <p:sldId id="701" r:id="rId55"/>
    <p:sldId id="555" r:id="rId56"/>
    <p:sldId id="720" r:id="rId57"/>
    <p:sldId id="281" r:id="rId58"/>
    <p:sldId id="714" r:id="rId59"/>
    <p:sldId id="261" r:id="rId60"/>
    <p:sldId id="412" r:id="rId61"/>
    <p:sldId id="663" r:id="rId62"/>
    <p:sldId id="721" r:id="rId63"/>
    <p:sldId id="286" r:id="rId64"/>
    <p:sldId id="285" r:id="rId65"/>
    <p:sldId id="530" r:id="rId66"/>
    <p:sldId id="531" r:id="rId67"/>
    <p:sldId id="532" r:id="rId68"/>
    <p:sldId id="659" r:id="rId69"/>
    <p:sldId id="660" r:id="rId70"/>
    <p:sldId id="662" r:id="rId71"/>
    <p:sldId id="418" r:id="rId72"/>
    <p:sldId id="668" r:id="rId73"/>
    <p:sldId id="670" r:id="rId74"/>
    <p:sldId id="716" r:id="rId75"/>
    <p:sldId id="717" r:id="rId76"/>
    <p:sldId id="680" r:id="rId77"/>
    <p:sldId id="683" r:id="rId78"/>
    <p:sldId id="684" r:id="rId79"/>
    <p:sldId id="613" r:id="rId80"/>
    <p:sldId id="614" r:id="rId81"/>
    <p:sldId id="636" r:id="rId82"/>
    <p:sldId id="715" r:id="rId83"/>
    <p:sldId id="639" r:id="rId84"/>
    <p:sldId id="703" r:id="rId85"/>
    <p:sldId id="713" r:id="rId86"/>
    <p:sldId id="702" r:id="rId87"/>
    <p:sldId id="552" r:id="rId88"/>
  </p:sldIdLst>
  <p:sldSz cx="9144000" cy="6858000" type="screen4x3"/>
  <p:notesSz cx="68580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rnard Timmerman" initials="BT" lastIdx="1" clrIdx="0">
    <p:extLst>
      <p:ext uri="{19B8F6BF-5375-455C-9EA6-DF929625EA0E}">
        <p15:presenceInfo xmlns:p15="http://schemas.microsoft.com/office/powerpoint/2012/main" userId="S::btimmerman@apwu.org::da2cf73d-9d26-4f1a-ba66-80c87ff3a1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3399"/>
    <a:srgbClr val="3399FF"/>
    <a:srgbClr val="FF6699"/>
    <a:srgbClr val="FF33CC"/>
    <a:srgbClr val="00CC66"/>
    <a:srgbClr val="003366"/>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1401" autoAdjust="0"/>
  </p:normalViewPr>
  <p:slideViewPr>
    <p:cSldViewPr>
      <p:cViewPr varScale="1">
        <p:scale>
          <a:sx n="62" d="100"/>
          <a:sy n="62" d="100"/>
        </p:scale>
        <p:origin x="133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290"/>
    </p:cViewPr>
  </p:sorterViewPr>
  <p:notesViewPr>
    <p:cSldViewPr>
      <p:cViewPr varScale="1">
        <p:scale>
          <a:sx n="37" d="100"/>
          <a:sy n="37" d="100"/>
        </p:scale>
        <p:origin x="2376" y="38"/>
      </p:cViewPr>
      <p:guideLst>
        <p:guide orient="horz" pos="2929"/>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7666" name="Rectangle 2"/>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dirty="0"/>
          </a:p>
        </p:txBody>
      </p:sp>
      <p:sp>
        <p:nvSpPr>
          <p:cNvPr id="497667" name="Rectangle 3"/>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dirty="0"/>
          </a:p>
        </p:txBody>
      </p:sp>
      <p:sp>
        <p:nvSpPr>
          <p:cNvPr id="497668" name="Rectangle 4"/>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dirty="0"/>
          </a:p>
        </p:txBody>
      </p:sp>
      <p:sp>
        <p:nvSpPr>
          <p:cNvPr id="497669" name="Rectangle 5"/>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7DCEED3-DDBD-4D37-BCE2-4E2C6A6B0847}" type="slidenum">
              <a:rPr lang="en-US"/>
              <a:pPr>
                <a:defRPr/>
              </a:pPr>
              <a:t>‹#›</a:t>
            </a:fld>
            <a:endParaRPr lang="en-US" dirty="0"/>
          </a:p>
        </p:txBody>
      </p:sp>
    </p:spTree>
    <p:extLst>
      <p:ext uri="{BB962C8B-B14F-4D97-AF65-F5344CB8AC3E}">
        <p14:creationId xmlns:p14="http://schemas.microsoft.com/office/powerpoint/2010/main" val="361099730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7-16T12:07:42.64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7-16T12:09:56.993"/>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0258" name="Rectangle 2"/>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dirty="0"/>
          </a:p>
        </p:txBody>
      </p:sp>
      <p:sp>
        <p:nvSpPr>
          <p:cNvPr id="480259" name="Rectangle 3"/>
          <p:cNvSpPr>
            <a:spLocks noGrp="1" noChangeArrowheads="1"/>
          </p:cNvSpPr>
          <p:nvPr>
            <p:ph type="dt"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dirty="0"/>
          </a:p>
        </p:txBody>
      </p:sp>
      <p:sp>
        <p:nvSpPr>
          <p:cNvPr id="148484" name="Rectangle 4"/>
          <p:cNvSpPr>
            <a:spLocks noGrp="1" noRot="1" noChangeAspect="1" noChangeArrowheads="1" noTextEdit="1"/>
          </p:cNvSpPr>
          <p:nvPr>
            <p:ph type="sldImg" idx="2"/>
          </p:nvPr>
        </p:nvSpPr>
        <p:spPr bwMode="auto">
          <a:xfrm>
            <a:off x="1106488" y="698500"/>
            <a:ext cx="4646612" cy="3484563"/>
          </a:xfrm>
          <a:prstGeom prst="rect">
            <a:avLst/>
          </a:prstGeom>
          <a:noFill/>
          <a:ln w="9525">
            <a:solidFill>
              <a:srgbClr val="000000"/>
            </a:solidFill>
            <a:miter lim="800000"/>
            <a:headEnd/>
            <a:tailEnd/>
          </a:ln>
          <a:effectLst/>
        </p:spPr>
      </p:sp>
      <p:sp>
        <p:nvSpPr>
          <p:cNvPr id="480261" name="Rectangle 5"/>
          <p:cNvSpPr>
            <a:spLocks noGrp="1" noChangeArrowheads="1"/>
          </p:cNvSpPr>
          <p:nvPr>
            <p:ph type="body" sz="quarter" idx="3"/>
          </p:nvPr>
        </p:nvSpPr>
        <p:spPr bwMode="auto">
          <a:xfrm>
            <a:off x="685800" y="4416425"/>
            <a:ext cx="548640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0262" name="Rectangle 6"/>
          <p:cNvSpPr>
            <a:spLocks noGrp="1" noChangeArrowheads="1"/>
          </p:cNvSpPr>
          <p:nvPr>
            <p:ph type="ftr" sz="quarter" idx="4"/>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dirty="0"/>
          </a:p>
        </p:txBody>
      </p:sp>
      <p:sp>
        <p:nvSpPr>
          <p:cNvPr id="480263" name="Rectangle 7"/>
          <p:cNvSpPr>
            <a:spLocks noGrp="1" noChangeArrowheads="1"/>
          </p:cNvSpPr>
          <p:nvPr>
            <p:ph type="sldNum" sz="quarter" idx="5"/>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DF84B57-FCCD-4149-AEC2-2E7ADF1B6F6B}" type="slidenum">
              <a:rPr lang="en-US"/>
              <a:pPr>
                <a:defRPr/>
              </a:pPr>
              <a:t>‹#›</a:t>
            </a:fld>
            <a:endParaRPr lang="en-US" dirty="0"/>
          </a:p>
        </p:txBody>
      </p:sp>
    </p:spTree>
    <p:extLst>
      <p:ext uri="{BB962C8B-B14F-4D97-AF65-F5344CB8AC3E}">
        <p14:creationId xmlns:p14="http://schemas.microsoft.com/office/powerpoint/2010/main" val="7012900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miter lim="800000"/>
            <a:headEnd/>
            <a:tailEnd/>
          </a:ln>
        </p:spPr>
        <p:txBody>
          <a:bodyPr/>
          <a:lstStyle/>
          <a:p>
            <a:fld id="{0FE1C678-33E7-4FDE-83C9-B6ADBA30EB35}" type="slidenum">
              <a:rPr lang="en-US" smtClean="0"/>
              <a:pPr/>
              <a:t>1</a:t>
            </a:fld>
            <a:endParaRPr lang="en-US" dirty="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834097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3</a:t>
            </a:fld>
            <a:endParaRPr lang="en-US" dirty="0"/>
          </a:p>
        </p:txBody>
      </p:sp>
    </p:spTree>
    <p:extLst>
      <p:ext uri="{BB962C8B-B14F-4D97-AF65-F5344CB8AC3E}">
        <p14:creationId xmlns:p14="http://schemas.microsoft.com/office/powerpoint/2010/main" val="3292539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miter lim="800000"/>
            <a:headEnd/>
            <a:tailEnd/>
          </a:ln>
        </p:spPr>
        <p:txBody>
          <a:bodyPr/>
          <a:lstStyle/>
          <a:p>
            <a:fld id="{A82D9110-2E82-448D-AFF4-81C0BECD847F}" type="slidenum">
              <a:rPr lang="en-US" smtClean="0"/>
              <a:pPr/>
              <a:t>5</a:t>
            </a:fld>
            <a:endParaRPr lang="en-US" dirty="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066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miter lim="800000"/>
            <a:headEnd/>
            <a:tailEnd/>
          </a:ln>
        </p:spPr>
        <p:txBody>
          <a:bodyPr/>
          <a:lstStyle/>
          <a:p>
            <a:fld id="{A82D9110-2E82-448D-AFF4-81C0BECD847F}" type="slidenum">
              <a:rPr lang="en-US" smtClean="0"/>
              <a:pPr/>
              <a:t>9</a:t>
            </a:fld>
            <a:endParaRPr lang="en-US" dirty="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miter lim="800000"/>
            <a:headEnd/>
            <a:tailEnd/>
          </a:ln>
        </p:spPr>
        <p:txBody>
          <a:bodyPr/>
          <a:lstStyle/>
          <a:p>
            <a:fld id="{A82D9110-2E82-448D-AFF4-81C0BECD847F}" type="slidenum">
              <a:rPr lang="en-US" smtClean="0"/>
              <a:pPr/>
              <a:t>10</a:t>
            </a:fld>
            <a:endParaRPr lang="en-US" dirty="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445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miter lim="800000"/>
            <a:headEnd/>
            <a:tailEnd/>
          </a:ln>
        </p:spPr>
        <p:txBody>
          <a:bodyPr/>
          <a:lstStyle/>
          <a:p>
            <a:fld id="{C87D4172-13D2-4832-BA58-76AD3E7A2925}" type="slidenum">
              <a:rPr lang="en-US" smtClean="0"/>
              <a:pPr/>
              <a:t>11</a:t>
            </a:fld>
            <a:endParaRPr lang="en-US" dirty="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endParaRPr lang="en-US" b="1"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miter lim="800000"/>
            <a:headEnd/>
            <a:tailEnd/>
          </a:ln>
        </p:spPr>
        <p:txBody>
          <a:bodyPr/>
          <a:lstStyle/>
          <a:p>
            <a:fld id="{BE6EEE3E-91FC-4B4E-A5B6-6FAD6FC9DA87}" type="slidenum">
              <a:rPr lang="en-US" smtClean="0"/>
              <a:pPr/>
              <a:t>12</a:t>
            </a:fld>
            <a:endParaRPr lang="en-US" dirty="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miter lim="800000"/>
            <a:headEnd/>
            <a:tailEnd/>
          </a:ln>
        </p:spPr>
        <p:txBody>
          <a:bodyPr/>
          <a:lstStyle/>
          <a:p>
            <a:fld id="{7C96AF91-B53A-4D70-A7A2-20AD9A2E1C87}" type="slidenum">
              <a:rPr lang="en-US" smtClean="0"/>
              <a:pPr/>
              <a:t>13</a:t>
            </a:fld>
            <a:endParaRPr lang="en-US" dirty="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en-US" dirty="0"/>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miter lim="800000"/>
            <a:headEnd/>
            <a:tailEnd/>
          </a:ln>
        </p:spPr>
        <p:txBody>
          <a:bodyPr/>
          <a:lstStyle/>
          <a:p>
            <a:fld id="{5F9489A1-B55F-48CD-91A9-4B2088D8C193}" type="slidenum">
              <a:rPr lang="en-US" smtClean="0"/>
              <a:pPr/>
              <a:t>14</a:t>
            </a:fld>
            <a:endParaRPr lang="en-US" dirty="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r>
              <a:rPr lang="en-US" dirty="0"/>
              <a:t>As per a Step 4 settlement (AC-W-26505/W1458-78A) which is binding and precedent setting, “If management must delay a steward from investigation [of] a grievance or an employee’s request for a steward, management should inform the steward, or the employee involved of the reasons for the delay and should also inform them of when time should be available.”</a:t>
            </a:r>
          </a:p>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miter lim="800000"/>
            <a:headEnd/>
            <a:tailEnd/>
          </a:ln>
        </p:spPr>
        <p:txBody>
          <a:bodyPr/>
          <a:lstStyle/>
          <a:p>
            <a:fld id="{6F2EF3F5-2602-4E06-AEBD-6F2A747B41A1}" type="slidenum">
              <a:rPr lang="en-US" smtClean="0"/>
              <a:pPr/>
              <a:t>15</a:t>
            </a:fld>
            <a:endParaRPr lang="en-US" dirty="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miter lim="800000"/>
            <a:headEnd/>
            <a:tailEnd/>
          </a:ln>
        </p:spPr>
        <p:txBody>
          <a:bodyPr/>
          <a:lstStyle/>
          <a:p>
            <a:fld id="{F124A93C-E03D-48CA-8A2A-C659CB1EECDE}" type="slidenum">
              <a:rPr lang="en-US" smtClean="0"/>
              <a:pPr/>
              <a:t>16</a:t>
            </a:fld>
            <a:endParaRPr lang="en-US" dirty="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miter lim="800000"/>
            <a:headEnd/>
            <a:tailEnd/>
          </a:ln>
        </p:spPr>
        <p:txBody>
          <a:bodyPr/>
          <a:lstStyle/>
          <a:p>
            <a:fld id="{B350FF33-D901-4497-81B5-41457E0293C7}" type="slidenum">
              <a:rPr lang="en-US" smtClean="0"/>
              <a:pPr/>
              <a:t>17</a:t>
            </a:fld>
            <a:endParaRPr lang="en-US" dirty="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508193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miter lim="800000"/>
            <a:headEnd/>
            <a:tailEnd/>
          </a:ln>
        </p:spPr>
        <p:txBody>
          <a:bodyPr/>
          <a:lstStyle/>
          <a:p>
            <a:fld id="{A82D9110-2E82-448D-AFF4-81C0BECD847F}" type="slidenum">
              <a:rPr lang="en-US" smtClean="0"/>
              <a:pPr/>
              <a:t>18</a:t>
            </a:fld>
            <a:endParaRPr lang="en-US" dirty="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4693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miter lim="800000"/>
            <a:headEnd/>
            <a:tailEnd/>
          </a:ln>
        </p:spPr>
        <p:txBody>
          <a:bodyPr/>
          <a:lstStyle/>
          <a:p>
            <a:fld id="{CFFAAD62-ECEE-4209-80B0-EC231D114F24}" type="slidenum">
              <a:rPr lang="en-US" smtClean="0"/>
              <a:pPr/>
              <a:t>19</a:t>
            </a:fld>
            <a:endParaRPr lang="en-US" dirty="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miter lim="800000"/>
            <a:headEnd/>
            <a:tailEnd/>
          </a:ln>
        </p:spPr>
        <p:txBody>
          <a:bodyPr/>
          <a:lstStyle/>
          <a:p>
            <a:fld id="{8A4F6A9A-C485-4FAE-81F1-61AF7943D8D8}" type="slidenum">
              <a:rPr lang="en-US" smtClean="0"/>
              <a:pPr/>
              <a:t>20</a:t>
            </a:fld>
            <a:endParaRPr lang="en-US" dirty="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miter lim="800000"/>
            <a:headEnd/>
            <a:tailEnd/>
          </a:ln>
        </p:spPr>
        <p:txBody>
          <a:bodyPr/>
          <a:lstStyle/>
          <a:p>
            <a:fld id="{311DCF1F-437C-4A65-A440-54E69E98053A}" type="slidenum">
              <a:rPr lang="en-US" smtClean="0"/>
              <a:pPr/>
              <a:t>21</a:t>
            </a:fld>
            <a:endParaRPr lang="en-US" dirty="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miter lim="800000"/>
            <a:headEnd/>
            <a:tailEnd/>
          </a:ln>
        </p:spPr>
        <p:txBody>
          <a:bodyPr/>
          <a:lstStyle/>
          <a:p>
            <a:fld id="{429C1FC2-5936-4B53-BC42-E36812443937}" type="slidenum">
              <a:rPr lang="en-US" smtClean="0"/>
              <a:pPr/>
              <a:t>22</a:t>
            </a:fld>
            <a:endParaRPr lang="en-US" dirty="0"/>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miter lim="800000"/>
            <a:headEnd/>
            <a:tailEnd/>
          </a:ln>
        </p:spPr>
        <p:txBody>
          <a:bodyPr/>
          <a:lstStyle/>
          <a:p>
            <a:fld id="{5209B68E-543D-410F-B562-68E460A49172}" type="slidenum">
              <a:rPr lang="en-US" smtClean="0"/>
              <a:pPr/>
              <a:t>24</a:t>
            </a:fld>
            <a:endParaRPr lang="en-US" dirty="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0035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miter lim="800000"/>
            <a:headEnd/>
            <a:tailEnd/>
          </a:ln>
        </p:spPr>
        <p:txBody>
          <a:bodyPr/>
          <a:lstStyle/>
          <a:p>
            <a:fld id="{7DE4DFB9-0B96-4F28-BB47-622668C526BF}" type="slidenum">
              <a:rPr lang="en-US" smtClean="0"/>
              <a:pPr/>
              <a:t>26</a:t>
            </a:fld>
            <a:endParaRPr lang="en-US" dirty="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miter lim="800000"/>
            <a:headEnd/>
            <a:tailEnd/>
          </a:ln>
        </p:spPr>
        <p:txBody>
          <a:bodyPr/>
          <a:lstStyle/>
          <a:p>
            <a:fld id="{1989B6D2-5F74-4D81-AE63-F7D14EAE3F37}" type="slidenum">
              <a:rPr lang="en-US" smtClean="0"/>
              <a:pPr/>
              <a:t>27</a:t>
            </a:fld>
            <a:endParaRPr lang="en-US" dirty="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miter lim="800000"/>
            <a:headEnd/>
            <a:tailEnd/>
          </a:ln>
        </p:spPr>
        <p:txBody>
          <a:bodyPr/>
          <a:lstStyle/>
          <a:p>
            <a:fld id="{603C2E50-BC38-4D46-BDCD-EA0E7EA38290}" type="slidenum">
              <a:rPr lang="en-US" smtClean="0"/>
              <a:pPr/>
              <a:t>28</a:t>
            </a:fld>
            <a:endParaRPr lang="en-US" dirty="0"/>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miter lim="800000"/>
            <a:headEnd/>
            <a:tailEnd/>
          </a:ln>
        </p:spPr>
        <p:txBody>
          <a:bodyPr/>
          <a:lstStyle/>
          <a:p>
            <a:fld id="{CC7D7248-716A-4EB9-B9C1-CFF76E867E07}" type="slidenum">
              <a:rPr lang="en-US" smtClean="0"/>
              <a:pPr/>
              <a:t>32</a:t>
            </a:fld>
            <a:endParaRPr lang="en-US" dirty="0"/>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miter lim="800000"/>
            <a:headEnd/>
            <a:tailEnd/>
          </a:ln>
        </p:spPr>
        <p:txBody>
          <a:bodyPr/>
          <a:lstStyle/>
          <a:p>
            <a:fld id="{51E2DEE7-4700-4EEC-B331-BA29775B0D92}" type="slidenum">
              <a:rPr lang="en-US" smtClean="0"/>
              <a:pPr/>
              <a:t>33</a:t>
            </a:fld>
            <a:endParaRPr lang="en-US" dirty="0"/>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miter lim="800000"/>
            <a:headEnd/>
            <a:tailEnd/>
          </a:ln>
        </p:spPr>
        <p:txBody>
          <a:bodyPr/>
          <a:lstStyle/>
          <a:p>
            <a:fld id="{1ED41A81-B966-42CB-9BEA-5C063CBB259C}" type="slidenum">
              <a:rPr lang="en-US" smtClean="0"/>
              <a:pPr/>
              <a:t>35</a:t>
            </a:fld>
            <a:endParaRPr lang="en-US" dirty="0"/>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36</a:t>
            </a:fld>
            <a:endParaRPr lang="en-US" dirty="0"/>
          </a:p>
        </p:txBody>
      </p:sp>
    </p:spTree>
    <p:extLst>
      <p:ext uri="{BB962C8B-B14F-4D97-AF65-F5344CB8AC3E}">
        <p14:creationId xmlns:p14="http://schemas.microsoft.com/office/powerpoint/2010/main" val="21262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miter lim="800000"/>
            <a:headEnd/>
            <a:tailEnd/>
          </a:ln>
        </p:spPr>
        <p:txBody>
          <a:bodyPr/>
          <a:lstStyle/>
          <a:p>
            <a:fld id="{469C30A2-E77B-4A66-82CC-B0E9D818B791}" type="slidenum">
              <a:rPr lang="en-US" smtClean="0"/>
              <a:pPr/>
              <a:t>38</a:t>
            </a:fld>
            <a:endParaRPr lang="en-US" dirty="0"/>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miter lim="800000"/>
            <a:headEnd/>
            <a:tailEnd/>
          </a:ln>
        </p:spPr>
        <p:txBody>
          <a:bodyPr/>
          <a:lstStyle/>
          <a:p>
            <a:fld id="{30EBBE94-CA38-4D76-9C8E-B5BE49410891}" type="slidenum">
              <a:rPr lang="en-US" smtClean="0"/>
              <a:pPr/>
              <a:t>39</a:t>
            </a:fld>
            <a:endParaRPr lang="en-US" dirty="0"/>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3DD20B-B826-4B9B-988E-0448003EA885}" type="slidenum">
              <a:rPr lang="en-US" smtClean="0"/>
              <a:t>40</a:t>
            </a:fld>
            <a:endParaRPr lang="en-US" dirty="0"/>
          </a:p>
        </p:txBody>
      </p:sp>
    </p:spTree>
    <p:extLst>
      <p:ext uri="{BB962C8B-B14F-4D97-AF65-F5344CB8AC3E}">
        <p14:creationId xmlns:p14="http://schemas.microsoft.com/office/powerpoint/2010/main" val="1673378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3DD20B-B826-4B9B-988E-0448003EA885}" type="slidenum">
              <a:rPr lang="en-US" smtClean="0"/>
              <a:t>41</a:t>
            </a:fld>
            <a:endParaRPr lang="en-US" dirty="0"/>
          </a:p>
        </p:txBody>
      </p:sp>
    </p:spTree>
    <p:extLst>
      <p:ext uri="{BB962C8B-B14F-4D97-AF65-F5344CB8AC3E}">
        <p14:creationId xmlns:p14="http://schemas.microsoft.com/office/powerpoint/2010/main" val="31318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42</a:t>
            </a:fld>
            <a:endParaRPr lang="en-US" dirty="0"/>
          </a:p>
        </p:txBody>
      </p:sp>
    </p:spTree>
    <p:extLst>
      <p:ext uri="{BB962C8B-B14F-4D97-AF65-F5344CB8AC3E}">
        <p14:creationId xmlns:p14="http://schemas.microsoft.com/office/powerpoint/2010/main" val="33458505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miter lim="800000"/>
            <a:headEnd/>
            <a:tailEnd/>
          </a:ln>
        </p:spPr>
        <p:txBody>
          <a:bodyPr/>
          <a:lstStyle/>
          <a:p>
            <a:fld id="{0E8FD3C3-C5EC-4A1E-94B6-8985FEBFB0B2}" type="slidenum">
              <a:rPr lang="en-US" smtClean="0"/>
              <a:pPr/>
              <a:t>43</a:t>
            </a:fld>
            <a:endParaRPr lang="en-US" dirty="0"/>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miter lim="800000"/>
            <a:headEnd/>
            <a:tailEnd/>
          </a:ln>
        </p:spPr>
        <p:txBody>
          <a:bodyPr/>
          <a:lstStyle/>
          <a:p>
            <a:fld id="{F690B7C7-2B76-4077-95BD-157B9CB57E20}" type="slidenum">
              <a:rPr lang="en-US" smtClean="0"/>
              <a:pPr/>
              <a:t>44</a:t>
            </a:fld>
            <a:endParaRPr lang="en-US" dirty="0"/>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miter lim="800000"/>
            <a:headEnd/>
            <a:tailEnd/>
          </a:ln>
        </p:spPr>
        <p:txBody>
          <a:bodyPr/>
          <a:lstStyle/>
          <a:p>
            <a:fld id="{2E7835F1-716E-4864-AD40-FA93B26997B0}" type="slidenum">
              <a:rPr lang="en-US" smtClean="0"/>
              <a:pPr/>
              <a:t>46</a:t>
            </a:fld>
            <a:endParaRPr lang="en-US" dirty="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miter lim="800000"/>
            <a:headEnd/>
            <a:tailEnd/>
          </a:ln>
        </p:spPr>
        <p:txBody>
          <a:bodyPr/>
          <a:lstStyle/>
          <a:p>
            <a:fld id="{2E7835F1-716E-4864-AD40-FA93B26997B0}" type="slidenum">
              <a:rPr lang="en-US" smtClean="0"/>
              <a:pPr/>
              <a:t>47</a:t>
            </a:fld>
            <a:endParaRPr lang="en-US" dirty="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6648874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miter lim="800000"/>
            <a:headEnd/>
            <a:tailEnd/>
          </a:ln>
        </p:spPr>
        <p:txBody>
          <a:bodyPr/>
          <a:lstStyle/>
          <a:p>
            <a:fld id="{D9D20656-7109-40AA-A047-5CA4DB161E74}" type="slidenum">
              <a:rPr lang="en-US" smtClean="0"/>
              <a:pPr/>
              <a:t>48</a:t>
            </a:fld>
            <a:endParaRPr lang="en-US" dirty="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505627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49</a:t>
            </a:fld>
            <a:endParaRPr lang="en-US" dirty="0"/>
          </a:p>
        </p:txBody>
      </p:sp>
    </p:spTree>
    <p:extLst>
      <p:ext uri="{BB962C8B-B14F-4D97-AF65-F5344CB8AC3E}">
        <p14:creationId xmlns:p14="http://schemas.microsoft.com/office/powerpoint/2010/main" val="22361026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51</a:t>
            </a:fld>
            <a:endParaRPr lang="en-US" dirty="0"/>
          </a:p>
        </p:txBody>
      </p:sp>
    </p:spTree>
    <p:extLst>
      <p:ext uri="{BB962C8B-B14F-4D97-AF65-F5344CB8AC3E}">
        <p14:creationId xmlns:p14="http://schemas.microsoft.com/office/powerpoint/2010/main" val="36460823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53</a:t>
            </a:fld>
            <a:endParaRPr lang="en-US" dirty="0"/>
          </a:p>
        </p:txBody>
      </p:sp>
    </p:spTree>
    <p:extLst>
      <p:ext uri="{BB962C8B-B14F-4D97-AF65-F5344CB8AC3E}">
        <p14:creationId xmlns:p14="http://schemas.microsoft.com/office/powerpoint/2010/main" val="10635850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55</a:t>
            </a:fld>
            <a:endParaRPr lang="en-US" dirty="0"/>
          </a:p>
        </p:txBody>
      </p:sp>
    </p:spTree>
    <p:extLst>
      <p:ext uri="{BB962C8B-B14F-4D97-AF65-F5344CB8AC3E}">
        <p14:creationId xmlns:p14="http://schemas.microsoft.com/office/powerpoint/2010/main" val="3799054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DF84B57-FCCD-4149-AEC2-2E7ADF1B6F6B}" type="slidenum">
              <a:rPr lang="en-US" smtClean="0"/>
              <a:pPr>
                <a:defRPr/>
              </a:pPr>
              <a:t>56</a:t>
            </a:fld>
            <a:endParaRPr lang="en-US" dirty="0"/>
          </a:p>
        </p:txBody>
      </p:sp>
    </p:spTree>
    <p:extLst>
      <p:ext uri="{BB962C8B-B14F-4D97-AF65-F5344CB8AC3E}">
        <p14:creationId xmlns:p14="http://schemas.microsoft.com/office/powerpoint/2010/main" val="22739122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miter lim="800000"/>
            <a:headEnd/>
            <a:tailEnd/>
          </a:ln>
        </p:spPr>
        <p:txBody>
          <a:bodyPr/>
          <a:lstStyle/>
          <a:p>
            <a:fld id="{1F171F94-042B-4C70-B648-3BB0CB7929BA}" type="slidenum">
              <a:rPr lang="en-US" smtClean="0"/>
              <a:pPr/>
              <a:t>57</a:t>
            </a:fld>
            <a:endParaRPr lang="en-US" dirty="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10828959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miter lim="800000"/>
            <a:headEnd/>
            <a:tailEnd/>
          </a:ln>
        </p:spPr>
        <p:txBody>
          <a:bodyPr/>
          <a:lstStyle/>
          <a:p>
            <a:fld id="{1F171F94-042B-4C70-B648-3BB0CB7929BA}" type="slidenum">
              <a:rPr lang="en-US" smtClean="0"/>
              <a:pPr/>
              <a:t>58</a:t>
            </a:fld>
            <a:endParaRPr lang="en-US" dirty="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16928689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miter lim="800000"/>
            <a:headEnd/>
            <a:tailEnd/>
          </a:ln>
        </p:spPr>
        <p:txBody>
          <a:bodyPr/>
          <a:lstStyle/>
          <a:p>
            <a:fld id="{0C25D04D-1CCB-4205-BB24-B9F201D7EB93}" type="slidenum">
              <a:rPr lang="en-US" smtClean="0"/>
              <a:pPr/>
              <a:t>59</a:t>
            </a:fld>
            <a:endParaRPr lang="en-US" dirty="0"/>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miter lim="800000"/>
            <a:headEnd/>
            <a:tailEnd/>
          </a:ln>
        </p:spPr>
        <p:txBody>
          <a:bodyPr/>
          <a:lstStyle/>
          <a:p>
            <a:fld id="{1CB2B33D-EBA5-40DE-9856-98E659E78FB7}" type="slidenum">
              <a:rPr lang="en-US" smtClean="0"/>
              <a:pPr/>
              <a:t>63</a:t>
            </a:fld>
            <a:endParaRPr lang="en-US" dirty="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586596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miter lim="800000"/>
            <a:headEnd/>
            <a:tailEnd/>
          </a:ln>
        </p:spPr>
        <p:txBody>
          <a:bodyPr/>
          <a:lstStyle/>
          <a:p>
            <a:fld id="{931E463A-E49D-4BC3-9225-E095211E1724}" type="slidenum">
              <a:rPr lang="en-US" smtClean="0"/>
              <a:pPr/>
              <a:t>64</a:t>
            </a:fld>
            <a:endParaRPr lang="en-US" dirty="0"/>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616006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miter lim="800000"/>
            <a:headEnd/>
            <a:tailEnd/>
          </a:ln>
        </p:spPr>
        <p:txBody>
          <a:bodyPr/>
          <a:lstStyle/>
          <a:p>
            <a:fld id="{58C5AD9E-8479-45C3-91CA-9E02C72E15A6}" type="slidenum">
              <a:rPr lang="en-US" smtClean="0"/>
              <a:pPr/>
              <a:t>65</a:t>
            </a:fld>
            <a:endParaRPr lang="en-US" dirty="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545882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miter lim="800000"/>
            <a:headEnd/>
            <a:tailEnd/>
          </a:ln>
        </p:spPr>
        <p:txBody>
          <a:bodyPr/>
          <a:lstStyle/>
          <a:p>
            <a:fld id="{2B442405-2912-4DA2-88F6-FD16E6AA15B8}" type="slidenum">
              <a:rPr lang="en-US" smtClean="0"/>
              <a:pPr/>
              <a:t>67</a:t>
            </a:fld>
            <a:endParaRPr lang="en-US" dirty="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333953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miter lim="800000"/>
            <a:headEnd/>
            <a:tailEnd/>
          </a:ln>
        </p:spPr>
        <p:txBody>
          <a:bodyPr/>
          <a:lstStyle/>
          <a:p>
            <a:fld id="{E7BF2A3D-6749-497E-9D98-0FAA6E0EE833}" type="slidenum">
              <a:rPr lang="en-US" smtClean="0"/>
              <a:pPr/>
              <a:t>71</a:t>
            </a:fld>
            <a:endParaRPr lang="en-US" dirty="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7292218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miter lim="800000"/>
            <a:headEnd/>
            <a:tailEnd/>
          </a:ln>
        </p:spPr>
        <p:txBody>
          <a:bodyPr/>
          <a:lstStyle/>
          <a:p>
            <a:fld id="{E7BF2A3D-6749-497E-9D98-0FAA6E0EE833}" type="slidenum">
              <a:rPr lang="en-US" smtClean="0"/>
              <a:pPr/>
              <a:t>74</a:t>
            </a:fld>
            <a:endParaRPr lang="en-US" dirty="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162093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miter lim="800000"/>
            <a:headEnd/>
            <a:tailEnd/>
          </a:ln>
        </p:spPr>
        <p:txBody>
          <a:bodyPr/>
          <a:lstStyle/>
          <a:p>
            <a:fld id="{E7BF2A3D-6749-497E-9D98-0FAA6E0EE833}" type="slidenum">
              <a:rPr lang="en-US" smtClean="0"/>
              <a:pPr/>
              <a:t>75</a:t>
            </a:fld>
            <a:endParaRPr lang="en-US" dirty="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5395479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3DD20B-B826-4B9B-988E-0448003EA885}" type="slidenum">
              <a:rPr lang="en-US" smtClean="0"/>
              <a:t>85</a:t>
            </a:fld>
            <a:endParaRPr lang="en-US" dirty="0"/>
          </a:p>
        </p:txBody>
      </p:sp>
    </p:spTree>
    <p:extLst>
      <p:ext uri="{BB962C8B-B14F-4D97-AF65-F5344CB8AC3E}">
        <p14:creationId xmlns:p14="http://schemas.microsoft.com/office/powerpoint/2010/main" val="1673378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8E79E8F8-E71E-4A1D-B5FC-6A7DD401644B}" type="slidenum">
              <a:rPr lang="en-US" smtClean="0"/>
              <a:pPr>
                <a:defRPr/>
              </a:pPr>
              <a:t>‹#›</a:t>
            </a:fld>
            <a:endParaRPr lang="en-US" dirty="0"/>
          </a:p>
        </p:txBody>
      </p:sp>
    </p:spTree>
    <p:extLst>
      <p:ext uri="{BB962C8B-B14F-4D97-AF65-F5344CB8AC3E}">
        <p14:creationId xmlns:p14="http://schemas.microsoft.com/office/powerpoint/2010/main" val="3241227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0247A35-019B-4DE0-BE87-65F64CE6CE67}" type="slidenum">
              <a:rPr lang="en-US" smtClean="0"/>
              <a:pPr>
                <a:defRPr/>
              </a:pPr>
              <a:t>‹#›</a:t>
            </a:fld>
            <a:endParaRPr lang="en-US" dirty="0"/>
          </a:p>
        </p:txBody>
      </p:sp>
    </p:spTree>
    <p:extLst>
      <p:ext uri="{BB962C8B-B14F-4D97-AF65-F5344CB8AC3E}">
        <p14:creationId xmlns:p14="http://schemas.microsoft.com/office/powerpoint/2010/main" val="4256642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A95F111-2C36-4038-B9EC-A0FFB389138F}" type="slidenum">
              <a:rPr lang="en-US" smtClean="0"/>
              <a:pPr>
                <a:defRPr/>
              </a:pPr>
              <a:t>‹#›</a:t>
            </a:fld>
            <a:endParaRPr lang="en-US" dirty="0"/>
          </a:p>
        </p:txBody>
      </p:sp>
    </p:spTree>
    <p:extLst>
      <p:ext uri="{BB962C8B-B14F-4D97-AF65-F5344CB8AC3E}">
        <p14:creationId xmlns:p14="http://schemas.microsoft.com/office/powerpoint/2010/main" val="3460285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5509D349-7118-4C79-B45A-D50D9E60A7B1}" type="slidenum">
              <a:rPr lang="en-US" smtClean="0"/>
              <a:pPr>
                <a:defRPr/>
              </a:pPr>
              <a:t>‹#›</a:t>
            </a:fld>
            <a:endParaRPr lang="en-US" dirty="0"/>
          </a:p>
        </p:txBody>
      </p:sp>
    </p:spTree>
    <p:extLst>
      <p:ext uri="{BB962C8B-B14F-4D97-AF65-F5344CB8AC3E}">
        <p14:creationId xmlns:p14="http://schemas.microsoft.com/office/powerpoint/2010/main" val="229856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0F87C8A2-2C62-4409-88E7-493840C3CEF4}" type="slidenum">
              <a:rPr lang="en-US" smtClean="0"/>
              <a:pPr>
                <a:defRPr/>
              </a:pPr>
              <a:t>‹#›</a:t>
            </a:fld>
            <a:endParaRPr lang="en-US" dirty="0"/>
          </a:p>
        </p:txBody>
      </p:sp>
    </p:spTree>
    <p:extLst>
      <p:ext uri="{BB962C8B-B14F-4D97-AF65-F5344CB8AC3E}">
        <p14:creationId xmlns:p14="http://schemas.microsoft.com/office/powerpoint/2010/main" val="2651706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D6FD50A2-75B0-4ED2-AE1A-B2397DD96558}" type="slidenum">
              <a:rPr lang="en-US" smtClean="0"/>
              <a:pPr>
                <a:defRPr/>
              </a:pPr>
              <a:t>‹#›</a:t>
            </a:fld>
            <a:endParaRPr lang="en-US" dirty="0"/>
          </a:p>
        </p:txBody>
      </p:sp>
    </p:spTree>
    <p:extLst>
      <p:ext uri="{BB962C8B-B14F-4D97-AF65-F5344CB8AC3E}">
        <p14:creationId xmlns:p14="http://schemas.microsoft.com/office/powerpoint/2010/main" val="343826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C4E3D3C5-C6E4-40FB-9D74-84371DC4C8C7}" type="slidenum">
              <a:rPr lang="en-US" smtClean="0"/>
              <a:pPr>
                <a:defRPr/>
              </a:pPr>
              <a:t>‹#›</a:t>
            </a:fld>
            <a:endParaRPr lang="en-US" dirty="0"/>
          </a:p>
        </p:txBody>
      </p:sp>
    </p:spTree>
    <p:extLst>
      <p:ext uri="{BB962C8B-B14F-4D97-AF65-F5344CB8AC3E}">
        <p14:creationId xmlns:p14="http://schemas.microsoft.com/office/powerpoint/2010/main" val="1842339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DAF286B-BAB2-4580-9E3E-F32858870ADA}" type="slidenum">
              <a:rPr lang="en-US" smtClean="0"/>
              <a:pPr>
                <a:defRPr/>
              </a:pPr>
              <a:t>‹#›</a:t>
            </a:fld>
            <a:endParaRPr lang="en-US" dirty="0"/>
          </a:p>
        </p:txBody>
      </p:sp>
    </p:spTree>
    <p:extLst>
      <p:ext uri="{BB962C8B-B14F-4D97-AF65-F5344CB8AC3E}">
        <p14:creationId xmlns:p14="http://schemas.microsoft.com/office/powerpoint/2010/main" val="353336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726F4B25-8DEE-4596-B962-F59215AF5F6F}" type="slidenum">
              <a:rPr lang="en-US" smtClean="0"/>
              <a:pPr>
                <a:defRPr/>
              </a:pPr>
              <a:t>‹#›</a:t>
            </a:fld>
            <a:endParaRPr lang="en-US" dirty="0"/>
          </a:p>
        </p:txBody>
      </p:sp>
    </p:spTree>
    <p:extLst>
      <p:ext uri="{BB962C8B-B14F-4D97-AF65-F5344CB8AC3E}">
        <p14:creationId xmlns:p14="http://schemas.microsoft.com/office/powerpoint/2010/main" val="3608284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7EC26BB-53AF-4322-9C0A-A8AFAC3C0271}" type="slidenum">
              <a:rPr lang="en-US" smtClean="0"/>
              <a:pPr>
                <a:defRPr/>
              </a:pPr>
              <a:t>‹#›</a:t>
            </a:fld>
            <a:endParaRPr lang="en-US" dirty="0"/>
          </a:p>
        </p:txBody>
      </p:sp>
    </p:spTree>
    <p:extLst>
      <p:ext uri="{BB962C8B-B14F-4D97-AF65-F5344CB8AC3E}">
        <p14:creationId xmlns:p14="http://schemas.microsoft.com/office/powerpoint/2010/main" val="381001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7EC26BB-53AF-4322-9C0A-A8AFAC3C0271}" type="slidenum">
              <a:rPr lang="en-US" smtClean="0"/>
              <a:pPr>
                <a:defRPr/>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42510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7EC26BB-53AF-4322-9C0A-A8AFAC3C0271}" type="slidenum">
              <a:rPr lang="en-US" smtClean="0"/>
              <a:pPr>
                <a:defRPr/>
              </a:pPr>
              <a:t>‹#›</a:t>
            </a:fld>
            <a:endParaRPr lang="en-US" dirty="0"/>
          </a:p>
        </p:txBody>
      </p:sp>
    </p:spTree>
    <p:extLst>
      <p:ext uri="{BB962C8B-B14F-4D97-AF65-F5344CB8AC3E}">
        <p14:creationId xmlns:p14="http://schemas.microsoft.com/office/powerpoint/2010/main" val="1465607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7EC26BB-53AF-4322-9C0A-A8AFAC3C0271}" type="slidenum">
              <a:rPr lang="en-US" smtClean="0"/>
              <a:pPr>
                <a:defRPr/>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039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7EC26BB-53AF-4322-9C0A-A8AFAC3C0271}" type="slidenum">
              <a:rPr lang="en-US" smtClean="0"/>
              <a:pPr>
                <a:defRPr/>
              </a:pPr>
              <a:t>‹#›</a:t>
            </a:fld>
            <a:endParaRPr lang="en-US" dirty="0"/>
          </a:p>
        </p:txBody>
      </p:sp>
    </p:spTree>
    <p:extLst>
      <p:ext uri="{BB962C8B-B14F-4D97-AF65-F5344CB8AC3E}">
        <p14:creationId xmlns:p14="http://schemas.microsoft.com/office/powerpoint/2010/main" val="103264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8B363D07-8EF7-423A-8FFE-0F708978DC62}" type="slidenum">
              <a:rPr lang="en-US" smtClean="0"/>
              <a:pPr>
                <a:defRPr/>
              </a:pPr>
              <a:t>‹#›</a:t>
            </a:fld>
            <a:endParaRPr lang="en-US" dirty="0"/>
          </a:p>
        </p:txBody>
      </p:sp>
    </p:spTree>
    <p:extLst>
      <p:ext uri="{BB962C8B-B14F-4D97-AF65-F5344CB8AC3E}">
        <p14:creationId xmlns:p14="http://schemas.microsoft.com/office/powerpoint/2010/main" val="2702017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E01601B4-8829-4960-A6D8-B4D75E21E042}" type="slidenum">
              <a:rPr lang="en-US" smtClean="0"/>
              <a:pPr>
                <a:defRPr/>
              </a:pPr>
              <a:t>‹#›</a:t>
            </a:fld>
            <a:endParaRPr lang="en-US" dirty="0"/>
          </a:p>
        </p:txBody>
      </p:sp>
    </p:spTree>
    <p:extLst>
      <p:ext uri="{BB962C8B-B14F-4D97-AF65-F5344CB8AC3E}">
        <p14:creationId xmlns:p14="http://schemas.microsoft.com/office/powerpoint/2010/main" val="2617580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57EC26BB-53AF-4322-9C0A-A8AFAC3C0271}" type="slidenum">
              <a:rPr lang="en-US" smtClean="0"/>
              <a:pPr>
                <a:defRPr/>
              </a:pPr>
              <a:t>‹#›</a:t>
            </a:fld>
            <a:endParaRPr lang="en-US" dirty="0"/>
          </a:p>
        </p:txBody>
      </p:sp>
    </p:spTree>
    <p:extLst>
      <p:ext uri="{BB962C8B-B14F-4D97-AF65-F5344CB8AC3E}">
        <p14:creationId xmlns:p14="http://schemas.microsoft.com/office/powerpoint/2010/main" val="184209621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PS%20Form%201260.pdf"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PS%20Form%207020.pdf"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INFORMATION%20REQUEST%20FORM.pdf"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SUPERVISOR'S%20GRIEVANCE%20SUMMARY,%20PS%20FORM%202608.pdf"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6.xml"/><Relationship Id="rId4" Type="http://schemas.openxmlformats.org/officeDocument/2006/relationships/customXml" Target="../ink/ink2.xml"/></Relationships>
</file>

<file path=ppt/slides/_rels/slide31.xml.rels><?xml version="1.0" encoding="UTF-8" standalone="yes"?>
<Relationships xmlns="http://schemas.openxmlformats.org/package/2006/relationships"><Relationship Id="rId2" Type="http://schemas.openxmlformats.org/officeDocument/2006/relationships/hyperlink" Target="GRIEVANCE%20CHRONOLOGY%20SHEET.pdf"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EXTENDING%20TIME%20LIMITS%20REQUEST%20FORM.pdf"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STEP%201%20GRIEVANCE%20OUTLINE%20WORKSHEET.pdf"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SETTLEMENT%20IMPLEMENTATION%20FORM.pdf"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STEP%202%20GRIEVANCE%20APPEAL%20FORM.pdf"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EXHIBIT%20SHEET.pdf"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hyperlink" Target="RECEIPT%20OF%20DOCUMENTS%20FORM.pdf"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CORRECTIONS%20AND%20ADDITIONS%20FORM.pdf"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APPEAL%20TO%20ARBITRATION%20FROM%20STEP%202%20FORM.pdf" TargetMode="Externa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STEP%203%20GRIEVANCE%20FORM.pdf"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hyperlink" Target="Arguments%20and%20Evidence%20Form%20for%20Step%203%20Appeals%20and%20Step%202%20Direct%20Appeals.pdf"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hyperlink" Target="DENIAL%20OF%20A%20STEWARD%20DURING%20AN%20INTERROGATION.pdf"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hyperlink" Target="RIGHTS%20BEFORE%20POSTAL%20INSPECTORS%20CARDS.pdf" TargetMode="Externa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STEWARDS%20RIGHT%20TO%20REFUSE%20TO%20DISCLOSE%20INFORMATION.pdf"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hyperlink" Target="GRIEVANT%20or%20WITNESS%20STATEMENT%20FORM.pdf"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GRIEVANT%20or%20WITNESS%20STATEMENT%20FORM.pdf"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Shop%20Steward's%20Training%20Manual,%20Revised%20July%202022.pdf" TargetMode="External"/><Relationship Id="rId2" Type="http://schemas.openxmlformats.org/officeDocument/2006/relationships/hyperlink" Target="http://www.apwu.org/" TargetMode="External"/><Relationship Id="rId1" Type="http://schemas.openxmlformats.org/officeDocument/2006/relationships/slideLayout" Target="../slideLayouts/slideLayout2.xml"/><Relationship Id="rId4" Type="http://schemas.openxmlformats.org/officeDocument/2006/relationships/hyperlink" Target="Shop%20Steward%20Training%20Manual,%20Revised%20December%202020.pdf"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www.apwu.org/" TargetMode="Externa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hyperlink" Target="mailto:jrobinson@apwu.org"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7"/>
          <p:cNvSpPr>
            <a:spLocks noGrp="1" noRot="1" noChangeArrowheads="1"/>
          </p:cNvSpPr>
          <p:nvPr>
            <p:ph idx="1"/>
          </p:nvPr>
        </p:nvSpPr>
        <p:spPr>
          <a:xfrm>
            <a:off x="609600" y="76200"/>
            <a:ext cx="7924800" cy="1905000"/>
          </a:xfrm>
        </p:spPr>
        <p:txBody>
          <a:bodyPr>
            <a:normAutofit fontScale="25000" lnSpcReduction="20000"/>
          </a:bodyPr>
          <a:lstStyle/>
          <a:p>
            <a:pPr eaLnBrk="1" hangingPunct="1">
              <a:buFont typeface="Wingdings" pitchFamily="2" charset="2"/>
              <a:buNone/>
            </a:pPr>
            <a:endParaRPr lang="en-US" sz="4800" b="1" i="1" dirty="0">
              <a:solidFill>
                <a:schemeClr val="tx2"/>
              </a:solidFill>
              <a:effectLst/>
            </a:endParaRPr>
          </a:p>
          <a:p>
            <a:pPr algn="ctr" eaLnBrk="1" hangingPunct="1">
              <a:buFont typeface="Wingdings" pitchFamily="2" charset="2"/>
              <a:buNone/>
            </a:pPr>
            <a:r>
              <a:rPr lang="en-US" sz="21600" b="1" dirty="0">
                <a:solidFill>
                  <a:srgbClr val="FF6699"/>
                </a:solidFill>
                <a:effectLst>
                  <a:outerShdw blurRad="38100" dist="38100" dir="2700000" algn="tl">
                    <a:srgbClr val="000000">
                      <a:alpha val="43137"/>
                    </a:srgbClr>
                  </a:outerShdw>
                </a:effectLst>
              </a:rPr>
              <a:t>BASIC SHOP </a:t>
            </a:r>
          </a:p>
          <a:p>
            <a:pPr algn="ctr" eaLnBrk="1" hangingPunct="1">
              <a:buFont typeface="Wingdings" pitchFamily="2" charset="2"/>
              <a:buNone/>
            </a:pPr>
            <a:r>
              <a:rPr lang="en-US" sz="21600" b="1" dirty="0">
                <a:solidFill>
                  <a:srgbClr val="FF6699"/>
                </a:solidFill>
                <a:effectLst>
                  <a:outerShdw blurRad="38100" dist="38100" dir="2700000" algn="tl">
                    <a:srgbClr val="000000">
                      <a:alpha val="43137"/>
                    </a:srgbClr>
                  </a:outerShdw>
                </a:effectLst>
              </a:rPr>
              <a:t>STEWARD’S TRAINING</a:t>
            </a:r>
          </a:p>
          <a:p>
            <a:pPr algn="ctr" eaLnBrk="1" hangingPunct="1">
              <a:buFont typeface="Wingdings" pitchFamily="2" charset="2"/>
              <a:buNone/>
            </a:pPr>
            <a:endParaRPr lang="en-US" sz="6300" b="1" i="1" dirty="0">
              <a:solidFill>
                <a:srgbClr val="FF6699"/>
              </a:solidFill>
              <a:effectLst/>
            </a:endParaRPr>
          </a:p>
          <a:p>
            <a:pPr algn="ctr" eaLnBrk="1" hangingPunct="1">
              <a:buFont typeface="Wingdings" pitchFamily="2" charset="2"/>
              <a:buNone/>
            </a:pPr>
            <a:endParaRPr lang="en-US" sz="6300" b="1" i="1" dirty="0">
              <a:solidFill>
                <a:srgbClr val="FF6699"/>
              </a:solidFill>
              <a:effectLst/>
            </a:endParaRPr>
          </a:p>
          <a:p>
            <a:pPr algn="ctr" eaLnBrk="1" hangingPunct="1">
              <a:buFont typeface="Wingdings" pitchFamily="2" charset="2"/>
              <a:buNone/>
            </a:pPr>
            <a:endParaRPr lang="en-US" sz="8600" b="1" i="1" dirty="0">
              <a:solidFill>
                <a:srgbClr val="FF6699"/>
              </a:solidFill>
            </a:endParaRPr>
          </a:p>
          <a:p>
            <a:pPr algn="ctr" eaLnBrk="1" hangingPunct="1">
              <a:buFont typeface="Wingdings" pitchFamily="2" charset="2"/>
              <a:buNone/>
            </a:pPr>
            <a:endParaRPr lang="en-US" sz="8600" b="1" i="1" dirty="0">
              <a:solidFill>
                <a:srgbClr val="FF6699"/>
              </a:solidFill>
              <a:effectLst/>
            </a:endParaRPr>
          </a:p>
          <a:p>
            <a:pPr algn="ctr" eaLnBrk="1" hangingPunct="1">
              <a:buFont typeface="Wingdings" pitchFamily="2" charset="2"/>
              <a:buNone/>
            </a:pPr>
            <a:endParaRPr lang="en-US" sz="8600" b="1" dirty="0">
              <a:ln>
                <a:prstDash val="solid"/>
              </a:ln>
              <a:solidFill>
                <a:srgbClr val="FF33CC"/>
              </a:solidFill>
              <a:effectLst>
                <a:outerShdw blurRad="88000" dist="50800" dir="5040000" algn="tl">
                  <a:schemeClr val="accent4">
                    <a:tint val="80000"/>
                    <a:satMod val="250000"/>
                    <a:alpha val="45000"/>
                  </a:schemeClr>
                </a:outerShdw>
              </a:effectLst>
              <a:latin typeface="Arial Black" panose="020B0A04020102020204" pitchFamily="34" charset="0"/>
            </a:endParaRPr>
          </a:p>
          <a:p>
            <a:pPr eaLnBrk="1" hangingPunct="1">
              <a:buFont typeface="Wingdings" pitchFamily="2" charset="2"/>
              <a:buNone/>
            </a:pPr>
            <a:endParaRPr lang="en-US" sz="4000" b="1" dirty="0">
              <a:effectLst/>
            </a:endParaRPr>
          </a:p>
        </p:txBody>
      </p:sp>
      <p:sp>
        <p:nvSpPr>
          <p:cNvPr id="4" name="Rectangle 3"/>
          <p:cNvSpPr>
            <a:spLocks noGrp="1" noRot="1" noChangeArrowheads="1"/>
          </p:cNvSpPr>
          <p:nvPr/>
        </p:nvSpPr>
        <p:spPr bwMode="auto">
          <a:xfrm>
            <a:off x="609600" y="1981200"/>
            <a:ext cx="7924800" cy="464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chemeClr val="hlink"/>
              </a:buClr>
              <a:buFont typeface="Wingdings" pitchFamily="2" charset="2"/>
              <a:buNone/>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a:lstStyle>
          <a:p>
            <a:pPr eaLnBrk="1" hangingPunct="1">
              <a:lnSpc>
                <a:spcPct val="90000"/>
              </a:lnSpc>
              <a:defRPr/>
            </a:pPr>
            <a:endParaRPr lang="en-US" sz="2000" dirty="0"/>
          </a:p>
          <a:p>
            <a:pPr eaLnBrk="1" hangingPunct="1">
              <a:lnSpc>
                <a:spcPct val="90000"/>
              </a:lnSpc>
              <a:defRPr/>
            </a:pPr>
            <a:r>
              <a:rPr lang="en-US" b="1" dirty="0">
                <a:solidFill>
                  <a:srgbClr val="0033CC"/>
                </a:solidFill>
                <a:effectLst/>
              </a:rPr>
              <a:t>INSTRUCTORS:</a:t>
            </a:r>
          </a:p>
          <a:p>
            <a:pPr algn="l" eaLnBrk="1" hangingPunct="1">
              <a:lnSpc>
                <a:spcPct val="90000"/>
              </a:lnSpc>
              <a:defRPr/>
            </a:pPr>
            <a:endParaRPr lang="en-US" sz="2400" b="1" dirty="0">
              <a:solidFill>
                <a:srgbClr val="0033CC"/>
              </a:solidFill>
              <a:effectLst/>
            </a:endParaRPr>
          </a:p>
          <a:p>
            <a:pPr algn="l" eaLnBrk="1" hangingPunct="1">
              <a:lnSpc>
                <a:spcPct val="90000"/>
              </a:lnSpc>
              <a:defRPr/>
            </a:pPr>
            <a:endParaRPr lang="en-US" sz="2400" b="1" dirty="0">
              <a:solidFill>
                <a:srgbClr val="0033CC"/>
              </a:solidFill>
              <a:effectLst/>
            </a:endParaRPr>
          </a:p>
          <a:p>
            <a:pPr algn="l" eaLnBrk="1" hangingPunct="1">
              <a:lnSpc>
                <a:spcPct val="90000"/>
              </a:lnSpc>
              <a:defRPr/>
            </a:pPr>
            <a:endParaRPr lang="en-US" sz="2400" b="1" dirty="0">
              <a:solidFill>
                <a:srgbClr val="0033CC"/>
              </a:solidFill>
              <a:effectLst/>
            </a:endParaRPr>
          </a:p>
          <a:p>
            <a:pPr eaLnBrk="1" hangingPunct="1">
              <a:lnSpc>
                <a:spcPct val="90000"/>
              </a:lnSpc>
              <a:defRPr/>
            </a:pPr>
            <a:endParaRPr lang="en-US" sz="2400" b="1" dirty="0">
              <a:solidFill>
                <a:srgbClr val="0033CC"/>
              </a:solidFill>
              <a:effectLst/>
            </a:endParaRPr>
          </a:p>
          <a:p>
            <a:pPr eaLnBrk="1" hangingPunct="1">
              <a:lnSpc>
                <a:spcPct val="90000"/>
              </a:lnSpc>
              <a:defRPr/>
            </a:pPr>
            <a:endParaRPr lang="en-US" sz="2400" b="1" dirty="0">
              <a:solidFill>
                <a:srgbClr val="0033CC"/>
              </a:solidFill>
              <a:effectLst/>
            </a:endParaRPr>
          </a:p>
          <a:p>
            <a:pPr algn="l" eaLnBrk="1" hangingPunct="1">
              <a:spcBef>
                <a:spcPts val="0"/>
              </a:spcBef>
              <a:defRPr/>
            </a:pPr>
            <a:r>
              <a:rPr lang="en-US" sz="2000" b="1" dirty="0">
                <a:solidFill>
                  <a:srgbClr val="0033CC"/>
                </a:solidFill>
                <a:effectLst/>
              </a:rPr>
              <a:t>	</a:t>
            </a:r>
            <a:endParaRPr lang="en-US" sz="300" b="1" dirty="0">
              <a:solidFill>
                <a:srgbClr val="0033CC"/>
              </a:solidFill>
              <a:effectLst/>
            </a:endParaRPr>
          </a:p>
          <a:p>
            <a:pPr algn="l" eaLnBrk="1" hangingPunct="1">
              <a:spcBef>
                <a:spcPts val="0"/>
              </a:spcBef>
              <a:defRPr/>
            </a:pPr>
            <a:r>
              <a:rPr lang="en-US" sz="2000" b="1" dirty="0">
                <a:solidFill>
                  <a:srgbClr val="0033CC"/>
                </a:solidFill>
                <a:effectLst/>
              </a:rPr>
              <a:t>	Liz Swigert, NBA 					  Robert Romanowski, NBA	New York Region 					  Philadelphia Region 	</a:t>
            </a:r>
          </a:p>
          <a:p>
            <a:pPr algn="l" eaLnBrk="1" hangingPunct="1">
              <a:lnSpc>
                <a:spcPct val="90000"/>
              </a:lnSpc>
              <a:defRPr/>
            </a:pPr>
            <a:endParaRPr lang="en-US" sz="2000" b="1" dirty="0">
              <a:solidFill>
                <a:srgbClr val="0033CC"/>
              </a:solidFill>
              <a:effectLst/>
            </a:endParaRPr>
          </a:p>
          <a:p>
            <a:pPr eaLnBrk="1" hangingPunct="1">
              <a:lnSpc>
                <a:spcPct val="90000"/>
              </a:lnSpc>
              <a:defRPr/>
            </a:pPr>
            <a:endParaRPr lang="en-US" sz="2800" b="1" dirty="0">
              <a:solidFill>
                <a:srgbClr val="0033CC"/>
              </a:solidFill>
              <a:effectLst/>
            </a:endParaRPr>
          </a:p>
          <a:p>
            <a:pPr eaLnBrk="1" hangingPunct="1">
              <a:lnSpc>
                <a:spcPct val="90000"/>
              </a:lnSpc>
              <a:defRPr/>
            </a:pPr>
            <a:r>
              <a:rPr lang="en-US" dirty="0">
                <a:effectLst/>
              </a:rPr>
              <a:t> </a:t>
            </a:r>
          </a:p>
        </p:txBody>
      </p:sp>
      <p:pic>
        <p:nvPicPr>
          <p:cNvPr id="1028" name="Picture 4">
            <a:extLst>
              <a:ext uri="{FF2B5EF4-FFF2-40B4-BE49-F238E27FC236}">
                <a16:creationId xmlns:a16="http://schemas.microsoft.com/office/drawing/2014/main" id="{34B5B8C5-2E87-451D-BA43-DB6F4071AE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352800"/>
            <a:ext cx="1619250"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D092CB2-1732-46BE-9927-EF892EE47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3429000"/>
            <a:ext cx="1619251" cy="155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409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PWU logo">
            <a:extLst>
              <a:ext uri="{FF2B5EF4-FFF2-40B4-BE49-F238E27FC236}">
                <a16:creationId xmlns:a16="http://schemas.microsoft.com/office/drawing/2014/main" id="{9D568AA7-8CE1-D9DE-0EE0-B3149747E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217" y="534122"/>
            <a:ext cx="2714625" cy="8096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PWU logo">
            <a:extLst>
              <a:ext uri="{FF2B5EF4-FFF2-40B4-BE49-F238E27FC236}">
                <a16:creationId xmlns:a16="http://schemas.microsoft.com/office/drawing/2014/main" id="{360E3E24-E501-C67D-279E-D071A3442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217" y="520950"/>
            <a:ext cx="2714625" cy="8096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PWU logo">
            <a:extLst>
              <a:ext uri="{FF2B5EF4-FFF2-40B4-BE49-F238E27FC236}">
                <a16:creationId xmlns:a16="http://schemas.microsoft.com/office/drawing/2014/main" id="{568E5745-0626-6829-C097-B3DE5100F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8617" y="673350"/>
            <a:ext cx="2714625" cy="8096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PWU logo">
            <a:extLst>
              <a:ext uri="{FF2B5EF4-FFF2-40B4-BE49-F238E27FC236}">
                <a16:creationId xmlns:a16="http://schemas.microsoft.com/office/drawing/2014/main" id="{BED55FEE-8C42-CED6-7C9D-3363987A0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1017" y="825750"/>
            <a:ext cx="2714625" cy="80962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APWU logo">
            <a:extLst>
              <a:ext uri="{FF2B5EF4-FFF2-40B4-BE49-F238E27FC236}">
                <a16:creationId xmlns:a16="http://schemas.microsoft.com/office/drawing/2014/main" id="{43E6F28D-F263-E308-0593-F90F019B7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817" y="809619"/>
            <a:ext cx="2714625" cy="80962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APWU logo">
            <a:extLst>
              <a:ext uri="{FF2B5EF4-FFF2-40B4-BE49-F238E27FC236}">
                <a16:creationId xmlns:a16="http://schemas.microsoft.com/office/drawing/2014/main" id="{5763B921-4DF1-17A8-ABA8-73656391AD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 t="-2027" r="3745" b="-2027"/>
          <a:stretch/>
        </p:blipFill>
        <p:spPr bwMode="auto">
          <a:xfrm>
            <a:off x="1893691" y="734241"/>
            <a:ext cx="4412345" cy="1364764"/>
          </a:xfrm>
          <a:prstGeom prst="rect">
            <a:avLst/>
          </a:prstGeom>
          <a:solidFill>
            <a:srgbClr val="3399FF"/>
          </a:solidFill>
        </p:spPr>
        <p:style>
          <a:lnRef idx="2">
            <a:schemeClr val="accent2">
              <a:shade val="50000"/>
            </a:schemeClr>
          </a:lnRef>
          <a:fillRef idx="1">
            <a:schemeClr val="accent2"/>
          </a:fillRef>
          <a:effectRef idx="0">
            <a:schemeClr val="accent2"/>
          </a:effectRef>
          <a:fontRef idx="minor">
            <a:schemeClr val="lt1"/>
          </a:fontRef>
        </p:style>
      </p:pic>
      <p:pic>
        <p:nvPicPr>
          <p:cNvPr id="13" name="Picture 3">
            <a:extLst>
              <a:ext uri="{FF2B5EF4-FFF2-40B4-BE49-F238E27FC236}">
                <a16:creationId xmlns:a16="http://schemas.microsoft.com/office/drawing/2014/main" id="{24C8D3A4-6538-82E8-18D1-FACDB40631A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756695" y="2701553"/>
            <a:ext cx="1458468" cy="219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a:extLst>
              <a:ext uri="{FF2B5EF4-FFF2-40B4-BE49-F238E27FC236}">
                <a16:creationId xmlns:a16="http://schemas.microsoft.com/office/drawing/2014/main" id="{60906F6C-D678-9D4C-1A4D-8AD89DEC7B69}"/>
              </a:ext>
            </a:extLst>
          </p:cNvPr>
          <p:cNvPicPr>
            <a:picLocks noChangeAspect="1"/>
          </p:cNvPicPr>
          <p:nvPr/>
        </p:nvPicPr>
        <p:blipFill>
          <a:blip r:embed="rId4" cstate="print"/>
          <a:stretch>
            <a:fillRect/>
          </a:stretch>
        </p:blipFill>
        <p:spPr bwMode="auto">
          <a:xfrm>
            <a:off x="1143000" y="2743200"/>
            <a:ext cx="1463040" cy="2111266"/>
          </a:xfrm>
          <a:prstGeom prst="rect">
            <a:avLst/>
          </a:prstGeom>
          <a:noFill/>
          <a:ln w="9525">
            <a:noFill/>
            <a:miter lim="800000"/>
            <a:headEnd/>
            <a:tailEnd/>
          </a:ln>
          <a:effectLst>
            <a:softEdge rad="63500"/>
          </a:effectLst>
        </p:spPr>
      </p:pic>
      <p:pic>
        <p:nvPicPr>
          <p:cNvPr id="15" name="Picture 14">
            <a:extLst>
              <a:ext uri="{FF2B5EF4-FFF2-40B4-BE49-F238E27FC236}">
                <a16:creationId xmlns:a16="http://schemas.microsoft.com/office/drawing/2014/main" id="{EDD39BB4-2CFB-7833-5593-7699D2D5C7A0}"/>
              </a:ext>
            </a:extLst>
          </p:cNvPr>
          <p:cNvPicPr>
            <a:picLocks noChangeAspect="1"/>
          </p:cNvPicPr>
          <p:nvPr/>
        </p:nvPicPr>
        <p:blipFill>
          <a:blip r:embed="rId5"/>
          <a:stretch>
            <a:fillRect/>
          </a:stretch>
        </p:blipFill>
        <p:spPr>
          <a:xfrm>
            <a:off x="6306036" y="2743200"/>
            <a:ext cx="1463040" cy="2157364"/>
          </a:xfrm>
          <a:prstGeom prst="rect">
            <a:avLst/>
          </a:prstGeom>
        </p:spPr>
      </p:pic>
      <p:sp useBgFill="1">
        <p:nvSpPr>
          <p:cNvPr id="37" name="TextBox 36">
            <a:extLst>
              <a:ext uri="{FF2B5EF4-FFF2-40B4-BE49-F238E27FC236}">
                <a16:creationId xmlns:a16="http://schemas.microsoft.com/office/drawing/2014/main" id="{BD1FB368-550E-3BC4-460D-AFB76A845391}"/>
              </a:ext>
            </a:extLst>
          </p:cNvPr>
          <p:cNvSpPr txBox="1"/>
          <p:nvPr/>
        </p:nvSpPr>
        <p:spPr>
          <a:xfrm>
            <a:off x="914400" y="5257800"/>
            <a:ext cx="7315200" cy="830997"/>
          </a:xfrm>
          <a:prstGeom prst="rect">
            <a:avLst/>
          </a:prstGeom>
          <a:ln>
            <a:solidFill>
              <a:srgbClr val="0033CC"/>
            </a:solidFill>
          </a:ln>
        </p:spPr>
        <p:txBody>
          <a:bodyPr wrap="square" rtlCol="0">
            <a:spAutoFit/>
          </a:bodyPr>
          <a:lstStyle/>
          <a:p>
            <a:r>
              <a:rPr lang="en-US" sz="1600" dirty="0">
                <a:solidFill>
                  <a:srgbClr val="3399FF">
                    <a:alpha val="85000"/>
                  </a:srgbClr>
                </a:solidFill>
              </a:rPr>
              <a:t>Debby Szeredy                      Mark Dimondstein            Elizabeth “Liz” Powell</a:t>
            </a:r>
          </a:p>
          <a:p>
            <a:r>
              <a:rPr lang="en-US" sz="1600" dirty="0">
                <a:solidFill>
                  <a:srgbClr val="3399FF">
                    <a:alpha val="85000"/>
                  </a:srgbClr>
                </a:solidFill>
              </a:rPr>
              <a:t>   Executive                                 President                   Secretary-Treasurer</a:t>
            </a:r>
          </a:p>
          <a:p>
            <a:r>
              <a:rPr lang="en-US" sz="1600" dirty="0">
                <a:solidFill>
                  <a:srgbClr val="3399FF">
                    <a:alpha val="85000"/>
                  </a:srgbClr>
                </a:solidFill>
              </a:rPr>
              <a:t>Vice-President</a:t>
            </a:r>
          </a:p>
        </p:txBody>
      </p:sp>
    </p:spTree>
    <p:extLst>
      <p:ext uri="{BB962C8B-B14F-4D97-AF65-F5344CB8AC3E}">
        <p14:creationId xmlns:p14="http://schemas.microsoft.com/office/powerpoint/2010/main" val="2541724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3514" y="5181600"/>
            <a:ext cx="7859486" cy="914400"/>
          </a:xfrm>
        </p:spPr>
        <p:txBody>
          <a:bodyPr>
            <a:normAutofit fontScale="77500" lnSpcReduction="20000"/>
          </a:bodyPr>
          <a:lstStyle/>
          <a:p>
            <a:pPr algn="ctr">
              <a:buNone/>
            </a:pPr>
            <a:endParaRPr lang="en-US" sz="1500" dirty="0">
              <a:solidFill>
                <a:srgbClr val="00B0F0"/>
              </a:solidFill>
            </a:endParaRPr>
          </a:p>
          <a:p>
            <a:pPr algn="ctr">
              <a:buNone/>
            </a:pPr>
            <a:endParaRPr lang="en-US" sz="1500" dirty="0">
              <a:solidFill>
                <a:srgbClr val="00B0F0"/>
              </a:solidFill>
            </a:endParaRPr>
          </a:p>
          <a:p>
            <a:pPr algn="ctr">
              <a:buNone/>
            </a:pPr>
            <a:r>
              <a:rPr lang="en-US" sz="2800" b="1" dirty="0">
                <a:solidFill>
                  <a:srgbClr val="FF6699"/>
                </a:solidFill>
                <a:effectLst>
                  <a:outerShdw blurRad="38100" dist="38100" dir="2700000" algn="tl">
                    <a:srgbClr val="000000">
                      <a:alpha val="43137"/>
                    </a:srgbClr>
                  </a:outerShdw>
                </a:effectLst>
              </a:rPr>
              <a:t>Joyce B. Robinson, Director</a:t>
            </a:r>
          </a:p>
          <a:p>
            <a:pPr algn="ctr">
              <a:buNone/>
            </a:pPr>
            <a:endParaRPr lang="en-US" sz="2800" dirty="0">
              <a:solidFill>
                <a:srgbClr val="00B0F0"/>
              </a:solidFill>
            </a:endParaRPr>
          </a:p>
        </p:txBody>
      </p:sp>
      <p:sp>
        <p:nvSpPr>
          <p:cNvPr id="4" name="Rectangle 3"/>
          <p:cNvSpPr/>
          <p:nvPr/>
        </p:nvSpPr>
        <p:spPr>
          <a:xfrm>
            <a:off x="522514" y="304800"/>
            <a:ext cx="7859486" cy="2531462"/>
          </a:xfrm>
          <a:prstGeom prst="rect">
            <a:avLst/>
          </a:prstGeom>
          <a:noFill/>
        </p:spPr>
        <p:txBody>
          <a:bodyPr wrap="square" lIns="68580" tIns="34290" rIns="68580" bIns="3429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eaLnBrk="1" hangingPunct="1">
              <a:buFont typeface="Wingdings" pitchFamily="2" charset="2"/>
              <a:buNone/>
            </a:pPr>
            <a:r>
              <a:rPr lang="en-US" sz="4000" b="1" dirty="0">
                <a:solidFill>
                  <a:srgbClr val="FF6699"/>
                </a:solidFill>
                <a:effectLst>
                  <a:outerShdw blurRad="38100" dist="38100" dir="2700000" algn="tl">
                    <a:srgbClr val="000000">
                      <a:alpha val="43137"/>
                    </a:srgbClr>
                  </a:outerShdw>
                </a:effectLst>
              </a:rPr>
              <a:t>SPONSORED BY </a:t>
            </a:r>
          </a:p>
          <a:p>
            <a:pPr algn="ctr" eaLnBrk="1" hangingPunct="1">
              <a:buFont typeface="Wingdings" pitchFamily="2" charset="2"/>
              <a:buNone/>
            </a:pPr>
            <a:r>
              <a:rPr lang="en-US" sz="4000" b="1" dirty="0">
                <a:solidFill>
                  <a:srgbClr val="FF6699"/>
                </a:solidFill>
                <a:effectLst>
                  <a:outerShdw blurRad="38100" dist="38100" dir="2700000" algn="tl">
                    <a:srgbClr val="000000">
                      <a:alpha val="43137"/>
                    </a:srgbClr>
                  </a:outerShdw>
                </a:effectLst>
              </a:rPr>
              <a:t>THE APWU, AFL-CIO </a:t>
            </a:r>
          </a:p>
          <a:p>
            <a:pPr algn="ctr" eaLnBrk="1" hangingPunct="1">
              <a:buFont typeface="Wingdings" pitchFamily="2" charset="2"/>
              <a:buNone/>
            </a:pPr>
            <a:r>
              <a:rPr lang="en-US" sz="4000" b="1" dirty="0">
                <a:solidFill>
                  <a:srgbClr val="FF6699"/>
                </a:solidFill>
                <a:effectLst>
                  <a:outerShdw blurRad="38100" dist="38100" dir="2700000" algn="tl">
                    <a:srgbClr val="000000">
                      <a:alpha val="43137"/>
                    </a:srgbClr>
                  </a:outerShdw>
                </a:effectLst>
              </a:rPr>
              <a:t>RESEARCH AND EDUCATION DEPARTMENT</a:t>
            </a:r>
          </a:p>
        </p:txBody>
      </p:sp>
      <p:pic>
        <p:nvPicPr>
          <p:cNvPr id="7" name="Picture 6" descr="A person smiling for the camera&#10;&#10;Description automatically generated">
            <a:extLst>
              <a:ext uri="{FF2B5EF4-FFF2-40B4-BE49-F238E27FC236}">
                <a16:creationId xmlns:a16="http://schemas.microsoft.com/office/drawing/2014/main" id="{37C5C6D7-9B10-4276-A2A3-CEBB91E2C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3200400"/>
            <a:ext cx="1828800" cy="2133600"/>
          </a:xfrm>
          <a:prstGeom prst="rect">
            <a:avLst/>
          </a:prstGeom>
        </p:spPr>
      </p:pic>
    </p:spTree>
    <p:extLst>
      <p:ext uri="{BB962C8B-B14F-4D97-AF65-F5344CB8AC3E}">
        <p14:creationId xmlns:p14="http://schemas.microsoft.com/office/powerpoint/2010/main" val="2756097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B61-7024-4325-BC10-932572382273}"/>
              </a:ext>
            </a:extLst>
          </p:cNvPr>
          <p:cNvSpPr>
            <a:spLocks noGrp="1"/>
          </p:cNvSpPr>
          <p:nvPr>
            <p:ph type="title"/>
          </p:nvPr>
        </p:nvSpPr>
        <p:spPr>
          <a:xfrm>
            <a:off x="762000" y="457200"/>
            <a:ext cx="7162800" cy="990600"/>
          </a:xfrm>
        </p:spPr>
        <p:txBody>
          <a:bodyPr>
            <a:noAutofit/>
          </a:bodyPr>
          <a:lstStyle/>
          <a:p>
            <a:pPr algn="ctr"/>
            <a:r>
              <a:rPr lang="en-US" sz="4800" b="1" u="sng" dirty="0">
                <a:solidFill>
                  <a:srgbClr val="FF6699"/>
                </a:solidFill>
                <a:effectLst>
                  <a:outerShdw blurRad="38100" dist="38100" dir="2700000" algn="tl">
                    <a:srgbClr val="000000">
                      <a:alpha val="43137"/>
                    </a:srgbClr>
                  </a:outerShdw>
                </a:effectLst>
              </a:rPr>
              <a:t>ACKNOWLEDGEMENT</a:t>
            </a:r>
            <a:endParaRPr lang="en-US" sz="4800" dirty="0">
              <a:solidFill>
                <a:srgbClr val="FF6699"/>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59B88A7E-497E-455A-A39B-7E1C3286C25A}"/>
              </a:ext>
            </a:extLst>
          </p:cNvPr>
          <p:cNvSpPr>
            <a:spLocks noGrp="1"/>
          </p:cNvSpPr>
          <p:nvPr>
            <p:ph idx="1"/>
          </p:nvPr>
        </p:nvSpPr>
        <p:spPr>
          <a:xfrm>
            <a:off x="304800" y="1447800"/>
            <a:ext cx="8077200" cy="5105400"/>
          </a:xfrm>
        </p:spPr>
        <p:txBody>
          <a:bodyPr>
            <a:noAutofit/>
          </a:bodyPr>
          <a:lstStyle/>
          <a:p>
            <a:pPr marL="0" indent="0" algn="ctr">
              <a:buNone/>
            </a:pPr>
            <a:endParaRPr lang="en-US" sz="1600" b="1" dirty="0">
              <a:solidFill>
                <a:srgbClr val="0033CC"/>
              </a:solidFill>
              <a:ea typeface="Tahoma" panose="020B0604030504040204" pitchFamily="34" charset="0"/>
              <a:cs typeface="Tahoma" panose="020B0604030504040204" pitchFamily="34" charset="0"/>
            </a:endParaRP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SPECIAL THANKS TO:</a:t>
            </a:r>
          </a:p>
          <a:p>
            <a:pPr marL="0" indent="0" algn="ctr">
              <a:spcBef>
                <a:spcPts val="0"/>
              </a:spcBef>
              <a:buNone/>
            </a:pPr>
            <a:endParaRPr lang="en-US" sz="1400" b="1" dirty="0">
              <a:solidFill>
                <a:srgbClr val="0033CC"/>
              </a:solidFill>
              <a:ea typeface="Tahoma" panose="020B0604030504040204" pitchFamily="34" charset="0"/>
              <a:cs typeface="Tahoma" panose="020B0604030504040204" pitchFamily="34" charset="0"/>
            </a:endParaRP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Pat Davis-Weeks, Retired NBA,</a:t>
            </a: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Clerk Division </a:t>
            </a:r>
          </a:p>
          <a:p>
            <a:pPr marL="0" indent="0" algn="ctr">
              <a:spcBef>
                <a:spcPts val="0"/>
              </a:spcBef>
              <a:buNone/>
            </a:pPr>
            <a:endParaRPr lang="en-US" sz="1400" b="1" dirty="0">
              <a:solidFill>
                <a:srgbClr val="0033CC"/>
              </a:solidFill>
              <a:ea typeface="Tahoma" panose="020B0604030504040204" pitchFamily="34" charset="0"/>
              <a:cs typeface="Tahoma" panose="020B0604030504040204" pitchFamily="34" charset="0"/>
            </a:endParaRP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and</a:t>
            </a:r>
          </a:p>
          <a:p>
            <a:pPr marL="0" indent="0" algn="ctr">
              <a:spcBef>
                <a:spcPts val="0"/>
              </a:spcBef>
              <a:buNone/>
            </a:pPr>
            <a:endParaRPr lang="en-US" sz="1400" b="1" dirty="0">
              <a:solidFill>
                <a:srgbClr val="0033CC"/>
              </a:solidFill>
              <a:ea typeface="Tahoma" panose="020B0604030504040204" pitchFamily="34" charset="0"/>
              <a:cs typeface="Tahoma" panose="020B0604030504040204" pitchFamily="34" charset="0"/>
            </a:endParaRP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Pam Richardson, NBA,  Clerk Division</a:t>
            </a: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Washington DC Region</a:t>
            </a:r>
          </a:p>
          <a:p>
            <a:pPr marL="0" indent="0" algn="ctr">
              <a:spcBef>
                <a:spcPts val="0"/>
              </a:spcBef>
              <a:buNone/>
            </a:pPr>
            <a:endParaRPr lang="en-US" sz="1400" b="1" dirty="0">
              <a:solidFill>
                <a:srgbClr val="0033CC"/>
              </a:solidFill>
              <a:ea typeface="Tahoma" panose="020B0604030504040204" pitchFamily="34" charset="0"/>
              <a:cs typeface="Tahoma" panose="020B0604030504040204" pitchFamily="34" charset="0"/>
            </a:endParaRP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For their assistance in the production of </a:t>
            </a:r>
          </a:p>
          <a:p>
            <a:pPr marL="0" indent="0" algn="ctr">
              <a:spcBef>
                <a:spcPts val="0"/>
              </a:spcBef>
              <a:buNone/>
            </a:pPr>
            <a:r>
              <a:rPr lang="en-US" sz="2800" b="1" dirty="0">
                <a:solidFill>
                  <a:srgbClr val="0033CC"/>
                </a:solidFill>
                <a:ea typeface="Tahoma" panose="020B0604030504040204" pitchFamily="34" charset="0"/>
                <a:cs typeface="Tahoma" panose="020B0604030504040204" pitchFamily="34" charset="0"/>
              </a:rPr>
              <a:t>this PowerPoint Training Tool.</a:t>
            </a:r>
          </a:p>
        </p:txBody>
      </p:sp>
    </p:spTree>
    <p:extLst>
      <p:ext uri="{BB962C8B-B14F-4D97-AF65-F5344CB8AC3E}">
        <p14:creationId xmlns:p14="http://schemas.microsoft.com/office/powerpoint/2010/main" val="1847218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Rot="1" noChangeArrowheads="1"/>
          </p:cNvSpPr>
          <p:nvPr>
            <p:ph type="title"/>
          </p:nvPr>
        </p:nvSpPr>
        <p:spPr>
          <a:xfrm>
            <a:off x="457200" y="277813"/>
            <a:ext cx="8229600" cy="636587"/>
          </a:xfrm>
        </p:spPr>
        <p:txBody>
          <a:bodyPr>
            <a:normAutofit fontScale="90000"/>
          </a:bodyPr>
          <a:lstStyle/>
          <a:p>
            <a:pPr algn="ctr" eaLnBrk="1" hangingPunct="1"/>
            <a:r>
              <a:rPr lang="en-US" b="1" u="sng" dirty="0">
                <a:solidFill>
                  <a:srgbClr val="FF6699"/>
                </a:solidFill>
                <a:effectLst/>
                <a:latin typeface="Tahoma" charset="0"/>
              </a:rPr>
              <a:t>DUTIES OF THE SHOP STEWARD</a:t>
            </a:r>
            <a:br>
              <a:rPr lang="en-US" sz="4000" b="1" dirty="0">
                <a:solidFill>
                  <a:srgbClr val="FF6699"/>
                </a:solidFill>
                <a:effectLst/>
                <a:latin typeface="Tahoma" charset="0"/>
              </a:rPr>
            </a:br>
            <a:endParaRPr lang="en-US" sz="4000" b="1" dirty="0">
              <a:solidFill>
                <a:srgbClr val="FF6699"/>
              </a:solidFill>
              <a:effectLst/>
              <a:latin typeface="Tahoma" charset="0"/>
            </a:endParaRPr>
          </a:p>
        </p:txBody>
      </p:sp>
      <p:sp>
        <p:nvSpPr>
          <p:cNvPr id="3075" name="Rectangle 5"/>
          <p:cNvSpPr>
            <a:spLocks noGrp="1" noRot="1" noChangeArrowheads="1"/>
          </p:cNvSpPr>
          <p:nvPr>
            <p:ph idx="1"/>
          </p:nvPr>
        </p:nvSpPr>
        <p:spPr>
          <a:xfrm>
            <a:off x="381000" y="1066800"/>
            <a:ext cx="7848600" cy="5513387"/>
          </a:xfrm>
        </p:spPr>
        <p:txBody>
          <a:bodyPr>
            <a:normAutofit/>
          </a:bodyPr>
          <a:lstStyle/>
          <a:p>
            <a:pPr marL="0" lvl="1" indent="0">
              <a:lnSpc>
                <a:spcPct val="95000"/>
              </a:lnSpc>
              <a:spcBef>
                <a:spcPts val="0"/>
              </a:spcBef>
              <a:buSzPct val="100000"/>
              <a:buNone/>
            </a:pPr>
            <a:r>
              <a:rPr lang="en-US" sz="2400" b="1" dirty="0">
                <a:effectLst/>
                <a:latin typeface="Times New Roman" panose="02020603050405020304" pitchFamily="18" charset="0"/>
                <a:cs typeface="Times New Roman" panose="02020603050405020304" pitchFamily="18" charset="0"/>
              </a:rPr>
              <a:t>The steward’s primary duty is to understand and enforce the contract. The shop steward serves as:</a:t>
            </a:r>
          </a:p>
          <a:p>
            <a:pPr marL="0" lvl="1" indent="0">
              <a:lnSpc>
                <a:spcPct val="95000"/>
              </a:lnSpc>
              <a:spcBef>
                <a:spcPts val="0"/>
              </a:spcBef>
              <a:buSzPct val="100000"/>
              <a:buNone/>
            </a:pPr>
            <a:r>
              <a:rPr lang="en-US" sz="1900" b="1" dirty="0">
                <a:effectLst/>
                <a:latin typeface="Times New Roman" panose="02020603050405020304" pitchFamily="18" charset="0"/>
                <a:cs typeface="Times New Roman" panose="02020603050405020304" pitchFamily="18" charset="0"/>
              </a:rPr>
              <a:t>  </a:t>
            </a:r>
          </a:p>
          <a:p>
            <a:pPr marL="0" lvl="1" indent="-457200">
              <a:lnSpc>
                <a:spcPct val="95000"/>
              </a:lnSpc>
              <a:spcBef>
                <a:spcPts val="0"/>
              </a:spcBef>
              <a:buSzPct val="100000"/>
              <a:buFont typeface="Wingdings" panose="05000000000000000000" pitchFamily="2" charset="2"/>
              <a:buChar char="Ø"/>
            </a:pPr>
            <a:r>
              <a:rPr lang="en-US" sz="2300" b="1" u="sng" dirty="0">
                <a:effectLst/>
                <a:latin typeface="Times New Roman" panose="02020603050405020304" pitchFamily="18" charset="0"/>
                <a:cs typeface="Times New Roman" panose="02020603050405020304" pitchFamily="18" charset="0"/>
              </a:rPr>
              <a:t>Enforcer</a:t>
            </a:r>
            <a:r>
              <a:rPr lang="en-US" sz="2300" b="1" dirty="0">
                <a:effectLst/>
                <a:latin typeface="Times New Roman" panose="02020603050405020304" pitchFamily="18" charset="0"/>
                <a:cs typeface="Times New Roman" panose="02020603050405020304" pitchFamily="18" charset="0"/>
              </a:rPr>
              <a:t> - Ensure that the CBA is implemented and that 	Management follows its intent.</a:t>
            </a:r>
          </a:p>
          <a:p>
            <a:pPr marL="0" lvl="1" indent="-457200">
              <a:lnSpc>
                <a:spcPct val="95000"/>
              </a:lnSpc>
              <a:spcBef>
                <a:spcPts val="0"/>
              </a:spcBef>
              <a:buSzPct val="100000"/>
              <a:buNone/>
            </a:pPr>
            <a:endParaRPr lang="en-US" sz="1800" b="1" dirty="0">
              <a:effectLst/>
              <a:latin typeface="Times New Roman" panose="02020603050405020304" pitchFamily="18" charset="0"/>
              <a:cs typeface="Times New Roman" panose="02020603050405020304" pitchFamily="18" charset="0"/>
            </a:endParaRPr>
          </a:p>
          <a:p>
            <a:pPr marL="0" lvl="1" indent="-457200">
              <a:lnSpc>
                <a:spcPct val="95000"/>
              </a:lnSpc>
              <a:spcBef>
                <a:spcPts val="0"/>
              </a:spcBef>
              <a:buSzPct val="100000"/>
              <a:buFont typeface="Wingdings" panose="05000000000000000000" pitchFamily="2" charset="2"/>
              <a:buChar char="Ø"/>
            </a:pPr>
            <a:r>
              <a:rPr lang="en-US" sz="2300" b="1" u="sng" dirty="0">
                <a:effectLst/>
                <a:latin typeface="Times New Roman" panose="02020603050405020304" pitchFamily="18" charset="0"/>
                <a:cs typeface="Times New Roman" panose="02020603050405020304" pitchFamily="18" charset="0"/>
              </a:rPr>
              <a:t>Liaison</a:t>
            </a:r>
            <a:r>
              <a:rPr lang="en-US" sz="2300" b="1" dirty="0">
                <a:effectLst/>
                <a:latin typeface="Times New Roman" panose="02020603050405020304" pitchFamily="18" charset="0"/>
                <a:cs typeface="Times New Roman" panose="02020603050405020304" pitchFamily="18" charset="0"/>
              </a:rPr>
              <a:t> - Between the Union officers, the Management 	officials, and the membership for the purpose of handling 	problems and resolving grievances.</a:t>
            </a:r>
          </a:p>
          <a:p>
            <a:pPr marL="0" lvl="1" indent="-457200">
              <a:lnSpc>
                <a:spcPct val="95000"/>
              </a:lnSpc>
              <a:spcBef>
                <a:spcPts val="0"/>
              </a:spcBef>
              <a:buSzPct val="100000"/>
              <a:buNone/>
            </a:pPr>
            <a:endParaRPr lang="en-US" sz="1800" b="1" dirty="0">
              <a:effectLst/>
              <a:latin typeface="Times New Roman" panose="02020603050405020304" pitchFamily="18" charset="0"/>
              <a:cs typeface="Times New Roman" panose="02020603050405020304" pitchFamily="18" charset="0"/>
            </a:endParaRPr>
          </a:p>
          <a:p>
            <a:pPr marL="0" lvl="1" indent="-457200">
              <a:lnSpc>
                <a:spcPct val="95000"/>
              </a:lnSpc>
              <a:spcBef>
                <a:spcPts val="0"/>
              </a:spcBef>
              <a:buSzPct val="100000"/>
              <a:buFont typeface="Wingdings" panose="05000000000000000000" pitchFamily="2" charset="2"/>
              <a:buChar char="Ø"/>
            </a:pPr>
            <a:r>
              <a:rPr lang="en-US" sz="2300" b="1" u="sng" dirty="0">
                <a:effectLst/>
                <a:latin typeface="Times New Roman" panose="02020603050405020304" pitchFamily="18" charset="0"/>
                <a:cs typeface="Times New Roman" panose="02020603050405020304" pitchFamily="18" charset="0"/>
              </a:rPr>
              <a:t>Confidant</a:t>
            </a:r>
            <a:r>
              <a:rPr lang="en-US" sz="2300" b="1" dirty="0">
                <a:effectLst/>
                <a:latin typeface="Times New Roman" panose="02020603050405020304" pitchFamily="18" charset="0"/>
                <a:cs typeface="Times New Roman" panose="02020603050405020304" pitchFamily="18" charset="0"/>
              </a:rPr>
              <a:t> - Handles grievances in a professional manner 	and assure that information obtained during a grievance 	investigation is held in the strictest of confidence.</a:t>
            </a:r>
          </a:p>
          <a:p>
            <a:pPr marL="0" lvl="1" indent="-457200">
              <a:lnSpc>
                <a:spcPct val="95000"/>
              </a:lnSpc>
              <a:spcBef>
                <a:spcPts val="0"/>
              </a:spcBef>
              <a:buSzPct val="100000"/>
              <a:buFont typeface="Wingdings" panose="05000000000000000000" pitchFamily="2" charset="2"/>
              <a:buChar char="Ø"/>
            </a:pPr>
            <a:endParaRPr lang="en-US" sz="1800" b="1" dirty="0">
              <a:effectLst/>
              <a:latin typeface="Times New Roman" panose="02020603050405020304" pitchFamily="18" charset="0"/>
              <a:cs typeface="Times New Roman" panose="02020603050405020304" pitchFamily="18" charset="0"/>
            </a:endParaRPr>
          </a:p>
          <a:p>
            <a:pPr marL="0" lvl="1" indent="-457200">
              <a:lnSpc>
                <a:spcPct val="95000"/>
              </a:lnSpc>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Leader</a:t>
            </a:r>
            <a:r>
              <a:rPr lang="en-US" sz="2300" b="1" dirty="0">
                <a:latin typeface="Times New Roman" panose="02020603050405020304" pitchFamily="18" charset="0"/>
                <a:cs typeface="Times New Roman" panose="02020603050405020304" pitchFamily="18" charset="0"/>
              </a:rPr>
              <a:t> - Serves as role models and develop credibility 	among the membership to encourage participation in 	APWU programs.</a:t>
            </a:r>
          </a:p>
          <a:p>
            <a:pPr marL="457200" lvl="1" indent="-457200">
              <a:lnSpc>
                <a:spcPct val="95000"/>
              </a:lnSpc>
              <a:spcBef>
                <a:spcPts val="0"/>
              </a:spcBef>
              <a:buSzPct val="100000"/>
              <a:buFont typeface="Wingdings" panose="05000000000000000000" pitchFamily="2" charset="2"/>
              <a:buChar char="Ø"/>
            </a:pPr>
            <a:endParaRPr lang="en-US" sz="1900" b="1" dirty="0">
              <a:effectLst/>
              <a:latin typeface="Times New Roman" panose="02020603050405020304" pitchFamily="18" charset="0"/>
              <a:cs typeface="Times New Roman" panose="02020603050405020304" pitchFamily="18" charset="0"/>
            </a:endParaRPr>
          </a:p>
          <a:p>
            <a:pPr marL="457200" lvl="1" indent="-457200">
              <a:spcBef>
                <a:spcPts val="0"/>
              </a:spcBef>
              <a:buSzPct val="100000"/>
              <a:buFont typeface="Wingdings" panose="05000000000000000000" pitchFamily="2" charset="2"/>
              <a:buChar char="Ø"/>
            </a:pPr>
            <a:endParaRPr lang="en-US" sz="23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67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E1B-6595-4A9A-9DF9-70659D4AC9D6}"/>
              </a:ext>
            </a:extLst>
          </p:cNvPr>
          <p:cNvSpPr>
            <a:spLocks noGrp="1"/>
          </p:cNvSpPr>
          <p:nvPr>
            <p:ph type="title"/>
          </p:nvPr>
        </p:nvSpPr>
        <p:spPr>
          <a:xfrm>
            <a:off x="609599" y="304800"/>
            <a:ext cx="8001001" cy="914400"/>
          </a:xfrm>
        </p:spPr>
        <p:txBody>
          <a:bodyPr>
            <a:normAutofit fontScale="90000"/>
          </a:bodyPr>
          <a:lstStyle/>
          <a:p>
            <a:pPr algn="ctr"/>
            <a:r>
              <a:rPr lang="en-US" sz="3200" b="1" u="sng" dirty="0">
                <a:solidFill>
                  <a:srgbClr val="FF6699"/>
                </a:solidFill>
                <a:effectLst/>
                <a:latin typeface="Tahoma" charset="0"/>
              </a:rPr>
              <a:t>DUTIES OF THE SHOP STEWARD CONT’D</a:t>
            </a:r>
            <a:endParaRPr lang="en-US" sz="3200" dirty="0"/>
          </a:p>
        </p:txBody>
      </p:sp>
      <p:sp>
        <p:nvSpPr>
          <p:cNvPr id="3" name="Content Placeholder 2">
            <a:extLst>
              <a:ext uri="{FF2B5EF4-FFF2-40B4-BE49-F238E27FC236}">
                <a16:creationId xmlns:a16="http://schemas.microsoft.com/office/drawing/2014/main" id="{4363B960-DA21-4D84-9E8E-7AEC50111D2F}"/>
              </a:ext>
            </a:extLst>
          </p:cNvPr>
          <p:cNvSpPr>
            <a:spLocks noGrp="1"/>
          </p:cNvSpPr>
          <p:nvPr>
            <p:ph idx="1"/>
          </p:nvPr>
        </p:nvSpPr>
        <p:spPr>
          <a:xfrm>
            <a:off x="609598" y="990600"/>
            <a:ext cx="7848601" cy="5181600"/>
          </a:xfrm>
        </p:spPr>
        <p:txBody>
          <a:bodyPr>
            <a:noAutofit/>
          </a:bodyPr>
          <a:lstStyle/>
          <a:p>
            <a:pPr marL="0" indent="-457200">
              <a:lnSpc>
                <a:spcPct val="95000"/>
              </a:lnSpc>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Educator</a:t>
            </a:r>
            <a:r>
              <a:rPr lang="en-US" sz="2300" b="1" dirty="0">
                <a:latin typeface="Times New Roman" panose="02020603050405020304" pitchFamily="18" charset="0"/>
                <a:cs typeface="Times New Roman" panose="02020603050405020304" pitchFamily="18" charset="0"/>
              </a:rPr>
              <a:t> - Know the Collective Bargaining Agreement, 	(CBA) and Joint Contract Interpretation Manual, 	(JCIM) and keep abreast of the changes in the various 	handbooks and manuals.</a:t>
            </a:r>
          </a:p>
          <a:p>
            <a:pPr marL="0" indent="-457200">
              <a:lnSpc>
                <a:spcPct val="95000"/>
              </a:lnSpc>
              <a:spcBef>
                <a:spcPts val="0"/>
              </a:spcBef>
              <a:buNone/>
            </a:pPr>
            <a:endParaRPr lang="en-US" b="1" u="sng" dirty="0">
              <a:latin typeface="Times New Roman" panose="02020603050405020304" pitchFamily="18" charset="0"/>
              <a:cs typeface="Times New Roman" panose="02020603050405020304" pitchFamily="18" charset="0"/>
            </a:endParaRPr>
          </a:p>
          <a:p>
            <a:pPr marL="0" indent="-457200">
              <a:lnSpc>
                <a:spcPct val="95000"/>
              </a:lnSpc>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Communicator</a:t>
            </a:r>
            <a:r>
              <a:rPr lang="en-US" sz="2300" b="1" dirty="0">
                <a:latin typeface="Times New Roman" panose="02020603050405020304" pitchFamily="18" charset="0"/>
                <a:cs typeface="Times New Roman" panose="02020603050405020304" pitchFamily="18" charset="0"/>
              </a:rPr>
              <a:t> - Notify the member of available 	resources and of upcoming Union meetings, events, 	educational conferences and seminars.</a:t>
            </a:r>
          </a:p>
          <a:p>
            <a:pPr marL="0" indent="-457200">
              <a:lnSpc>
                <a:spcPct val="95000"/>
              </a:lnSpc>
              <a:spcBef>
                <a:spcPts val="0"/>
              </a:spcBef>
              <a:buNone/>
            </a:pPr>
            <a:endParaRPr lang="en-US" b="1" u="sng" dirty="0">
              <a:latin typeface="Times New Roman" panose="02020603050405020304" pitchFamily="18" charset="0"/>
              <a:cs typeface="Times New Roman" panose="02020603050405020304" pitchFamily="18" charset="0"/>
            </a:endParaRPr>
          </a:p>
          <a:p>
            <a:pPr marL="0" indent="-457200">
              <a:lnSpc>
                <a:spcPct val="95000"/>
              </a:lnSpc>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Organizer</a:t>
            </a:r>
            <a:r>
              <a:rPr lang="en-US" sz="2300" b="1" dirty="0">
                <a:latin typeface="Times New Roman" panose="02020603050405020304" pitchFamily="18" charset="0"/>
                <a:cs typeface="Times New Roman" panose="02020603050405020304" pitchFamily="18" charset="0"/>
              </a:rPr>
              <a:t> - Assist with membership drives and be 	familiar with internal and external organizing policies.</a:t>
            </a:r>
          </a:p>
          <a:p>
            <a:pPr marL="0" indent="-457200">
              <a:lnSpc>
                <a:spcPct val="95000"/>
              </a:lnSpc>
              <a:spcBef>
                <a:spcPts val="0"/>
              </a:spcBef>
              <a:buNone/>
            </a:pPr>
            <a:endParaRPr lang="en-US" b="1" u="sng" dirty="0">
              <a:latin typeface="Times New Roman" panose="02020603050405020304" pitchFamily="18" charset="0"/>
              <a:cs typeface="Times New Roman" panose="02020603050405020304" pitchFamily="18" charset="0"/>
            </a:endParaRPr>
          </a:p>
          <a:p>
            <a:pPr marL="0" indent="-457200">
              <a:lnSpc>
                <a:spcPct val="95000"/>
              </a:lnSpc>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Political Activist</a:t>
            </a:r>
            <a:r>
              <a:rPr lang="en-US" sz="2300" b="1" dirty="0">
                <a:latin typeface="Times New Roman" panose="02020603050405020304" pitchFamily="18" charset="0"/>
                <a:cs typeface="Times New Roman" panose="02020603050405020304" pitchFamily="18" charset="0"/>
              </a:rPr>
              <a:t> - Work closely with the APWU’s 	Legislative Department, Auxiliary, and Central Labor 	Councils to notify members of pending legislation which 	will affect postal jobs and benefits.</a:t>
            </a:r>
          </a:p>
          <a:p>
            <a:pPr marL="0" indent="0">
              <a:buNone/>
            </a:pPr>
            <a:endParaRPr lang="en-US" sz="23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222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90A0-19FA-44D9-8881-6BDDA319D11B}"/>
              </a:ext>
            </a:extLst>
          </p:cNvPr>
          <p:cNvSpPr>
            <a:spLocks noGrp="1"/>
          </p:cNvSpPr>
          <p:nvPr>
            <p:ph type="title"/>
          </p:nvPr>
        </p:nvSpPr>
        <p:spPr>
          <a:xfrm>
            <a:off x="598713" y="76200"/>
            <a:ext cx="7783287" cy="1219200"/>
          </a:xfrm>
        </p:spPr>
        <p:txBody>
          <a:bodyPr>
            <a:normAutofit/>
          </a:bodyPr>
          <a:lstStyle/>
          <a:p>
            <a:pPr algn="ctr"/>
            <a:r>
              <a:rPr lang="en-US" sz="3200" b="1" u="sng" dirty="0">
                <a:solidFill>
                  <a:srgbClr val="FF6699"/>
                </a:solidFill>
                <a:effectLst/>
                <a:latin typeface="Tahoma" charset="0"/>
              </a:rPr>
              <a:t>VIOLATING THE DUTY OF FAIR REPRESENTATION</a:t>
            </a:r>
            <a:endParaRPr lang="en-US" sz="3200" dirty="0"/>
          </a:p>
        </p:txBody>
      </p:sp>
      <p:sp>
        <p:nvSpPr>
          <p:cNvPr id="3" name="Content Placeholder 2">
            <a:extLst>
              <a:ext uri="{FF2B5EF4-FFF2-40B4-BE49-F238E27FC236}">
                <a16:creationId xmlns:a16="http://schemas.microsoft.com/office/drawing/2014/main" id="{D9B78D27-6F54-4062-BB5D-7573CCDA0C8D}"/>
              </a:ext>
            </a:extLst>
          </p:cNvPr>
          <p:cNvSpPr>
            <a:spLocks noGrp="1"/>
          </p:cNvSpPr>
          <p:nvPr>
            <p:ph idx="1"/>
          </p:nvPr>
        </p:nvSpPr>
        <p:spPr>
          <a:xfrm>
            <a:off x="457200" y="1295400"/>
            <a:ext cx="8088087" cy="5257799"/>
          </a:xfrm>
        </p:spPr>
        <p:txBody>
          <a:bodyPr>
            <a:normAutofit/>
          </a:bodyPr>
          <a:lstStyle/>
          <a:p>
            <a:pPr marL="0" indent="-457200">
              <a:spcBef>
                <a:spcPts val="0"/>
              </a:spcBef>
              <a:buNone/>
            </a:pPr>
            <a:r>
              <a:rPr lang="en-US" sz="2300" b="1" dirty="0">
                <a:latin typeface="Times New Roman" panose="02020603050405020304" pitchFamily="18" charset="0"/>
                <a:cs typeface="Times New Roman" panose="02020603050405020304" pitchFamily="18" charset="0"/>
              </a:rPr>
              <a:t>The Union is vested with the responsibility to represent all employees, </a:t>
            </a:r>
            <a:r>
              <a:rPr lang="en-US" sz="2300" b="1" u="sng" dirty="0">
                <a:latin typeface="Times New Roman" panose="02020603050405020304" pitchFamily="18" charset="0"/>
                <a:cs typeface="Times New Roman" panose="02020603050405020304" pitchFamily="18" charset="0"/>
              </a:rPr>
              <a:t>both members and non-members</a:t>
            </a:r>
            <a:r>
              <a:rPr lang="en-US" sz="2300" b="1" dirty="0">
                <a:latin typeface="Times New Roman" panose="02020603050405020304" pitchFamily="18" charset="0"/>
                <a:cs typeface="Times New Roman" panose="02020603050405020304" pitchFamily="18" charset="0"/>
              </a:rPr>
              <a:t> to the best of its ability. In handling grievance the steward </a:t>
            </a:r>
            <a:r>
              <a:rPr lang="en-US" sz="2300" b="1" u="sng" dirty="0">
                <a:latin typeface="Times New Roman" panose="02020603050405020304" pitchFamily="18" charset="0"/>
                <a:cs typeface="Times New Roman" panose="02020603050405020304" pitchFamily="18" charset="0"/>
              </a:rPr>
              <a:t>should not be</a:t>
            </a:r>
            <a:r>
              <a:rPr lang="en-US" sz="2300" b="1" dirty="0">
                <a:latin typeface="Times New Roman" panose="02020603050405020304" pitchFamily="18" charset="0"/>
                <a:cs typeface="Times New Roman" panose="02020603050405020304" pitchFamily="18" charset="0"/>
              </a:rPr>
              <a:t>:</a:t>
            </a:r>
          </a:p>
          <a:p>
            <a:pPr marL="0" indent="-457200">
              <a:spcBef>
                <a:spcPts val="0"/>
              </a:spcBef>
              <a:buNone/>
            </a:pPr>
            <a:endParaRPr lang="en-US" b="1" u="sng" dirty="0">
              <a:latin typeface="Times New Roman" panose="02020603050405020304" pitchFamily="18" charset="0"/>
              <a:cs typeface="Times New Roman" panose="02020603050405020304" pitchFamily="18" charset="0"/>
            </a:endParaRPr>
          </a:p>
          <a:p>
            <a:pPr marL="0" indent="-457200">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Arbitrary</a:t>
            </a:r>
            <a:r>
              <a:rPr lang="en-US" sz="2300" b="1" dirty="0">
                <a:latin typeface="Times New Roman" panose="02020603050405020304" pitchFamily="18" charset="0"/>
                <a:cs typeface="Times New Roman" panose="02020603050405020304" pitchFamily="18" charset="0"/>
              </a:rPr>
              <a:t> - The shop steward doesn’t have an explanation 	why he/she failed to appeal a particular grievance, when 	past practice shows that similar cases have been appealed 	by the same steward.</a:t>
            </a:r>
          </a:p>
          <a:p>
            <a:pPr marL="0" indent="-457200">
              <a:spcBef>
                <a:spcPts val="0"/>
              </a:spcBef>
              <a:buSzPct val="100000"/>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0" indent="-457200">
              <a:spcBef>
                <a:spcPts val="0"/>
              </a:spcBef>
              <a:buSzPct val="100000"/>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Capricious</a:t>
            </a:r>
            <a:r>
              <a:rPr lang="en-US" sz="2300" b="1" dirty="0">
                <a:latin typeface="Times New Roman" panose="02020603050405020304" pitchFamily="18" charset="0"/>
                <a:cs typeface="Times New Roman" panose="02020603050405020304" pitchFamily="18" charset="0"/>
              </a:rPr>
              <a:t> - The shop steward has a reason why he/she 	did not appeal the grievance, but the reason is not logical.</a:t>
            </a:r>
          </a:p>
          <a:p>
            <a:pPr marL="0" indent="-457200">
              <a:spcBef>
                <a:spcPts val="0"/>
              </a:spcBef>
              <a:buSzPct val="100000"/>
              <a:buFont typeface="Wingdings" panose="05000000000000000000" pitchFamily="2" charset="2"/>
              <a:buChar char="Ø"/>
            </a:pPr>
            <a:endParaRPr lang="en-US" sz="1200" b="1" dirty="0">
              <a:latin typeface="Times New Roman" panose="02020603050405020304" pitchFamily="18" charset="0"/>
              <a:cs typeface="Times New Roman" panose="02020603050405020304" pitchFamily="18" charset="0"/>
            </a:endParaRPr>
          </a:p>
          <a:p>
            <a:pPr marL="0" indent="-457200">
              <a:spcBef>
                <a:spcPts val="0"/>
              </a:spcBef>
              <a:buSzPct val="100000"/>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Example: The steward refuses to appeal some cases 	addressing bargaining unit work because he/she is tired of 	doing the same type of grievances all the time.</a:t>
            </a:r>
          </a:p>
          <a:p>
            <a:pPr marL="0" indent="-457200">
              <a:spcBef>
                <a:spcPts val="0"/>
              </a:spcBef>
              <a:buSzPct val="100000"/>
              <a:buFont typeface="Wingdings" panose="05000000000000000000" pitchFamily="2" charset="2"/>
              <a:buChar char="Ø"/>
            </a:pPr>
            <a:endParaRPr lang="en-US" sz="2300" b="1" dirty="0">
              <a:latin typeface="Times New Roman" panose="02020603050405020304" pitchFamily="18" charset="0"/>
              <a:cs typeface="Times New Roman" panose="02020603050405020304" pitchFamily="18" charset="0"/>
            </a:endParaRPr>
          </a:p>
          <a:p>
            <a:pPr marL="0" indent="-457200">
              <a:spcBef>
                <a:spcPts val="0"/>
              </a:spcBef>
              <a:buSzPct val="100000"/>
              <a:buFont typeface="Wingdings" panose="05000000000000000000" pitchFamily="2" charset="2"/>
              <a:buChar char="Ø"/>
            </a:pPr>
            <a:endParaRPr lang="en-US" sz="23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729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90A0-19FA-44D9-8881-6BDDA319D11B}"/>
              </a:ext>
            </a:extLst>
          </p:cNvPr>
          <p:cNvSpPr>
            <a:spLocks noGrp="1"/>
          </p:cNvSpPr>
          <p:nvPr>
            <p:ph type="title"/>
          </p:nvPr>
        </p:nvSpPr>
        <p:spPr>
          <a:xfrm>
            <a:off x="598713" y="152400"/>
            <a:ext cx="7783287" cy="914400"/>
          </a:xfrm>
        </p:spPr>
        <p:txBody>
          <a:bodyPr>
            <a:normAutofit fontScale="90000"/>
          </a:bodyPr>
          <a:lstStyle/>
          <a:p>
            <a:pPr algn="ctr"/>
            <a:r>
              <a:rPr lang="en-US" sz="3000" b="1" u="sng" dirty="0">
                <a:solidFill>
                  <a:srgbClr val="FF6699"/>
                </a:solidFill>
                <a:effectLst/>
                <a:latin typeface="Tahoma" charset="0"/>
              </a:rPr>
              <a:t>VIOLATING THE DUTY OF FAIR REPRESENTATION CONT’D</a:t>
            </a:r>
            <a:endParaRPr lang="en-US" sz="3000" dirty="0"/>
          </a:p>
        </p:txBody>
      </p:sp>
      <p:sp>
        <p:nvSpPr>
          <p:cNvPr id="3" name="Content Placeholder 2">
            <a:extLst>
              <a:ext uri="{FF2B5EF4-FFF2-40B4-BE49-F238E27FC236}">
                <a16:creationId xmlns:a16="http://schemas.microsoft.com/office/drawing/2014/main" id="{D9B78D27-6F54-4062-BB5D-7573CCDA0C8D}"/>
              </a:ext>
            </a:extLst>
          </p:cNvPr>
          <p:cNvSpPr>
            <a:spLocks noGrp="1"/>
          </p:cNvSpPr>
          <p:nvPr>
            <p:ph idx="1"/>
          </p:nvPr>
        </p:nvSpPr>
        <p:spPr>
          <a:xfrm>
            <a:off x="609599" y="1295401"/>
            <a:ext cx="7848601" cy="5181600"/>
          </a:xfrm>
        </p:spPr>
        <p:txBody>
          <a:bodyPr>
            <a:normAutofit fontScale="92500" lnSpcReduction="20000"/>
          </a:bodyPr>
          <a:lstStyle/>
          <a:p>
            <a:pPr marL="0" indent="-457200">
              <a:lnSpc>
                <a:spcPct val="115000"/>
              </a:lnSpc>
              <a:spcBef>
                <a:spcPts val="0"/>
              </a:spcBef>
              <a:buSzPct val="100000"/>
              <a:buFont typeface="Wingdings" panose="05000000000000000000" pitchFamily="2" charset="2"/>
              <a:buChar char="Ø"/>
            </a:pPr>
            <a:r>
              <a:rPr lang="en-US" sz="2500" b="1" u="sng" dirty="0">
                <a:latin typeface="Times New Roman" panose="02020603050405020304" pitchFamily="18" charset="0"/>
                <a:cs typeface="Times New Roman" panose="02020603050405020304" pitchFamily="18" charset="0"/>
              </a:rPr>
              <a:t>Perfunctory</a:t>
            </a:r>
            <a:r>
              <a:rPr lang="en-US" sz="2500" b="1" dirty="0">
                <a:latin typeface="Times New Roman" panose="02020603050405020304" pitchFamily="18" charset="0"/>
                <a:cs typeface="Times New Roman" panose="02020603050405020304" pitchFamily="18" charset="0"/>
              </a:rPr>
              <a:t> - The shop steward does not conduct a 	proper investigation before closing the case and puts 	forth little or no effort to determine the facts.</a:t>
            </a:r>
          </a:p>
          <a:p>
            <a:pPr marL="0" indent="-457200">
              <a:lnSpc>
                <a:spcPct val="115000"/>
              </a:lnSpc>
              <a:spcBef>
                <a:spcPts val="0"/>
              </a:spcBef>
              <a:buSzPct val="100000"/>
              <a:buFont typeface="Wingdings" panose="05000000000000000000" pitchFamily="2" charset="2"/>
              <a:buChar char="Ø"/>
            </a:pPr>
            <a:endParaRPr lang="en-US" sz="1300" b="1" dirty="0">
              <a:latin typeface="Times New Roman" panose="02020603050405020304" pitchFamily="18" charset="0"/>
              <a:cs typeface="Times New Roman" panose="02020603050405020304" pitchFamily="18" charset="0"/>
            </a:endParaRPr>
          </a:p>
          <a:p>
            <a:pPr marL="0" indent="-457200">
              <a:lnSpc>
                <a:spcPct val="115000"/>
              </a:lnSpc>
              <a:spcBef>
                <a:spcPts val="0"/>
              </a:spcBef>
              <a:buSzPct val="100000"/>
              <a:buFont typeface="Wingdings" panose="05000000000000000000" pitchFamily="2" charset="2"/>
              <a:buChar char="Ø"/>
            </a:pPr>
            <a:r>
              <a:rPr lang="en-US" sz="2500" b="1" dirty="0">
                <a:latin typeface="Times New Roman" panose="02020603050405020304" pitchFamily="18" charset="0"/>
                <a:cs typeface="Times New Roman" panose="02020603050405020304" pitchFamily="18" charset="0"/>
              </a:rPr>
              <a:t>Example: The grievant gives the shop steward a list of 	witnesses to interview. The steward has a heavy case load 	and does not follow-up with the interviews.</a:t>
            </a:r>
          </a:p>
          <a:p>
            <a:pPr marL="0" indent="-457200">
              <a:lnSpc>
                <a:spcPct val="115000"/>
              </a:lnSpc>
              <a:spcBef>
                <a:spcPts val="0"/>
              </a:spcBef>
              <a:buSzPct val="100000"/>
              <a:buFont typeface="Wingdings" panose="05000000000000000000" pitchFamily="2" charset="2"/>
              <a:buChar char="Ø"/>
            </a:pPr>
            <a:endParaRPr lang="en-US" sz="2100" b="1" dirty="0">
              <a:latin typeface="Times New Roman" panose="02020603050405020304" pitchFamily="18" charset="0"/>
              <a:cs typeface="Times New Roman" panose="02020603050405020304" pitchFamily="18" charset="0"/>
            </a:endParaRPr>
          </a:p>
          <a:p>
            <a:pPr marL="0" indent="-457200">
              <a:lnSpc>
                <a:spcPct val="115000"/>
              </a:lnSpc>
              <a:spcBef>
                <a:spcPts val="0"/>
              </a:spcBef>
              <a:buSzPct val="100000"/>
              <a:buFont typeface="Wingdings" panose="05000000000000000000" pitchFamily="2" charset="2"/>
              <a:buChar char="Ø"/>
            </a:pPr>
            <a:r>
              <a:rPr lang="en-US" sz="2500" b="1" u="sng" dirty="0">
                <a:latin typeface="Times New Roman" panose="02020603050405020304" pitchFamily="18" charset="0"/>
                <a:cs typeface="Times New Roman" panose="02020603050405020304" pitchFamily="18" charset="0"/>
              </a:rPr>
              <a:t>Bad Faith</a:t>
            </a:r>
            <a:r>
              <a:rPr lang="en-US" sz="2500" b="1" dirty="0">
                <a:latin typeface="Times New Roman" panose="02020603050405020304" pitchFamily="18" charset="0"/>
                <a:cs typeface="Times New Roman" panose="02020603050405020304" pitchFamily="18" charset="0"/>
              </a:rPr>
              <a:t> - The shop steward allows personal feelings, 	Union politics, or bias to interfere with the representation 	of the employee.</a:t>
            </a:r>
          </a:p>
          <a:p>
            <a:pPr marL="0" indent="-457200">
              <a:lnSpc>
                <a:spcPct val="115000"/>
              </a:lnSpc>
              <a:spcBef>
                <a:spcPts val="0"/>
              </a:spcBef>
              <a:buSzPct val="100000"/>
              <a:buFont typeface="Wingdings" panose="05000000000000000000" pitchFamily="2" charset="2"/>
              <a:buChar char="Ø"/>
            </a:pPr>
            <a:endParaRPr lang="en-US" sz="1300" b="1" dirty="0">
              <a:latin typeface="Times New Roman" panose="02020603050405020304" pitchFamily="18" charset="0"/>
              <a:cs typeface="Times New Roman" panose="02020603050405020304" pitchFamily="18" charset="0"/>
            </a:endParaRPr>
          </a:p>
          <a:p>
            <a:pPr marL="0" indent="-457200">
              <a:lnSpc>
                <a:spcPct val="115000"/>
              </a:lnSpc>
              <a:spcBef>
                <a:spcPts val="0"/>
              </a:spcBef>
              <a:buSzPct val="100000"/>
              <a:buFont typeface="Wingdings" panose="05000000000000000000" pitchFamily="2" charset="2"/>
              <a:buChar char="Ø"/>
            </a:pPr>
            <a:r>
              <a:rPr lang="en-US" sz="2500" b="1" dirty="0">
                <a:latin typeface="Times New Roman" panose="02020603050405020304" pitchFamily="18" charset="0"/>
                <a:cs typeface="Times New Roman" panose="02020603050405020304" pitchFamily="18" charset="0"/>
              </a:rPr>
              <a:t>Example: A national arbitration advocate withdraws a 	removal case prior to going to arbitration, and it was 	later discovered that the grievant had dated the 	advocate’s spouse or significant other.</a:t>
            </a:r>
          </a:p>
        </p:txBody>
      </p:sp>
    </p:spTree>
    <p:extLst>
      <p:ext uri="{BB962C8B-B14F-4D97-AF65-F5344CB8AC3E}">
        <p14:creationId xmlns:p14="http://schemas.microsoft.com/office/powerpoint/2010/main" val="1733917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Rot="1" noChangeArrowheads="1"/>
          </p:cNvSpPr>
          <p:nvPr>
            <p:ph type="title"/>
          </p:nvPr>
        </p:nvSpPr>
        <p:spPr>
          <a:xfrm>
            <a:off x="457200" y="277813"/>
            <a:ext cx="8229600" cy="636587"/>
          </a:xfrm>
        </p:spPr>
        <p:txBody>
          <a:bodyPr>
            <a:normAutofit fontScale="90000"/>
          </a:bodyPr>
          <a:lstStyle/>
          <a:p>
            <a:pPr algn="ctr" eaLnBrk="1" hangingPunct="1"/>
            <a:r>
              <a:rPr lang="en-US" b="1" u="sng" dirty="0">
                <a:solidFill>
                  <a:srgbClr val="FF6699"/>
                </a:solidFill>
                <a:effectLst/>
                <a:latin typeface="Tahoma" charset="0"/>
              </a:rPr>
              <a:t>ARTICLE 17 - REPRESENTATION </a:t>
            </a:r>
            <a:br>
              <a:rPr lang="en-US" sz="4000" b="1" dirty="0">
                <a:solidFill>
                  <a:srgbClr val="FF6699"/>
                </a:solidFill>
                <a:effectLst/>
                <a:latin typeface="Tahoma" charset="0"/>
              </a:rPr>
            </a:br>
            <a:endParaRPr lang="en-US" sz="4000" b="1" dirty="0">
              <a:solidFill>
                <a:srgbClr val="FF6699"/>
              </a:solidFill>
              <a:effectLst/>
              <a:latin typeface="Tahoma" charset="0"/>
            </a:endParaRPr>
          </a:p>
        </p:txBody>
      </p:sp>
      <p:sp>
        <p:nvSpPr>
          <p:cNvPr id="3075" name="Rectangle 5"/>
          <p:cNvSpPr>
            <a:spLocks noGrp="1" noRot="1" noChangeArrowheads="1"/>
          </p:cNvSpPr>
          <p:nvPr>
            <p:ph idx="1"/>
          </p:nvPr>
        </p:nvSpPr>
        <p:spPr>
          <a:xfrm>
            <a:off x="457200" y="1066800"/>
            <a:ext cx="7696200" cy="5513387"/>
          </a:xfrm>
        </p:spPr>
        <p:txBody>
          <a:bodyPr>
            <a:normAutofit fontScale="92500" lnSpcReduction="20000"/>
          </a:bodyPr>
          <a:lstStyle/>
          <a:p>
            <a:pPr marL="0" lvl="1" indent="0">
              <a:lnSpc>
                <a:spcPct val="110000"/>
              </a:lnSpc>
              <a:spcBef>
                <a:spcPts val="0"/>
              </a:spcBef>
              <a:buSzPct val="100000"/>
              <a:buNone/>
            </a:pPr>
            <a:r>
              <a:rPr lang="en-US" sz="2500" b="1" u="sng" dirty="0">
                <a:effectLst/>
                <a:latin typeface="Times New Roman" panose="02020603050405020304" pitchFamily="18" charset="0"/>
                <a:cs typeface="Times New Roman" panose="02020603050405020304" pitchFamily="18" charset="0"/>
              </a:rPr>
              <a:t>Article 17.1</a:t>
            </a:r>
            <a:r>
              <a:rPr lang="en-US" sz="2500" b="1" dirty="0">
                <a:effectLst/>
                <a:latin typeface="Times New Roman" panose="02020603050405020304" pitchFamily="18" charset="0"/>
                <a:cs typeface="Times New Roman" panose="02020603050405020304" pitchFamily="18" charset="0"/>
              </a:rPr>
              <a:t> of the Collective Bargaining Agreement (CBA) and of the Joint Contract Interpretation Manual (JCIM), provides for the designation of shop stewards for the purposes of investigating, presenting and adjusting grievances.</a:t>
            </a:r>
          </a:p>
          <a:p>
            <a:pPr marL="0" lvl="1" indent="0">
              <a:lnSpc>
                <a:spcPct val="110000"/>
              </a:lnSpc>
              <a:spcBef>
                <a:spcPts val="0"/>
              </a:spcBef>
              <a:buSzPct val="100000"/>
              <a:buNone/>
            </a:pPr>
            <a:endParaRPr lang="en-US" sz="2200" b="1" dirty="0">
              <a:effectLst/>
              <a:latin typeface="Times New Roman" panose="02020603050405020304" pitchFamily="18" charset="0"/>
              <a:cs typeface="Times New Roman" panose="02020603050405020304" pitchFamily="18" charset="0"/>
            </a:endParaRPr>
          </a:p>
          <a:p>
            <a:pPr marL="0" lvl="1" indent="-457200">
              <a:lnSpc>
                <a:spcPct val="110000"/>
              </a:lnSpc>
              <a:spcBef>
                <a:spcPts val="0"/>
              </a:spcBef>
              <a:buSzPct val="100000"/>
              <a:buFont typeface="Wingdings" panose="05000000000000000000" pitchFamily="2" charset="2"/>
              <a:buChar char="Ø"/>
            </a:pPr>
            <a:r>
              <a:rPr lang="en-US" sz="2500" b="1" dirty="0">
                <a:effectLst/>
                <a:latin typeface="Times New Roman" panose="02020603050405020304" pitchFamily="18" charset="0"/>
                <a:cs typeface="Times New Roman" panose="02020603050405020304" pitchFamily="18" charset="0"/>
              </a:rPr>
              <a:t>The local president must provide a list of all shop 	stewards</a:t>
            </a:r>
            <a:r>
              <a:rPr lang="en-US" sz="2500" b="1" dirty="0">
                <a:latin typeface="Times New Roman" panose="02020603050405020304" pitchFamily="18" charset="0"/>
                <a:cs typeface="Times New Roman" panose="02020603050405020304" pitchFamily="18" charset="0"/>
              </a:rPr>
              <a:t> and </a:t>
            </a:r>
            <a:r>
              <a:rPr lang="en-US" sz="2500" b="1" dirty="0">
                <a:effectLst/>
                <a:latin typeface="Times New Roman" panose="02020603050405020304" pitchFamily="18" charset="0"/>
                <a:cs typeface="Times New Roman" panose="02020603050405020304" pitchFamily="18" charset="0"/>
              </a:rPr>
              <a:t>alternates to the Installation Head in 	accordance with Article 17.2.A of the CBA.</a:t>
            </a:r>
          </a:p>
          <a:p>
            <a:pPr marL="0" lvl="1" indent="0">
              <a:lnSpc>
                <a:spcPct val="110000"/>
              </a:lnSpc>
              <a:spcBef>
                <a:spcPts val="0"/>
              </a:spcBef>
              <a:buSzPct val="100000"/>
              <a:buNone/>
            </a:pPr>
            <a:endParaRPr lang="en-US" sz="2200" b="1" dirty="0">
              <a:effectLst/>
              <a:latin typeface="Times New Roman" panose="02020603050405020304" pitchFamily="18" charset="0"/>
              <a:cs typeface="Times New Roman" panose="02020603050405020304" pitchFamily="18" charset="0"/>
            </a:endParaRPr>
          </a:p>
          <a:p>
            <a:pPr marL="0" lvl="1" indent="-457200">
              <a:lnSpc>
                <a:spcPct val="110000"/>
              </a:lnSpc>
              <a:spcBef>
                <a:spcPts val="0"/>
              </a:spcBef>
              <a:buSzPct val="100000"/>
              <a:buFont typeface="Wingdings" panose="05000000000000000000" pitchFamily="2" charset="2"/>
              <a:buChar char="Ø"/>
            </a:pPr>
            <a:r>
              <a:rPr lang="en-US" sz="2500" b="1" dirty="0">
                <a:effectLst/>
                <a:latin typeface="Times New Roman" panose="02020603050405020304" pitchFamily="18" charset="0"/>
                <a:cs typeface="Times New Roman" panose="02020603050405020304" pitchFamily="18" charset="0"/>
              </a:rPr>
              <a:t>All local officers who are actively employed and serve as 	shop stewards “must” be certified and included on the 	list. This includes the local president.</a:t>
            </a:r>
          </a:p>
          <a:p>
            <a:pPr marL="0" indent="-457200" eaLnBrk="1" hangingPunct="1">
              <a:lnSpc>
                <a:spcPct val="110000"/>
              </a:lnSpc>
              <a:spcBef>
                <a:spcPts val="0"/>
              </a:spcBef>
              <a:buFont typeface="Wingdings" pitchFamily="2" charset="2"/>
              <a:buNone/>
            </a:pPr>
            <a:r>
              <a:rPr lang="en-US" sz="2400" b="1" dirty="0">
                <a:effectLst/>
                <a:latin typeface="Times New Roman" panose="02020603050405020304" pitchFamily="18" charset="0"/>
                <a:cs typeface="Times New Roman" panose="02020603050405020304" pitchFamily="18" charset="0"/>
              </a:rPr>
              <a:t>  </a:t>
            </a:r>
          </a:p>
          <a:p>
            <a:pPr marL="0" indent="-457200" eaLnBrk="1" hangingPunct="1">
              <a:lnSpc>
                <a:spcPct val="110000"/>
              </a:lnSpc>
              <a:spcBef>
                <a:spcPts val="0"/>
              </a:spcBef>
              <a:buSzPct val="100000"/>
              <a:buFont typeface="Wingdings" panose="05000000000000000000" pitchFamily="2" charset="2"/>
              <a:buChar char="Ø"/>
            </a:pPr>
            <a:r>
              <a:rPr lang="en-US" sz="2500" b="1" dirty="0">
                <a:effectLst/>
                <a:latin typeface="Times New Roman" panose="02020603050405020304" pitchFamily="18" charset="0"/>
                <a:cs typeface="Times New Roman" panose="02020603050405020304" pitchFamily="18" charset="0"/>
              </a:rPr>
              <a:t>Management is required to cooperate with stewards </a:t>
            </a:r>
          </a:p>
          <a:p>
            <a:pPr marL="0" lvl="1" indent="0">
              <a:lnSpc>
                <a:spcPct val="110000"/>
              </a:lnSpc>
              <a:spcBef>
                <a:spcPts val="0"/>
              </a:spcBef>
              <a:buSzPct val="100000"/>
              <a:buNone/>
            </a:pPr>
            <a:r>
              <a:rPr lang="en-US" sz="2500" b="1" dirty="0">
                <a:latin typeface="Times New Roman" panose="02020603050405020304" pitchFamily="18" charset="0"/>
                <a:cs typeface="Times New Roman" panose="02020603050405020304" pitchFamily="18" charset="0"/>
              </a:rPr>
              <a:t>	</a:t>
            </a:r>
            <a:r>
              <a:rPr lang="en-US" sz="2500" b="1" dirty="0">
                <a:effectLst/>
                <a:latin typeface="Times New Roman" panose="02020603050405020304" pitchFamily="18" charset="0"/>
                <a:cs typeface="Times New Roman" panose="02020603050405020304" pitchFamily="18" charset="0"/>
              </a:rPr>
              <a:t>as they perform their grievance handling duties. (See 	EL-921) - Supervisors Guide to Handling Grievances).</a:t>
            </a:r>
            <a:endParaRPr lang="en-US" sz="2500" dirty="0">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Rot="1" noChangeArrowheads="1"/>
          </p:cNvSpPr>
          <p:nvPr>
            <p:ph type="title"/>
          </p:nvPr>
        </p:nvSpPr>
        <p:spPr>
          <a:xfrm>
            <a:off x="457200" y="277813"/>
            <a:ext cx="8229600" cy="636587"/>
          </a:xfrm>
        </p:spPr>
        <p:txBody>
          <a:bodyPr>
            <a:normAutofit fontScale="90000"/>
          </a:bodyPr>
          <a:lstStyle/>
          <a:p>
            <a:pPr algn="ctr" eaLnBrk="1" hangingPunct="1"/>
            <a:r>
              <a:rPr lang="en-US" b="1" u="sng" dirty="0">
                <a:solidFill>
                  <a:srgbClr val="FF6699"/>
                </a:solidFill>
                <a:effectLst/>
                <a:latin typeface="Tahoma" charset="0"/>
              </a:rPr>
              <a:t>ARTICLE 17 - REPRESENTATION </a:t>
            </a:r>
            <a:br>
              <a:rPr lang="en-US" sz="4000" b="1" dirty="0">
                <a:solidFill>
                  <a:srgbClr val="FF6699"/>
                </a:solidFill>
                <a:effectLst/>
                <a:latin typeface="Tahoma" charset="0"/>
              </a:rPr>
            </a:br>
            <a:endParaRPr lang="en-US" sz="4000" b="1" dirty="0">
              <a:solidFill>
                <a:srgbClr val="FF6699"/>
              </a:solidFill>
              <a:effectLst/>
              <a:latin typeface="Tahoma" charset="0"/>
            </a:endParaRPr>
          </a:p>
        </p:txBody>
      </p:sp>
      <p:sp>
        <p:nvSpPr>
          <p:cNvPr id="3075" name="Rectangle 5"/>
          <p:cNvSpPr>
            <a:spLocks noGrp="1" noRot="1" noChangeArrowheads="1"/>
          </p:cNvSpPr>
          <p:nvPr>
            <p:ph idx="1"/>
          </p:nvPr>
        </p:nvSpPr>
        <p:spPr>
          <a:xfrm>
            <a:off x="457200" y="1295400"/>
            <a:ext cx="7696200" cy="5284787"/>
          </a:xfrm>
        </p:spPr>
        <p:txBody>
          <a:bodyPr>
            <a:noAutofit/>
          </a:bodyPr>
          <a:lstStyle/>
          <a:p>
            <a:pPr marL="0" lvl="1" indent="-457200">
              <a:spcBef>
                <a:spcPts val="0"/>
              </a:spcBef>
              <a:buSzPct val="100000"/>
              <a:buFont typeface="Wingdings" panose="05000000000000000000" pitchFamily="2" charset="2"/>
              <a:buChar char="Ø"/>
            </a:pPr>
            <a:r>
              <a:rPr lang="en-US" sz="2400" b="1" dirty="0">
                <a:effectLst/>
                <a:latin typeface="Times New Roman" panose="02020603050405020304" pitchFamily="18" charset="0"/>
                <a:cs typeface="Times New Roman" panose="02020603050405020304" pitchFamily="18" charset="0"/>
              </a:rPr>
              <a:t>When it is necessary for a steward to leave his/her 	work area to investigate and adjust grievances or to 	investigate a specific problem to determine whether to 	file a grievance, the steward shall request permission 	from the immediate supervisor and </a:t>
            </a:r>
            <a:r>
              <a:rPr lang="en-US" sz="2400" b="1" u="sng" dirty="0">
                <a:effectLst/>
                <a:latin typeface="Times New Roman" panose="02020603050405020304" pitchFamily="18" charset="0"/>
                <a:cs typeface="Times New Roman" panose="02020603050405020304" pitchFamily="18" charset="0"/>
              </a:rPr>
              <a:t>such request shall </a:t>
            </a:r>
            <a:r>
              <a:rPr lang="en-US" sz="2400" b="1" dirty="0">
                <a:effectLst/>
                <a:latin typeface="Times New Roman" panose="02020603050405020304" pitchFamily="18" charset="0"/>
                <a:cs typeface="Times New Roman" panose="02020603050405020304" pitchFamily="18" charset="0"/>
              </a:rPr>
              <a:t>	</a:t>
            </a:r>
            <a:r>
              <a:rPr lang="en-US" sz="2400" b="1" u="sng" dirty="0">
                <a:effectLst/>
                <a:latin typeface="Times New Roman" panose="02020603050405020304" pitchFamily="18" charset="0"/>
                <a:cs typeface="Times New Roman" panose="02020603050405020304" pitchFamily="18" charset="0"/>
              </a:rPr>
              <a:t>not be unreasonably denied</a:t>
            </a:r>
            <a:r>
              <a:rPr lang="en-US" sz="2400" b="1" dirty="0">
                <a:effectLst/>
                <a:latin typeface="Times New Roman" panose="02020603050405020304" pitchFamily="18" charset="0"/>
                <a:cs typeface="Times New Roman" panose="02020603050405020304" pitchFamily="18" charset="0"/>
              </a:rPr>
              <a:t>.</a:t>
            </a:r>
          </a:p>
          <a:p>
            <a:pPr marL="0" lvl="1" indent="0">
              <a:spcBef>
                <a:spcPts val="0"/>
              </a:spcBef>
              <a:buSzPct val="100000"/>
              <a:buNone/>
            </a:pPr>
            <a:endParaRPr lang="en-US" sz="2400" b="1" dirty="0">
              <a:effectLst/>
              <a:latin typeface="Times New Roman" panose="02020603050405020304" pitchFamily="18" charset="0"/>
              <a:cs typeface="Times New Roman" panose="02020603050405020304" pitchFamily="18" charset="0"/>
            </a:endParaRPr>
          </a:p>
          <a:p>
            <a:pPr marL="0" lvl="1" indent="-457200">
              <a:spcBef>
                <a:spcPts val="0"/>
              </a:spcBef>
              <a:buSzPct val="100000"/>
              <a:buFont typeface="Wingdings" panose="05000000000000000000" pitchFamily="2" charset="2"/>
              <a:buChar char="Ø"/>
            </a:pPr>
            <a:r>
              <a:rPr lang="en-US" sz="2400" b="1" dirty="0">
                <a:effectLst/>
                <a:latin typeface="Times New Roman" panose="02020603050405020304" pitchFamily="18" charset="0"/>
                <a:cs typeface="Times New Roman" panose="02020603050405020304" pitchFamily="18" charset="0"/>
              </a:rPr>
              <a:t>In the event the duties require the steward leave the 	work area and enter another area within the 	installation or post office, the steward must also 	receive permission from the supervisor from</a:t>
            </a:r>
          </a:p>
          <a:p>
            <a:pPr marL="0" lvl="1" indent="0">
              <a:spcBef>
                <a:spcPts val="0"/>
              </a:spcBef>
              <a:buSzPct val="100000"/>
              <a:buNone/>
            </a:pPr>
            <a:r>
              <a:rPr lang="en-US" sz="2400" b="1" dirty="0">
                <a:effectLst/>
                <a:latin typeface="Times New Roman" panose="02020603050405020304" pitchFamily="18" charset="0"/>
                <a:cs typeface="Times New Roman" panose="02020603050405020304" pitchFamily="18" charset="0"/>
              </a:rPr>
              <a:t>	the other area he/she wishes to enter and </a:t>
            </a:r>
            <a:r>
              <a:rPr lang="en-US" sz="2400" b="1" u="sng" dirty="0">
                <a:effectLst/>
                <a:latin typeface="Times New Roman" panose="02020603050405020304" pitchFamily="18" charset="0"/>
                <a:cs typeface="Times New Roman" panose="02020603050405020304" pitchFamily="18" charset="0"/>
              </a:rPr>
              <a:t>such request </a:t>
            </a:r>
            <a:r>
              <a:rPr lang="en-US" sz="2400" b="1" dirty="0">
                <a:effectLst/>
                <a:latin typeface="Times New Roman" panose="02020603050405020304" pitchFamily="18" charset="0"/>
                <a:cs typeface="Times New Roman" panose="02020603050405020304" pitchFamily="18" charset="0"/>
              </a:rPr>
              <a:t>	</a:t>
            </a:r>
            <a:r>
              <a:rPr lang="en-US" sz="2400" b="1" u="sng" dirty="0">
                <a:effectLst/>
                <a:latin typeface="Times New Roman" panose="02020603050405020304" pitchFamily="18" charset="0"/>
                <a:cs typeface="Times New Roman" panose="02020603050405020304" pitchFamily="18" charset="0"/>
              </a:rPr>
              <a:t>shall not be unreasonably denied</a:t>
            </a:r>
            <a:r>
              <a:rPr lang="en-US" sz="2400" b="1" dirty="0">
                <a:effectLst/>
                <a:latin typeface="Times New Roman" panose="02020603050405020304" pitchFamily="18" charset="0"/>
                <a:cs typeface="Times New Roman" panose="02020603050405020304" pitchFamily="18" charset="0"/>
              </a:rPr>
              <a:t>.</a:t>
            </a:r>
            <a:endParaRPr lang="en-US" sz="2400" dirty="0">
              <a:effectLst/>
            </a:endParaRPr>
          </a:p>
        </p:txBody>
      </p:sp>
    </p:spTree>
    <p:extLst>
      <p:ext uri="{BB962C8B-B14F-4D97-AF65-F5344CB8AC3E}">
        <p14:creationId xmlns:p14="http://schemas.microsoft.com/office/powerpoint/2010/main" val="265408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286000" y="-5267325"/>
            <a:ext cx="4572000" cy="274637"/>
          </a:xfrm>
          <a:prstGeom prst="rect">
            <a:avLst/>
          </a:prstGeom>
          <a:noFill/>
          <a:ln w="9525">
            <a:noFill/>
            <a:miter lim="800000"/>
            <a:headEnd/>
            <a:tailEnd/>
          </a:ln>
          <a:effectLst/>
        </p:spPr>
        <p:txBody>
          <a:bodyPr>
            <a:spAutoFit/>
          </a:bodyPr>
          <a:lstStyle/>
          <a:p>
            <a:pPr eaLnBrk="1" hangingPunct="1"/>
            <a:endParaRPr lang="en-US" dirty="0"/>
          </a:p>
        </p:txBody>
      </p:sp>
      <p:sp>
        <p:nvSpPr>
          <p:cNvPr id="5123" name="Rectangle 3"/>
          <p:cNvSpPr>
            <a:spLocks noChangeArrowheads="1"/>
          </p:cNvSpPr>
          <p:nvPr/>
        </p:nvSpPr>
        <p:spPr bwMode="auto">
          <a:xfrm>
            <a:off x="533400" y="228600"/>
            <a:ext cx="7924800" cy="6294031"/>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REQUEST FOR STEWARD</a:t>
            </a:r>
          </a:p>
          <a:p>
            <a:pPr marL="457200" indent="-457200" eaLnBrk="1" hangingPunct="1"/>
            <a:endParaRPr lang="en-US" sz="2000" b="1" dirty="0">
              <a:latin typeface="Tahoma" charset="0"/>
            </a:endParaRPr>
          </a:p>
          <a:p>
            <a:pPr>
              <a:lnSpc>
                <a:spcPct val="90000"/>
              </a:lnSpc>
              <a:buClr>
                <a:srgbClr val="3399FF"/>
              </a:buClr>
            </a:pPr>
            <a:r>
              <a:rPr lang="en-US" sz="2300" b="1" u="sng" dirty="0">
                <a:latin typeface="Times New Roman" panose="02020603050405020304" pitchFamily="18" charset="0"/>
                <a:cs typeface="Times New Roman" panose="02020603050405020304" pitchFamily="18" charset="0"/>
              </a:rPr>
              <a:t>Article 17.3</a:t>
            </a:r>
            <a:r>
              <a:rPr lang="en-US" sz="2300" b="1" dirty="0">
                <a:latin typeface="Times New Roman" panose="02020603050405020304" pitchFamily="18" charset="0"/>
                <a:cs typeface="Times New Roman" panose="02020603050405020304" pitchFamily="18" charset="0"/>
              </a:rPr>
              <a:t> of the Joint Contract Interpretation Manual (JCIM), establishes the following:</a:t>
            </a:r>
          </a:p>
          <a:p>
            <a:pPr marL="457200" indent="-457200" eaLnBrk="1" hangingPunct="1">
              <a:lnSpc>
                <a:spcPct val="90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Employees should be permitted to have a reasonable amount of time to consult with their steward. Reasonable time cannot be measured by a predetermined factor.  </a:t>
            </a:r>
          </a:p>
          <a:p>
            <a:pPr marL="457200" indent="-457200" eaLnBrk="1" hangingPunct="1">
              <a:lnSpc>
                <a:spcPct val="90000"/>
              </a:lnSpc>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If a steward or alternate is not available and time limits become an issue, Management may grant the grievant an extension of time for the grievance.</a:t>
            </a:r>
          </a:p>
          <a:p>
            <a:pPr marL="457200" indent="-457200" eaLnBrk="1" hangingPunct="1">
              <a:lnSpc>
                <a:spcPct val="90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NOTE: The steward should have a signed PS Form 7020, PS Form 1260, and/or clocked out on the appropriate clock ring for Union representation.</a:t>
            </a:r>
          </a:p>
          <a:p>
            <a:pPr marL="457200" indent="-457200" eaLnBrk="1" hangingPunct="1">
              <a:lnSpc>
                <a:spcPct val="90000"/>
              </a:lnSpc>
            </a:pPr>
            <a:endParaRPr lang="en-US" sz="2000" b="1" dirty="0">
              <a:latin typeface="Times New Roman" panose="02020603050405020304" pitchFamily="18" charset="0"/>
              <a:cs typeface="Times New Roman" panose="02020603050405020304" pitchFamily="18" charset="0"/>
            </a:endParaRPr>
          </a:p>
          <a:p>
            <a:pPr algn="ctr" eaLnBrk="1" hangingPunct="1">
              <a:lnSpc>
                <a:spcPct val="90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PS Form 1260.</a:t>
            </a:r>
            <a:r>
              <a:rPr lang="en-US" sz="23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pdf</a:t>
            </a:r>
            <a:endParaRPr lang="en-US" sz="2300" b="1" dirty="0">
              <a:solidFill>
                <a:srgbClr val="0033CC"/>
              </a:solidFill>
              <a:latin typeface="Times New Roman" panose="02020603050405020304" pitchFamily="18" charset="0"/>
              <a:cs typeface="Times New Roman" panose="02020603050405020304" pitchFamily="18" charset="0"/>
            </a:endParaRPr>
          </a:p>
          <a:p>
            <a:pPr algn="ctr" eaLnBrk="1" hangingPunct="1">
              <a:lnSpc>
                <a:spcPct val="90000"/>
              </a:lnSpc>
              <a:buClr>
                <a:srgbClr val="3399FF"/>
              </a:buClr>
            </a:pPr>
            <a:endParaRPr lang="en-US" sz="1600" b="1" dirty="0">
              <a:solidFill>
                <a:srgbClr val="0033CC"/>
              </a:solidFill>
              <a:latin typeface="Times New Roman" panose="02020603050405020304" pitchFamily="18" charset="0"/>
              <a:cs typeface="Times New Roman" panose="02020603050405020304" pitchFamily="18" charset="0"/>
            </a:endParaRPr>
          </a:p>
          <a:p>
            <a:pPr algn="ctr" eaLnBrk="1" hangingPunct="1">
              <a:lnSpc>
                <a:spcPct val="90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4" action="ppaction://hlinkfile">
                  <a:extLst>
                    <a:ext uri="{A12FA001-AC4F-418D-AE19-62706E023703}">
                      <ahyp:hlinkClr xmlns:ahyp="http://schemas.microsoft.com/office/drawing/2018/hyperlinkcolor" val="tx"/>
                    </a:ext>
                  </a:extLst>
                </a:hlinkClick>
              </a:rPr>
              <a:t>PS Form 7020.pdf</a:t>
            </a:r>
            <a:endParaRPr lang="en-US" sz="2400" b="1" dirty="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77371" y="228600"/>
            <a:ext cx="8004629" cy="6617196"/>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REQUEST FOR STEWARD CONT’D</a:t>
            </a:r>
          </a:p>
          <a:p>
            <a:pPr eaLnBrk="1" hangingPunct="1"/>
            <a:endParaRPr lang="en-US" sz="2000" b="1" dirty="0">
              <a:solidFill>
                <a:schemeClr val="tx2"/>
              </a:solidFill>
              <a:latin typeface="Tahoma"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Postal Service may not predetermine the amount 	of time which a steward reasonably needs to investigate 	a grievance. </a:t>
            </a:r>
          </a:p>
          <a:p>
            <a:pPr marL="228600" indent="-548640" eaLnBrk="1" hangingPunct="1"/>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Likewise, once time is granted, the steward has an 	obligation to request additional time and to state 	reasons why this additional time is needed.  </a:t>
            </a:r>
          </a:p>
          <a:p>
            <a:pPr marL="228600" indent="-548640" eaLnBrk="1" hangingPunct="1"/>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Requests for additional time to process grievances 	should be dealt with on an individual basis and may not 	be unreasonably denied.     </a:t>
            </a:r>
          </a:p>
          <a:p>
            <a:pPr marL="2286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a:buClr>
                <a:srgbClr val="3399FF"/>
              </a:buClr>
            </a:pPr>
            <a:r>
              <a:rPr lang="en-US" sz="2400" b="1" dirty="0">
                <a:latin typeface="Times New Roman" panose="02020603050405020304" pitchFamily="18" charset="0"/>
                <a:cs typeface="Times New Roman" panose="02020603050405020304" pitchFamily="18" charset="0"/>
              </a:rPr>
              <a:t>NOTE: An employee </a:t>
            </a:r>
            <a:r>
              <a:rPr lang="en-US" sz="2400" b="1" u="sng" dirty="0">
                <a:latin typeface="Times New Roman" panose="02020603050405020304" pitchFamily="18" charset="0"/>
                <a:cs typeface="Times New Roman" panose="02020603050405020304" pitchFamily="18" charset="0"/>
              </a:rPr>
              <a:t>does not</a:t>
            </a:r>
            <a:r>
              <a:rPr lang="en-US" sz="2400" b="1" dirty="0">
                <a:latin typeface="Times New Roman" panose="02020603050405020304" pitchFamily="18" charset="0"/>
                <a:cs typeface="Times New Roman" panose="02020603050405020304" pitchFamily="18" charset="0"/>
              </a:rPr>
              <a:t> have the right to Union representation during an official discussion or when asked to sign a disciplinary letter.</a:t>
            </a:r>
            <a:endParaRPr lang="en-US" sz="2400" dirty="0">
              <a:latin typeface="Tahoma" charset="0"/>
            </a:endParaRPr>
          </a:p>
          <a:p>
            <a:pPr marL="228600" indent="-457200" eaLnBrk="1" hangingPunct="1">
              <a:buClr>
                <a:srgbClr val="3399FF"/>
              </a:buClr>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09600" y="457200"/>
            <a:ext cx="7772400" cy="6063198"/>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REQUEST FOR STEWARD CONT’D</a:t>
            </a:r>
          </a:p>
          <a:p>
            <a:pPr algn="ctr">
              <a:buClr>
                <a:srgbClr val="3399FF"/>
              </a:buClr>
            </a:pPr>
            <a:endParaRPr lang="en-US" sz="2000" b="1" u="sng" dirty="0">
              <a:solidFill>
                <a:srgbClr val="FF6699"/>
              </a:solidFill>
              <a:latin typeface="Tahoma"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Management may ask a steward who is seeking permission to investigate, adjust, or write a grievance to estimate the length of time that the steward anticipates he/she will be away from the work area.</a:t>
            </a:r>
          </a:p>
          <a:p>
            <a:pPr marL="463550" indent="-463550" eaLnBrk="1" hangingPunct="1"/>
            <a:endParaRPr lang="en-US" sz="2000" b="1" dirty="0">
              <a:latin typeface="Times New Roman" panose="02020603050405020304" pitchFamily="18" charset="0"/>
              <a:cs typeface="Times New Roman" panose="02020603050405020304" pitchFamily="18" charset="0"/>
            </a:endParaRPr>
          </a:p>
          <a:p>
            <a:pPr marL="463550" indent="-46355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While the steward normally determines how much time the grievant needs to be present during the processing of a grievance, the immediate supervisor may set a specified time to begin and end a period of grievance handling activity due to service needs.</a:t>
            </a:r>
          </a:p>
          <a:p>
            <a:pPr marL="463550" indent="-46355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63550" indent="-46355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additional time is necessary, the steward should discuss the need with the supervisor. Additional time will be granted at a later time or date. </a:t>
            </a: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609600" y="428178"/>
            <a:ext cx="7696200" cy="5781583"/>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REQUEST FOR STEWARD DENIED</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If Management has unreasonably denied a steward time on the clock to process grievances, the steward should:</a:t>
            </a:r>
          </a:p>
          <a:p>
            <a:pPr eaLnBrk="1" hangingPunct="1">
              <a:lnSpc>
                <a:spcPct val="90000"/>
              </a:lnSpc>
              <a:buClr>
                <a:srgbClr val="3399FF"/>
              </a:buClr>
            </a:pPr>
            <a:endParaRPr lang="en-US" sz="2300"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File a grievance. </a:t>
            </a:r>
          </a:p>
          <a:p>
            <a:pPr marL="457200" indent="-457200" eaLnBrk="1" hangingPunct="1">
              <a:lnSpc>
                <a:spcPct val="90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appropriate remedy to request, is an order or agreement to </a:t>
            </a:r>
            <a:r>
              <a:rPr lang="en-US" sz="2300" b="1" u="sng" dirty="0">
                <a:latin typeface="Times New Roman" panose="02020603050405020304" pitchFamily="18" charset="0"/>
                <a:cs typeface="Times New Roman" panose="02020603050405020304" pitchFamily="18" charset="0"/>
              </a:rPr>
              <a:t>cease and desist</a:t>
            </a:r>
            <a:r>
              <a:rPr lang="en-US" sz="2300" b="1" dirty="0">
                <a:latin typeface="Times New Roman" panose="02020603050405020304" pitchFamily="18" charset="0"/>
                <a:cs typeface="Times New Roman" panose="02020603050405020304" pitchFamily="18" charset="0"/>
              </a:rPr>
              <a:t>.</a:t>
            </a:r>
          </a:p>
          <a:p>
            <a:pPr eaLnBrk="1" hangingPunct="1">
              <a:lnSpc>
                <a:spcPct val="90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Also, in the remedy, if the steward was required to process grievances off the clock, request payment </a:t>
            </a:r>
          </a:p>
          <a:p>
            <a:pPr marL="457200" indent="-457200"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	to the steward for the time it took to process the grievances off-the-clock.</a:t>
            </a:r>
          </a:p>
          <a:p>
            <a:pPr marL="457200" indent="-457200" eaLnBrk="1" hangingPunct="1">
              <a:lnSpc>
                <a:spcPct val="90000"/>
              </a:lnSpc>
              <a:buClr>
                <a:srgbClr val="3399FF"/>
              </a:buClr>
            </a:pPr>
            <a:endParaRPr lang="en-US" b="1" dirty="0">
              <a:latin typeface="Times New Roman" panose="02020603050405020304" pitchFamily="18" charset="0"/>
              <a:cs typeface="Times New Roman" panose="02020603050405020304" pitchFamily="18" charset="0"/>
            </a:endParaRP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NOTE: An employee does not have the right to Union representation during a fitness-for-duty physical examination.</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533400" y="152400"/>
            <a:ext cx="7848600" cy="6324808"/>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RIGHT TO INFORMATION</a:t>
            </a:r>
          </a:p>
          <a:p>
            <a:pPr algn="ctr" eaLnBrk="1" hangingPunct="1"/>
            <a:endParaRPr lang="en-US" sz="2000" b="1" dirty="0">
              <a:solidFill>
                <a:schemeClr val="tx2"/>
              </a:solidFill>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The Union’s entitlement to information relevant to filing  grievances is set forth in </a:t>
            </a:r>
            <a:r>
              <a:rPr lang="en-US" sz="2400" b="1" u="sng" dirty="0">
                <a:latin typeface="Times New Roman" panose="02020603050405020304" pitchFamily="18" charset="0"/>
                <a:cs typeface="Times New Roman" panose="02020603050405020304" pitchFamily="18" charset="0"/>
              </a:rPr>
              <a:t>Article 31.3</a:t>
            </a:r>
            <a:r>
              <a:rPr lang="en-US" sz="2400" b="1" dirty="0">
                <a:latin typeface="Times New Roman" panose="02020603050405020304" pitchFamily="18" charset="0"/>
                <a:cs typeface="Times New Roman" panose="02020603050405020304" pitchFamily="18" charset="0"/>
              </a:rPr>
              <a:t> of the CBA and </a:t>
            </a:r>
            <a:r>
              <a:rPr lang="en-US" sz="2400" b="1" u="sng" dirty="0">
                <a:latin typeface="Times New Roman" panose="02020603050405020304" pitchFamily="18" charset="0"/>
                <a:cs typeface="Times New Roman" panose="02020603050405020304" pitchFamily="18" charset="0"/>
              </a:rPr>
              <a:t>Article 17.3</a:t>
            </a:r>
            <a:r>
              <a:rPr lang="en-US" sz="2400" b="1" dirty="0">
                <a:latin typeface="Times New Roman" panose="02020603050405020304" pitchFamily="18" charset="0"/>
                <a:cs typeface="Times New Roman" panose="02020603050405020304" pitchFamily="18" charset="0"/>
              </a:rPr>
              <a:t> of the JCIM. </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It gives specific rights to review documents, files and other records.</a:t>
            </a:r>
          </a:p>
          <a:p>
            <a:pPr marL="457200" indent="-457200" eaLnBrk="1" hangingPunct="1"/>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Also, stewards have the right to interview the grievant, supervisors and/or witnesses, including OIG Agents and/or agents of the Postal  Inspection Service.</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A request for information should state how the request </a:t>
            </a:r>
          </a:p>
          <a:p>
            <a:pPr marL="457200" indent="-457200" eaLnBrk="1" hangingPunct="1"/>
            <a:r>
              <a:rPr lang="en-US" sz="2300" b="1" dirty="0">
                <a:latin typeface="Times New Roman" panose="02020603050405020304" pitchFamily="18" charset="0"/>
                <a:cs typeface="Times New Roman" panose="02020603050405020304" pitchFamily="18" charset="0"/>
              </a:rPr>
              <a:t>	is relevant to the handling of a grievance or potential grievance. </a:t>
            </a:r>
          </a:p>
          <a:p>
            <a:pPr marL="457200" indent="-457200" eaLnBrk="1" hangingPunct="1"/>
            <a:endParaRPr lang="en-US" b="1" dirty="0">
              <a:solidFill>
                <a:srgbClr val="00CC66"/>
              </a:solidFill>
              <a:latin typeface="Times New Roman" panose="02020603050405020304" pitchFamily="18" charset="0"/>
              <a:cs typeface="Times New Roman" panose="02020603050405020304" pitchFamily="18" charset="0"/>
            </a:endParaRPr>
          </a:p>
          <a:p>
            <a:pPr marL="457200" indent="-457200" eaLnBrk="1" hangingPunct="1"/>
            <a:r>
              <a:rPr lang="en-US" sz="2300" b="1" dirty="0">
                <a:latin typeface="Times New Roman" panose="02020603050405020304" pitchFamily="18" charset="0"/>
                <a:cs typeface="Times New Roman" panose="02020603050405020304" pitchFamily="18" charset="0"/>
              </a:rPr>
              <a:t>NOTE: See JCIM, Article 17, Questions and Answers # 21</a:t>
            </a:r>
            <a:endParaRPr lang="en-US" sz="2400" b="1" dirty="0">
              <a:solidFill>
                <a:srgbClr val="00CC6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533400" y="179249"/>
            <a:ext cx="7848600" cy="6370975"/>
          </a:xfrm>
          <a:prstGeom prst="rect">
            <a:avLst/>
          </a:prstGeom>
          <a:noFill/>
          <a:ln w="9525">
            <a:noFill/>
            <a:miter lim="800000"/>
            <a:headEnd/>
            <a:tailEnd/>
          </a:ln>
          <a:effectLst/>
        </p:spPr>
        <p:txBody>
          <a:bodyPr wrap="square">
            <a:spAutoFit/>
          </a:bodyPr>
          <a:lstStyle/>
          <a:p>
            <a:pPr algn="ctr"/>
            <a:r>
              <a:rPr lang="en-US" sz="3200" b="1" u="sng" dirty="0">
                <a:solidFill>
                  <a:srgbClr val="FF6699"/>
                </a:solidFill>
                <a:latin typeface="Tahoma" charset="0"/>
              </a:rPr>
              <a:t>RIGHT TO INFORMATION CONT’D</a:t>
            </a:r>
          </a:p>
          <a:p>
            <a:pPr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Article 31.3</a:t>
            </a:r>
            <a:r>
              <a:rPr lang="en-US" sz="2300" b="1" dirty="0">
                <a:latin typeface="Times New Roman" panose="02020603050405020304" pitchFamily="18" charset="0"/>
                <a:cs typeface="Times New Roman" panose="02020603050405020304" pitchFamily="18" charset="0"/>
              </a:rPr>
              <a:t> of the JCIM  states that the Union is entitled to medical records (under the authority and control of the Postal Service) which are necessary to investigate or process a grievance, even without an employee’s authorization.</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This right is provided in </a:t>
            </a:r>
            <a:r>
              <a:rPr lang="en-US" sz="2300" b="1" u="sng" dirty="0">
                <a:latin typeface="Times New Roman" panose="02020603050405020304" pitchFamily="18" charset="0"/>
                <a:cs typeface="Times New Roman" panose="02020603050405020304" pitchFamily="18" charset="0"/>
              </a:rPr>
              <a:t>Handbook AS 353</a:t>
            </a:r>
            <a:r>
              <a:rPr lang="en-US" sz="2300" b="1" dirty="0">
                <a:latin typeface="Times New Roman" panose="02020603050405020304" pitchFamily="18" charset="0"/>
                <a:cs typeface="Times New Roman" panose="02020603050405020304" pitchFamily="18" charset="0"/>
              </a:rPr>
              <a:t> - Guide </a:t>
            </a:r>
          </a:p>
          <a:p>
            <a:pPr eaLnBrk="1" hangingPunct="1">
              <a:buClr>
                <a:srgbClr val="3399FF"/>
              </a:buClr>
            </a:pPr>
            <a:r>
              <a:rPr lang="en-US" sz="2300" b="1" dirty="0">
                <a:latin typeface="Times New Roman" panose="02020603050405020304" pitchFamily="18" charset="0"/>
                <a:cs typeface="Times New Roman" panose="02020603050405020304" pitchFamily="18" charset="0"/>
              </a:rPr>
              <a:t>	to Privacy, Freedom of Information, and Record 	Management Appendix (USPS 120.090). Also see,</a:t>
            </a:r>
          </a:p>
          <a:p>
            <a:pPr eaLnBrk="1" hangingPunct="1">
              <a:buClr>
                <a:srgbClr val="3399FF"/>
              </a:buClr>
            </a:pPr>
            <a:r>
              <a:rPr lang="en-US" sz="2300" b="1" dirty="0">
                <a:latin typeface="Times New Roman" panose="02020603050405020304" pitchFamily="18" charset="0"/>
                <a:cs typeface="Times New Roman" panose="02020603050405020304" pitchFamily="18" charset="0"/>
              </a:rPr>
              <a:t>	</a:t>
            </a:r>
            <a:r>
              <a:rPr lang="en-US" sz="2300" b="1" u="sng" dirty="0">
                <a:latin typeface="Times New Roman" panose="02020603050405020304" pitchFamily="18" charset="0"/>
                <a:cs typeface="Times New Roman" panose="02020603050405020304" pitchFamily="18" charset="0"/>
              </a:rPr>
              <a:t>Handbook EL-806</a:t>
            </a:r>
            <a:r>
              <a:rPr lang="en-US" sz="2300" b="1" dirty="0">
                <a:latin typeface="Times New Roman" panose="02020603050405020304" pitchFamily="18" charset="0"/>
                <a:cs typeface="Times New Roman" panose="02020603050405020304" pitchFamily="18" charset="0"/>
              </a:rPr>
              <a:t> - Health and Medical Services. </a:t>
            </a:r>
          </a:p>
          <a:p>
            <a:pPr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When the Union is provided with information, for example medical records, this information must be kept confidential and private.</a:t>
            </a:r>
          </a:p>
          <a:p>
            <a:pPr eaLnBrk="1" hangingPunct="1">
              <a:buClr>
                <a:srgbClr val="3399FF"/>
              </a:buClr>
            </a:pPr>
            <a:endParaRPr lang="en-US" sz="2000" b="1" dirty="0">
              <a:solidFill>
                <a:srgbClr val="3FCDE7"/>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a:p>
            <a:pPr algn="ctr" eaLnBrk="1" hangingPunct="1">
              <a:buClr>
                <a:srgbClr val="3399FF"/>
              </a:buClr>
            </a:pPr>
            <a:r>
              <a:rPr lang="en-US" sz="23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INFORMATION REQUEST FORM.pdf</a:t>
            </a:r>
            <a:endParaRPr lang="en-US" sz="2300" b="1" dirty="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762000" y="304800"/>
            <a:ext cx="7620000" cy="6332503"/>
          </a:xfrm>
          <a:prstGeom prst="rect">
            <a:avLst/>
          </a:prstGeom>
          <a:noFill/>
          <a:ln w="9525">
            <a:noFill/>
            <a:miter lim="800000"/>
            <a:headEnd/>
            <a:tailEnd/>
          </a:ln>
          <a:effectLst/>
        </p:spPr>
        <p:txBody>
          <a:bodyPr wrap="square">
            <a:spAutoFit/>
          </a:bodyPr>
          <a:lstStyle/>
          <a:p>
            <a:pPr algn="ctr" eaLnBrk="1" hangingPunct="1"/>
            <a:endParaRPr lang="en-US" sz="800" b="1" u="sng" dirty="0">
              <a:solidFill>
                <a:srgbClr val="FF6699"/>
              </a:solidFill>
              <a:latin typeface="Tahoma" charset="0"/>
            </a:endParaRPr>
          </a:p>
          <a:p>
            <a:pPr algn="ctr" eaLnBrk="1" hangingPunct="1"/>
            <a:r>
              <a:rPr lang="en-US" sz="3200" b="1" u="sng" dirty="0">
                <a:solidFill>
                  <a:srgbClr val="FF6699"/>
                </a:solidFill>
                <a:latin typeface="Tahoma" charset="0"/>
              </a:rPr>
              <a:t>COST FOR INFORMATION</a:t>
            </a:r>
          </a:p>
          <a:p>
            <a:pPr eaLnBrk="1" hangingPunct="1"/>
            <a:endParaRPr lang="en-US" sz="2000" b="1" dirty="0">
              <a:solidFill>
                <a:schemeClr val="tx2"/>
              </a:solidFill>
              <a:latin typeface="Tahoma" charset="0"/>
            </a:endParaRPr>
          </a:p>
          <a:p>
            <a:pPr eaLnBrk="1" hangingPunct="1">
              <a:buClr>
                <a:srgbClr val="3399FF"/>
              </a:buClr>
            </a:pPr>
            <a:r>
              <a:rPr lang="en-US" sz="2350" b="1" u="sng" dirty="0">
                <a:latin typeface="Times New Roman" panose="02020603050405020304" pitchFamily="18" charset="0"/>
                <a:cs typeface="Times New Roman" panose="02020603050405020304" pitchFamily="18" charset="0"/>
              </a:rPr>
              <a:t>Handbook AS-353</a:t>
            </a:r>
            <a:r>
              <a:rPr lang="en-US" sz="2350" b="1" dirty="0">
                <a:latin typeface="Times New Roman" panose="02020603050405020304" pitchFamily="18" charset="0"/>
                <a:cs typeface="Times New Roman" panose="02020603050405020304" pitchFamily="18" charset="0"/>
              </a:rPr>
              <a:t> - Guide to Privacy, the Freedom of Information Act, and Records Management, governs the costs that Management may charge the Union for the information that was provided.</a:t>
            </a:r>
          </a:p>
          <a:p>
            <a:pPr marL="228600" indent="-457200" eaLnBrk="1" hangingPunct="1">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The Union may obtain estimates of the cost in 	advance. The first 2 hours of research time </a:t>
            </a:r>
            <a:r>
              <a:rPr lang="en-US" sz="2350" b="1" u="sng" dirty="0">
                <a:latin typeface="Times New Roman" panose="02020603050405020304" pitchFamily="18" charset="0"/>
                <a:cs typeface="Times New Roman" panose="02020603050405020304" pitchFamily="18" charset="0"/>
              </a:rPr>
              <a:t>and</a:t>
            </a:r>
            <a:r>
              <a:rPr lang="en-US" sz="2350" b="1" dirty="0">
                <a:latin typeface="Times New Roman" panose="02020603050405020304" pitchFamily="18" charset="0"/>
                <a:cs typeface="Times New Roman" panose="02020603050405020304" pitchFamily="18" charset="0"/>
              </a:rPr>
              <a:t> the 	first 100 individual copies are furnished to the Union 	at no charge for each request.</a:t>
            </a:r>
          </a:p>
          <a:p>
            <a:pPr marL="228600" indent="-457200" eaLnBrk="1" hangingPunct="1">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Pursuant to the </a:t>
            </a:r>
            <a:r>
              <a:rPr lang="en-US" sz="2350" b="1" u="sng" dirty="0">
                <a:latin typeface="Times New Roman" panose="02020603050405020304" pitchFamily="18" charset="0"/>
                <a:cs typeface="Times New Roman" panose="02020603050405020304" pitchFamily="18" charset="0"/>
              </a:rPr>
              <a:t>Article 31</a:t>
            </a:r>
            <a:r>
              <a:rPr lang="en-US" sz="2350" b="1" dirty="0">
                <a:latin typeface="Times New Roman" panose="02020603050405020304" pitchFamily="18" charset="0"/>
                <a:cs typeface="Times New Roman" panose="02020603050405020304" pitchFamily="18" charset="0"/>
              </a:rPr>
              <a:t> of the Joint Contract 	Interpretation Manual (</a:t>
            </a:r>
            <a:r>
              <a:rPr lang="en-US" sz="2350" b="1" u="sng" dirty="0">
                <a:latin typeface="Times New Roman" panose="02020603050405020304" pitchFamily="18" charset="0"/>
                <a:cs typeface="Times New Roman" panose="02020603050405020304" pitchFamily="18" charset="0"/>
              </a:rPr>
              <a:t>JCIM</a:t>
            </a:r>
            <a:r>
              <a:rPr lang="en-US" sz="2350" b="1" dirty="0">
                <a:latin typeface="Times New Roman" panose="02020603050405020304" pitchFamily="18" charset="0"/>
                <a:cs typeface="Times New Roman" panose="02020603050405020304" pitchFamily="18" charset="0"/>
              </a:rPr>
              <a:t>), the cost will not be 	greater than charges imposed by the Postal Service for 	release of 	information under the Freedom of 	Information Act.</a:t>
            </a:r>
            <a:endParaRPr lang="en-US" sz="2350" b="1" dirty="0">
              <a:latin typeface="Tahoma" charset="0"/>
            </a:endParaRPr>
          </a:p>
        </p:txBody>
      </p:sp>
    </p:spTree>
    <p:extLst>
      <p:ext uri="{BB962C8B-B14F-4D97-AF65-F5344CB8AC3E}">
        <p14:creationId xmlns:p14="http://schemas.microsoft.com/office/powerpoint/2010/main" val="1934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Rot="1" noChangeArrowheads="1"/>
          </p:cNvSpPr>
          <p:nvPr>
            <p:ph type="title"/>
          </p:nvPr>
        </p:nvSpPr>
        <p:spPr>
          <a:xfrm>
            <a:off x="457200" y="277813"/>
            <a:ext cx="8229600" cy="1550987"/>
          </a:xfrm>
        </p:spPr>
        <p:txBody>
          <a:bodyPr>
            <a:normAutofit fontScale="90000"/>
          </a:bodyPr>
          <a:lstStyle/>
          <a:p>
            <a:pPr algn="ctr" eaLnBrk="1" hangingPunct="1"/>
            <a:r>
              <a:rPr lang="en-US" sz="3300" b="1" u="sng" dirty="0">
                <a:solidFill>
                  <a:srgbClr val="FF6699"/>
                </a:solidFill>
                <a:effectLst/>
                <a:latin typeface="Tahoma" charset="0"/>
              </a:rPr>
              <a:t>RIGHT to Interview</a:t>
            </a:r>
            <a:br>
              <a:rPr lang="en-US" sz="3300" b="1" u="sng" dirty="0">
                <a:solidFill>
                  <a:srgbClr val="FF6699"/>
                </a:solidFill>
                <a:effectLst/>
                <a:latin typeface="Tahoma" charset="0"/>
              </a:rPr>
            </a:br>
            <a:r>
              <a:rPr lang="en-US" sz="3300" b="1" u="sng" dirty="0">
                <a:solidFill>
                  <a:srgbClr val="FF6699"/>
                </a:solidFill>
                <a:effectLst/>
                <a:latin typeface="Tahoma" charset="0"/>
              </a:rPr>
              <a:t>Aggrieved </a:t>
            </a:r>
            <a:r>
              <a:rPr lang="en-US" sz="3300" b="1" u="sng" dirty="0">
                <a:solidFill>
                  <a:srgbClr val="FF6699"/>
                </a:solidFill>
                <a:latin typeface="Tahoma" charset="0"/>
              </a:rPr>
              <a:t>E</a:t>
            </a:r>
            <a:r>
              <a:rPr lang="en-US" sz="3300" b="1" u="sng" dirty="0">
                <a:solidFill>
                  <a:srgbClr val="FF6699"/>
                </a:solidFill>
                <a:effectLst/>
                <a:latin typeface="Tahoma" charset="0"/>
              </a:rPr>
              <a:t>mployee(s), Supervisors and Witnesses During Working Hours</a:t>
            </a:r>
            <a:br>
              <a:rPr lang="en-US" b="1" u="sng" dirty="0">
                <a:solidFill>
                  <a:srgbClr val="FF6699"/>
                </a:solidFill>
                <a:effectLst/>
                <a:latin typeface="Tahoma" charset="0"/>
              </a:rPr>
            </a:br>
            <a:br>
              <a:rPr lang="en-US" b="1" u="sng" dirty="0">
                <a:solidFill>
                  <a:srgbClr val="FF6699"/>
                </a:solidFill>
                <a:effectLst/>
                <a:latin typeface="Tahoma" charset="0"/>
              </a:rPr>
            </a:br>
            <a:r>
              <a:rPr lang="en-US" b="1" u="sng" dirty="0">
                <a:solidFill>
                  <a:srgbClr val="FF6699"/>
                </a:solidFill>
                <a:effectLst/>
                <a:latin typeface="Tahoma" charset="0"/>
              </a:rPr>
              <a:t> </a:t>
            </a:r>
            <a:br>
              <a:rPr lang="en-US" sz="4000" b="1" dirty="0">
                <a:solidFill>
                  <a:srgbClr val="FF6699"/>
                </a:solidFill>
                <a:effectLst/>
                <a:latin typeface="Tahoma" charset="0"/>
              </a:rPr>
            </a:br>
            <a:endParaRPr lang="en-US" sz="4000" b="1" dirty="0">
              <a:solidFill>
                <a:srgbClr val="FF6699"/>
              </a:solidFill>
              <a:effectLst/>
              <a:latin typeface="Tahoma" charset="0"/>
            </a:endParaRPr>
          </a:p>
        </p:txBody>
      </p:sp>
      <p:sp>
        <p:nvSpPr>
          <p:cNvPr id="3075" name="Rectangle 5"/>
          <p:cNvSpPr>
            <a:spLocks noGrp="1" noRot="1" noChangeArrowheads="1"/>
          </p:cNvSpPr>
          <p:nvPr>
            <p:ph idx="1"/>
          </p:nvPr>
        </p:nvSpPr>
        <p:spPr>
          <a:xfrm>
            <a:off x="457200" y="2057400"/>
            <a:ext cx="7620000" cy="4522787"/>
          </a:xfrm>
        </p:spPr>
        <p:txBody>
          <a:bodyPr>
            <a:normAutofit/>
          </a:bodyPr>
          <a:lstStyle/>
          <a:p>
            <a:pPr marL="342900" lvl="1" indent="-457200">
              <a:spcBef>
                <a:spcPts val="0"/>
              </a:spcBef>
              <a:buSzPct val="100000"/>
              <a:buFont typeface="Wingdings" panose="05000000000000000000" pitchFamily="2" charset="2"/>
              <a:buChar char="Ø"/>
            </a:pPr>
            <a:r>
              <a:rPr lang="en-US" sz="2400" b="1" dirty="0">
                <a:effectLst/>
                <a:latin typeface="Times New Roman" panose="02020603050405020304" pitchFamily="18" charset="0"/>
                <a:cs typeface="Times New Roman" panose="02020603050405020304" pitchFamily="18" charset="0"/>
              </a:rPr>
              <a:t>The steward, chief steward or other Union 	representative properly certified may request and 	shall obtain access through the appropriate 	supervisor to review the documents, files and other 	records necessary for processing a grievance or 	determining if a grievance exists and shall have the 	right to interview the aggrieved employee(s), 	supervisors and witnesses </a:t>
            </a:r>
            <a:r>
              <a:rPr lang="en-US" sz="2400" b="1" u="sng" dirty="0">
                <a:effectLst/>
                <a:latin typeface="Times New Roman" panose="02020603050405020304" pitchFamily="18" charset="0"/>
                <a:cs typeface="Times New Roman" panose="02020603050405020304" pitchFamily="18" charset="0"/>
              </a:rPr>
              <a:t>during working hours</a:t>
            </a:r>
            <a:r>
              <a:rPr lang="en-US" sz="2400" b="1" dirty="0">
                <a:effectLst/>
                <a:latin typeface="Times New Roman" panose="02020603050405020304" pitchFamily="18" charset="0"/>
                <a:cs typeface="Times New Roman" panose="02020603050405020304" pitchFamily="18" charset="0"/>
              </a:rPr>
              <a:t>. 	</a:t>
            </a:r>
            <a:r>
              <a:rPr lang="en-US" sz="2400" b="1" u="sng" dirty="0">
                <a:effectLst/>
                <a:latin typeface="Times New Roman" panose="02020603050405020304" pitchFamily="18" charset="0"/>
                <a:cs typeface="Times New Roman" panose="02020603050405020304" pitchFamily="18" charset="0"/>
              </a:rPr>
              <a:t>Such requests shall not be unreasonably denied</a:t>
            </a:r>
            <a:r>
              <a:rPr lang="en-US" sz="2400" b="1" dirty="0">
                <a:effectLst/>
                <a:latin typeface="Times New Roman" panose="02020603050405020304" pitchFamily="18" charset="0"/>
                <a:cs typeface="Times New Roman" panose="02020603050405020304" pitchFamily="18" charset="0"/>
              </a:rPr>
              <a:t>.</a:t>
            </a:r>
          </a:p>
          <a:p>
            <a:pPr marL="342900" lvl="1" indent="-457200">
              <a:spcBef>
                <a:spcPts val="0"/>
              </a:spcBef>
              <a:buSzPct val="1000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0" lvl="1" indent="0">
              <a:spcBef>
                <a:spcPts val="0"/>
              </a:spcBef>
              <a:buSzPct val="100000"/>
              <a:buNone/>
            </a:pPr>
            <a:r>
              <a:rPr lang="en-US" sz="2400" b="1" dirty="0">
                <a:latin typeface="Times New Roman" panose="02020603050405020304" pitchFamily="18" charset="0"/>
                <a:cs typeface="Times New Roman" panose="02020603050405020304" pitchFamily="18" charset="0"/>
              </a:rPr>
              <a:t>NOTE: </a:t>
            </a:r>
            <a:r>
              <a:rPr lang="en-US" sz="2400" b="1" dirty="0">
                <a:effectLst/>
                <a:latin typeface="Times New Roman" panose="02020603050405020304" pitchFamily="18" charset="0"/>
                <a:cs typeface="Times New Roman" panose="02020603050405020304" pitchFamily="18" charset="0"/>
              </a:rPr>
              <a:t>See CBA, Article 17, Section 3. Rights of Stewards.</a:t>
            </a:r>
            <a:endParaRPr lang="en-US" sz="2400" dirty="0">
              <a:effectLst/>
            </a:endParaRPr>
          </a:p>
        </p:txBody>
      </p:sp>
    </p:spTree>
    <p:extLst>
      <p:ext uri="{BB962C8B-B14F-4D97-AF65-F5344CB8AC3E}">
        <p14:creationId xmlns:p14="http://schemas.microsoft.com/office/powerpoint/2010/main" val="2394663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533400" y="228600"/>
            <a:ext cx="8229600" cy="6247864"/>
          </a:xfrm>
          <a:prstGeom prst="rect">
            <a:avLst/>
          </a:prstGeom>
          <a:noFill/>
          <a:ln w="9525">
            <a:noFill/>
            <a:miter lim="800000"/>
            <a:headEnd/>
            <a:tailEnd/>
          </a:ln>
          <a:effectLst/>
        </p:spPr>
        <p:txBody>
          <a:bodyPr wrap="square">
            <a:spAutoFit/>
          </a:bodyPr>
          <a:lstStyle/>
          <a:p>
            <a:pPr algn="ctr"/>
            <a:endParaRPr lang="en-US" sz="800" b="1" u="sng" dirty="0">
              <a:solidFill>
                <a:srgbClr val="FF6699"/>
              </a:solidFill>
              <a:latin typeface="Tahoma" charset="0"/>
            </a:endParaRPr>
          </a:p>
          <a:p>
            <a:pPr algn="ctr"/>
            <a:r>
              <a:rPr lang="en-US" sz="3200" b="1" u="sng" dirty="0">
                <a:solidFill>
                  <a:srgbClr val="FF6699"/>
                </a:solidFill>
                <a:latin typeface="Tahoma" charset="0"/>
              </a:rPr>
              <a:t>USE OF CAMERAS/VIDEOTAPES</a:t>
            </a:r>
            <a:br>
              <a:rPr lang="en-US" sz="3600" b="1" u="sng" dirty="0">
                <a:solidFill>
                  <a:srgbClr val="FF6699"/>
                </a:solidFill>
                <a:latin typeface="Tahoma" charset="0"/>
              </a:rPr>
            </a:br>
            <a:endParaRPr lang="en-US" sz="2000" b="1" dirty="0">
              <a:latin typeface="Times New Roman" panose="02020603050405020304" pitchFamily="18" charset="0"/>
              <a:cs typeface="Times New Roman" panose="02020603050405020304" pitchFamily="18" charset="0"/>
            </a:endParaRPr>
          </a:p>
          <a:p>
            <a:pPr>
              <a:buClr>
                <a:srgbClr val="3399FF"/>
              </a:buClr>
            </a:pPr>
            <a:r>
              <a:rPr lang="en-US" sz="2400" b="1" dirty="0">
                <a:latin typeface="Times New Roman" panose="02020603050405020304" pitchFamily="18" charset="0"/>
                <a:cs typeface="Times New Roman" panose="02020603050405020304" pitchFamily="18" charset="0"/>
              </a:rPr>
              <a:t>The use of camera equipment by Union stewards to photograph mail processing operations on postal premises </a:t>
            </a:r>
          </a:p>
          <a:p>
            <a:pPr>
              <a:buClr>
                <a:srgbClr val="3399FF"/>
              </a:buClr>
            </a:pPr>
            <a:r>
              <a:rPr lang="en-US" sz="2400" b="1" u="sng" dirty="0">
                <a:latin typeface="Times New Roman" panose="02020603050405020304" pitchFamily="18" charset="0"/>
                <a:cs typeface="Times New Roman" panose="02020603050405020304" pitchFamily="18" charset="0"/>
              </a:rPr>
              <a:t>is not allowed without permission</a:t>
            </a:r>
            <a:r>
              <a:rPr lang="en-US" sz="2400" b="1" dirty="0">
                <a:latin typeface="Times New Roman" panose="02020603050405020304" pitchFamily="18" charset="0"/>
                <a:cs typeface="Times New Roman" panose="02020603050405020304" pitchFamily="18" charset="0"/>
              </a:rPr>
              <a:t>.</a:t>
            </a:r>
          </a:p>
          <a:p>
            <a:pPr marL="457200" indent="-457200">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If the Union desires to take photographs on the work room floor or within a postal facility, </a:t>
            </a:r>
            <a:r>
              <a:rPr lang="en-US" sz="2300" b="1" u="sng" dirty="0">
                <a:latin typeface="Times New Roman" panose="02020603050405020304" pitchFamily="18" charset="0"/>
                <a:cs typeface="Times New Roman" panose="02020603050405020304" pitchFamily="18" charset="0"/>
              </a:rPr>
              <a:t>permission must first be obtained</a:t>
            </a:r>
            <a:r>
              <a:rPr lang="en-US" sz="2300" b="1" dirty="0">
                <a:latin typeface="Times New Roman" panose="02020603050405020304" pitchFamily="18" charset="0"/>
                <a:cs typeface="Times New Roman" panose="02020603050405020304" pitchFamily="18" charset="0"/>
              </a:rPr>
              <a:t> from local Management, and </a:t>
            </a:r>
            <a:r>
              <a:rPr lang="en-US" sz="2300" b="1" u="sng" dirty="0">
                <a:latin typeface="Times New Roman" panose="02020603050405020304" pitchFamily="18" charset="0"/>
                <a:cs typeface="Times New Roman" panose="02020603050405020304" pitchFamily="18" charset="0"/>
              </a:rPr>
              <a:t>a supervisor must be present</a:t>
            </a:r>
            <a:r>
              <a:rPr lang="en-US" sz="2300" b="1" dirty="0">
                <a:latin typeface="Times New Roman" panose="02020603050405020304" pitchFamily="18" charset="0"/>
                <a:cs typeface="Times New Roman" panose="02020603050405020304" pitchFamily="18" charset="0"/>
              </a:rPr>
              <a:t>.</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If a videotape has been or is intended to be used as a basis for disciplinary action, those portions will be reproduced and given to the Union, </a:t>
            </a:r>
            <a:r>
              <a:rPr lang="en-US" sz="2300" b="1" u="sng" dirty="0">
                <a:latin typeface="Times New Roman" panose="02020603050405020304" pitchFamily="18" charset="0"/>
                <a:cs typeface="Times New Roman" panose="02020603050405020304" pitchFamily="18" charset="0"/>
              </a:rPr>
              <a:t>upon request</a:t>
            </a:r>
            <a:r>
              <a:rPr lang="en-US" sz="2300" b="1" dirty="0">
                <a:latin typeface="Times New Roman" panose="02020603050405020304" pitchFamily="18" charset="0"/>
                <a:cs typeface="Times New Roman" panose="02020603050405020304" pitchFamily="18" charset="0"/>
              </a:rPr>
              <a:t>. The Union is responsible for the cost for reproduction.</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17.3, RIGHT TO INFORMATION.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533400" y="0"/>
            <a:ext cx="8229600" cy="6155531"/>
          </a:xfrm>
          <a:prstGeom prst="rect">
            <a:avLst/>
          </a:prstGeom>
          <a:noFill/>
          <a:ln w="9525">
            <a:noFill/>
            <a:miter lim="800000"/>
            <a:headEnd/>
            <a:tailEnd/>
          </a:ln>
          <a:effectLst/>
        </p:spPr>
        <p:txBody>
          <a:bodyPr wrap="square">
            <a:spAutoFit/>
          </a:bodyPr>
          <a:lstStyle/>
          <a:p>
            <a:pPr algn="ctr" eaLnBrk="1" hangingPunct="1">
              <a:buClr>
                <a:srgbClr val="3399FF"/>
              </a:buClr>
            </a:pPr>
            <a:endParaRPr lang="en-US" sz="800" b="1" u="sng" dirty="0">
              <a:solidFill>
                <a:srgbClr val="FF6699"/>
              </a:solidFill>
              <a:latin typeface="Tahoma" charset="0"/>
            </a:endParaRPr>
          </a:p>
          <a:p>
            <a:pPr algn="ctr" eaLnBrk="1" hangingPunct="1">
              <a:buClr>
                <a:srgbClr val="3399FF"/>
              </a:buClr>
            </a:pPr>
            <a:r>
              <a:rPr lang="en-US" sz="3200" b="1" u="sng" dirty="0">
                <a:solidFill>
                  <a:srgbClr val="FF6699"/>
                </a:solidFill>
                <a:latin typeface="Tahoma" charset="0"/>
              </a:rPr>
              <a:t>EXCHANGE OF INFORMATION</a:t>
            </a:r>
          </a:p>
          <a:p>
            <a:pPr algn="ct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Information relied on by the parties to support their positions in a grievance should be exchanged between the parties’ representatives at the lowest possible step.  </a:t>
            </a:r>
          </a:p>
          <a:p>
            <a:pPr marL="2286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the Union requests a copy of the Supervisor’s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PS Form 2608 (Grievance Summary-Step 1) at any 	step 	in the grievance procedure, it will be made available. </a:t>
            </a:r>
          </a:p>
          <a:p>
            <a:pPr marL="2286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the Union provides a list of officers and/or shop 	stewards, the USPS must indicate which of the listed 	names applied for a supervisory position within the 	previous two years.</a:t>
            </a:r>
          </a:p>
          <a:p>
            <a:pPr marL="2286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17.3, RIGHT TO INFORMATION.</a:t>
            </a:r>
          </a:p>
          <a:p>
            <a:pPr eaLnBrk="1" hangingPunct="1">
              <a:buClr>
                <a:srgbClr val="3399FF"/>
              </a:buClr>
            </a:pPr>
            <a:endParaRPr lang="en-US" sz="1000" b="1" dirty="0">
              <a:solidFill>
                <a:srgbClr val="3FCDE7"/>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533400" y="457200"/>
            <a:ext cx="8001000" cy="5663089"/>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STEWARD’S RIGHTS</a:t>
            </a:r>
          </a:p>
          <a:p>
            <a:pPr marL="463550" indent="-463550" eaLnBrk="1" hangingPunct="1"/>
            <a:endParaRPr lang="en-US" sz="2000" b="1" dirty="0">
              <a:latin typeface="Times New Roman" panose="02020603050405020304" pitchFamily="18" charset="0"/>
              <a:cs typeface="Times New Roman" panose="02020603050405020304" pitchFamily="18" charset="0"/>
            </a:endParaRPr>
          </a:p>
          <a:p>
            <a:pPr marL="463550" indent="-463550" eaLnBrk="1" hangingPunct="1"/>
            <a:r>
              <a:rPr lang="en-US" sz="2400" b="1" dirty="0">
                <a:latin typeface="Times New Roman" panose="02020603050405020304" pitchFamily="18" charset="0"/>
                <a:cs typeface="Times New Roman" panose="02020603050405020304" pitchFamily="18" charset="0"/>
              </a:rPr>
              <a:t>The JCIM </a:t>
            </a:r>
            <a:r>
              <a:rPr lang="en-US" sz="2400" b="1" u="sng" dirty="0">
                <a:latin typeface="Times New Roman" panose="02020603050405020304" pitchFamily="18" charset="0"/>
                <a:cs typeface="Times New Roman" panose="02020603050405020304" pitchFamily="18" charset="0"/>
              </a:rPr>
              <a:t>Article 17.3</a:t>
            </a:r>
            <a:r>
              <a:rPr lang="en-US" sz="2400" b="1" dirty="0">
                <a:latin typeface="Times New Roman" panose="02020603050405020304" pitchFamily="18" charset="0"/>
                <a:cs typeface="Times New Roman" panose="02020603050405020304" pitchFamily="18" charset="0"/>
              </a:rPr>
              <a:t>, outlines steward’s rights:</a:t>
            </a:r>
          </a:p>
          <a:p>
            <a:pPr marL="463550" indent="-463550" eaLnBrk="1" hangingPunct="1"/>
            <a:endParaRPr lang="en-US" sz="2000" b="1" dirty="0">
              <a:latin typeface="Times New Roman" panose="02020603050405020304" pitchFamily="18" charset="0"/>
              <a:cs typeface="Times New Roman" panose="02020603050405020304" pitchFamily="18" charset="0"/>
            </a:endParaRPr>
          </a:p>
          <a:p>
            <a:pPr marL="463550" indent="-46355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right to investigate and adjust grievances or to investigate a specific problem to determine whether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to </a:t>
            </a:r>
            <a:r>
              <a:rPr lang="en-US" sz="2400" b="1" u="sng" dirty="0">
                <a:latin typeface="Times New Roman" panose="02020603050405020304" pitchFamily="18" charset="0"/>
                <a:cs typeface="Times New Roman" panose="02020603050405020304" pitchFamily="18" charset="0"/>
              </a:rPr>
              <a:t>initiate</a:t>
            </a:r>
            <a:r>
              <a:rPr lang="en-US" sz="2400" b="1" dirty="0">
                <a:latin typeface="Times New Roman" panose="02020603050405020304" pitchFamily="18" charset="0"/>
                <a:cs typeface="Times New Roman" panose="02020603050405020304" pitchFamily="18" charset="0"/>
              </a:rPr>
              <a:t> and file a grievance.</a:t>
            </a:r>
          </a:p>
          <a:p>
            <a:pPr marL="463550" indent="-463550" eaLnBrk="1" hangingPunct="1"/>
            <a:endParaRPr lang="en-US" sz="2000" b="1" dirty="0">
              <a:latin typeface="Times New Roman" panose="02020603050405020304" pitchFamily="18" charset="0"/>
              <a:cs typeface="Times New Roman" panose="02020603050405020304" pitchFamily="18" charset="0"/>
            </a:endParaRPr>
          </a:p>
          <a:p>
            <a:pPr marL="463550" indent="-46355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right to review documents, files and other records which are necessary for processing the grievance or determining if a grievance exist.</a:t>
            </a:r>
          </a:p>
          <a:p>
            <a:pPr marL="463550" indent="-46355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63550" indent="-46355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right to interview the aggrieved employee, supervisors, witnesses, and/or agents from the Office of Inspector General (OIG) or Postal Inspection Service.</a:t>
            </a: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ChangeArrowheads="1"/>
          </p:cNvSpPr>
          <p:nvPr/>
        </p:nvSpPr>
        <p:spPr bwMode="auto">
          <a:xfrm>
            <a:off x="533400" y="304800"/>
            <a:ext cx="7924800" cy="6109365"/>
          </a:xfrm>
          <a:prstGeom prst="rect">
            <a:avLst/>
          </a:prstGeom>
          <a:noFill/>
          <a:ln w="9525">
            <a:noFill/>
            <a:miter lim="800000"/>
            <a:headEnd/>
            <a:tailEnd/>
          </a:ln>
          <a:effectLst/>
        </p:spPr>
        <p:txBody>
          <a:bodyPr wrap="square">
            <a:spAutoFit/>
          </a:bodyPr>
          <a:lstStyle/>
          <a:p>
            <a:pPr algn="ctr"/>
            <a:r>
              <a:rPr lang="en-US" sz="3200" b="1" u="sng" dirty="0">
                <a:solidFill>
                  <a:srgbClr val="FF6699"/>
                </a:solidFill>
                <a:latin typeface="Tahoma" charset="0"/>
              </a:rPr>
              <a:t>STEWARD’S RIGHTS CONT'D</a:t>
            </a:r>
          </a:p>
          <a:p>
            <a:pPr algn="ctr" eaLnBrk="1" hangingPunct="1"/>
            <a:endParaRPr lang="en-US" sz="2000" b="1" dirty="0">
              <a:latin typeface="Tahoma"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right to represent an employee during a pre-disciplinary interview by Management or an  interrogation by an agent from the OIG or Postal Inspection Service, when requested by the employee (See “Weingarten Rights”).</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right to reasonable time on the clock to complete grievance forms and write appeals, including Step 3 Appeals and the Union’s additions and corrections to Management’s Step 2 decision.</a:t>
            </a:r>
          </a:p>
          <a:p>
            <a:pPr marL="457200" indent="-457200">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right to process post-removal grievances provided </a:t>
            </a:r>
          </a:p>
          <a:p>
            <a:pPr>
              <a:buClr>
                <a:srgbClr val="3399FF"/>
              </a:buClr>
            </a:pPr>
            <a:r>
              <a:rPr lang="en-US" sz="2300" b="1" dirty="0">
                <a:latin typeface="Times New Roman" panose="02020603050405020304" pitchFamily="18" charset="0"/>
                <a:cs typeface="Times New Roman" panose="02020603050405020304" pitchFamily="18" charset="0"/>
              </a:rPr>
              <a:t>	the grievance is non-disciplinary, not related to the 	removal action and initiated prior to the date of </a:t>
            </a:r>
          </a:p>
          <a:p>
            <a:pPr>
              <a:buClr>
                <a:srgbClr val="3399FF"/>
              </a:buClr>
            </a:pPr>
            <a:r>
              <a:rPr lang="en-US" sz="2300" b="1" dirty="0">
                <a:latin typeface="Times New Roman" panose="02020603050405020304" pitchFamily="18" charset="0"/>
                <a:cs typeface="Times New Roman" panose="02020603050405020304" pitchFamily="18" charset="0"/>
              </a:rPr>
              <a:t>	separation from the Postal Service’s rolls.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EAD37-3DD2-4EB8-B9A7-8AAF537F0815}"/>
              </a:ext>
            </a:extLst>
          </p:cNvPr>
          <p:cNvSpPr txBox="1"/>
          <p:nvPr/>
        </p:nvSpPr>
        <p:spPr>
          <a:xfrm>
            <a:off x="647700" y="343924"/>
            <a:ext cx="7848600" cy="6170151"/>
          </a:xfrm>
          <a:prstGeom prst="rect">
            <a:avLst/>
          </a:prstGeom>
          <a:noFill/>
        </p:spPr>
        <p:txBody>
          <a:bodyPr wrap="square">
            <a:spAutoFit/>
          </a:bodyPr>
          <a:lstStyle/>
          <a:p>
            <a:pPr algn="ctr"/>
            <a:r>
              <a:rPr lang="en-US" sz="3200" b="1" u="sng" dirty="0">
                <a:solidFill>
                  <a:srgbClr val="FF6699"/>
                </a:solidFill>
                <a:latin typeface="Tahoma" charset="0"/>
              </a:rPr>
              <a:t>STEWARD’S RIGHTS CONT’D</a:t>
            </a:r>
          </a:p>
          <a:p>
            <a:endParaRPr lang="en-US" sz="2000" b="1" u="sng" dirty="0">
              <a:solidFill>
                <a:srgbClr val="FF6699"/>
              </a:solidFill>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In accordance with the JCIM, </a:t>
            </a:r>
            <a:r>
              <a:rPr lang="en-US" sz="2350" b="1" u="sng" dirty="0">
                <a:latin typeface="Times New Roman" panose="02020603050405020304" pitchFamily="18" charset="0"/>
                <a:cs typeface="Times New Roman" panose="02020603050405020304" pitchFamily="18" charset="0"/>
              </a:rPr>
              <a:t>Article 17.8</a:t>
            </a:r>
            <a:r>
              <a:rPr lang="en-US" sz="2350" b="1" dirty="0">
                <a:latin typeface="Times New Roman" panose="02020603050405020304" pitchFamily="18" charset="0"/>
                <a:cs typeface="Times New Roman" panose="02020603050405020304" pitchFamily="18" charset="0"/>
              </a:rPr>
              <a:t>, “ An actively employed Union officer serving as a steward under the provisions of Article 17.2.C should be allowed the existing telephone privileges provided to other stewards in the office.”</a:t>
            </a:r>
          </a:p>
          <a:p>
            <a:pPr marL="457200" indent="-457200">
              <a:lnSpc>
                <a:spcPct val="95000"/>
              </a:lnSpc>
            </a:pPr>
            <a:endParaRPr lang="en-US" b="1" dirty="0">
              <a:latin typeface="Times New Roman" panose="02020603050405020304" pitchFamily="18" charset="0"/>
              <a:cs typeface="Times New Roman" panose="02020603050405020304" pitchFamily="18" charset="0"/>
            </a:endParaRPr>
          </a:p>
          <a:p>
            <a:pPr marL="457200" indent="-457200" algn="l">
              <a:lnSpc>
                <a:spcPct val="95000"/>
              </a:lnSpc>
              <a:buClr>
                <a:srgbClr val="3399FF"/>
              </a:buClr>
              <a:buFont typeface="Wingdings" panose="05000000000000000000" pitchFamily="2" charset="2"/>
              <a:buChar char="Ø"/>
            </a:pPr>
            <a:r>
              <a:rPr lang="en-US" sz="2350" b="1" dirty="0">
                <a:latin typeface="TimesNewRomanPSMT"/>
              </a:rPr>
              <a:t>The JCIM </a:t>
            </a:r>
            <a:r>
              <a:rPr lang="en-US" sz="2350" b="1" u="sng" dirty="0">
                <a:latin typeface="TimesNewRomanPSMT"/>
              </a:rPr>
              <a:t>Article 17.6</a:t>
            </a:r>
            <a:r>
              <a:rPr lang="en-US" sz="2350" b="1" dirty="0">
                <a:latin typeface="TimesNewRomanPSMT"/>
              </a:rPr>
              <a:t>  gives a representative of the APWU an “ample” opportunity to address new employees on the clock, </a:t>
            </a:r>
            <a:r>
              <a:rPr lang="en-US" sz="2350" b="1" i="0" u="none" strike="noStrike" baseline="0" dirty="0">
                <a:latin typeface="TimesNewRomanPSMT"/>
              </a:rPr>
              <a:t>during the new bargaining unit employee orientation. When the Union addresses new employees during orientation, Management officials can be present. </a:t>
            </a:r>
          </a:p>
          <a:p>
            <a:pPr marL="457200" indent="-457200" algn="l">
              <a:lnSpc>
                <a:spcPct val="95000"/>
              </a:lnSpc>
              <a:buClr>
                <a:srgbClr val="3399FF"/>
              </a:buClr>
              <a:buFont typeface="Wingdings" panose="05000000000000000000" pitchFamily="2" charset="2"/>
              <a:buChar char="Ø"/>
            </a:pPr>
            <a:endParaRPr lang="en-US" b="1" dirty="0">
              <a:latin typeface="TimesNewRomanPSMT"/>
            </a:endParaRPr>
          </a:p>
          <a:p>
            <a:pPr marL="457200" indent="-457200" algn="l">
              <a:lnSpc>
                <a:spcPct val="95000"/>
              </a:lnSpc>
              <a:buClr>
                <a:srgbClr val="3399FF"/>
              </a:buClr>
              <a:buFont typeface="Wingdings" panose="05000000000000000000" pitchFamily="2" charset="2"/>
              <a:buChar char="Ø"/>
            </a:pPr>
            <a:r>
              <a:rPr lang="en-US" sz="2350" b="1" i="0" u="none" strike="noStrike" baseline="0" dirty="0">
                <a:latin typeface="TimesNewRomanPSMT"/>
              </a:rPr>
              <a:t>Completion of the Authorization for Deduction of Union Dues </a:t>
            </a:r>
            <a:r>
              <a:rPr lang="en-US" sz="2350" b="1" i="0" u="sng" strike="noStrike" baseline="0" dirty="0">
                <a:latin typeface="TimesNewRomanPSMT"/>
              </a:rPr>
              <a:t>Form SF-1187</a:t>
            </a:r>
            <a:r>
              <a:rPr lang="en-US" sz="2350" b="1" i="0" u="none" strike="noStrike" baseline="0" dirty="0">
                <a:latin typeface="TimesNewRomanPSMT"/>
              </a:rPr>
              <a:t>, will be permitted during employee orientation in the areas designated by Management.</a:t>
            </a:r>
            <a:endParaRPr lang="en-US" sz="2350" b="1" u="sng" dirty="0">
              <a:solidFill>
                <a:srgbClr val="FF6699"/>
              </a:solidFill>
              <a:latin typeface="Tahoma" charset="0"/>
            </a:endParaRPr>
          </a:p>
        </p:txBody>
      </p:sp>
    </p:spTree>
    <p:extLst>
      <p:ext uri="{BB962C8B-B14F-4D97-AF65-F5344CB8AC3E}">
        <p14:creationId xmlns:p14="http://schemas.microsoft.com/office/powerpoint/2010/main" val="391357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457200" y="381000"/>
            <a:ext cx="8077200" cy="5570756"/>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SUPERSENIORITY</a:t>
            </a:r>
          </a:p>
          <a:p>
            <a:pPr eaLnBrk="1" hangingPunct="1"/>
            <a:endParaRPr lang="en-US" sz="2000" b="1" dirty="0">
              <a:solidFill>
                <a:schemeClr val="tx2"/>
              </a:solidFill>
              <a:latin typeface="Tahoma" charset="0"/>
            </a:endParaRPr>
          </a:p>
          <a:p>
            <a:pPr eaLnBrk="1" hangingPunct="1">
              <a:buClr>
                <a:srgbClr val="3399FF"/>
              </a:buClr>
            </a:pPr>
            <a:r>
              <a:rPr lang="en-US" sz="2400" b="1" u="sng" dirty="0">
                <a:latin typeface="Times New Roman" panose="02020603050405020304" pitchFamily="18" charset="0"/>
                <a:cs typeface="Times New Roman" panose="02020603050405020304" pitchFamily="18" charset="0"/>
              </a:rPr>
              <a:t>Article 17.3</a:t>
            </a:r>
            <a:r>
              <a:rPr lang="en-US" sz="2400" b="1" dirty="0">
                <a:latin typeface="Times New Roman" panose="02020603050405020304" pitchFamily="18" charset="0"/>
                <a:cs typeface="Times New Roman" panose="02020603050405020304" pitchFamily="18" charset="0"/>
              </a:rPr>
              <a:t> of the CBA, prohibits a steward from being involuntarily reassigned from a tour, station or branch or installation unless there is no work for which the steward is qualified. </a:t>
            </a:r>
          </a:p>
          <a:p>
            <a:pPr marL="228600" indent="-457200" eaLnBrk="1" hangingPunct="1"/>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This means that a steward has SUPERSENIORITY.   	Superseniority rights must be observed even if it 	requires an involuntary reassignment of another, more 	senior employee. </a:t>
            </a:r>
          </a:p>
          <a:p>
            <a:pPr marL="228600" indent="-457200" eaLnBrk="1" hangingPunct="1"/>
            <a:endParaRPr lang="en-US" sz="2000" b="1" dirty="0">
              <a:latin typeface="Times New Roman" panose="02020603050405020304" pitchFamily="18" charset="0"/>
              <a:cs typeface="Times New Roman" panose="02020603050405020304" pitchFamily="18" charset="0"/>
            </a:endParaRPr>
          </a:p>
          <a:p>
            <a:pPr marL="2286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This rule does not apply to alternate stewards. </a:t>
            </a:r>
          </a:p>
          <a:p>
            <a:pPr marL="228600" indent="-457200" eaLnBrk="1" hangingPunct="1">
              <a:buClr>
                <a:srgbClr val="3399FF"/>
              </a:buClr>
              <a:buFont typeface="Wingdings" panose="05000000000000000000" pitchFamily="2" charset="2"/>
              <a:buChar char="Ø"/>
            </a:pPr>
            <a:endParaRPr lang="en-US" sz="2000" b="1" dirty="0">
              <a:solidFill>
                <a:srgbClr val="00CC66"/>
              </a:solidFill>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17.3, SUPERSENIORITY.</a:t>
            </a:r>
            <a:endParaRPr lang="en-US" sz="2400" dirty="0">
              <a:latin typeface="Tahoma" charset="0"/>
            </a:endParaRPr>
          </a:p>
        </p:txBody>
      </p:sp>
    </p:spTree>
    <p:extLst>
      <p:ext uri="{BB962C8B-B14F-4D97-AF65-F5344CB8AC3E}">
        <p14:creationId xmlns:p14="http://schemas.microsoft.com/office/powerpoint/2010/main" val="49361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C17B9-AC72-4795-9DDF-06964C4E8443}"/>
              </a:ext>
            </a:extLst>
          </p:cNvPr>
          <p:cNvSpPr txBox="1"/>
          <p:nvPr/>
        </p:nvSpPr>
        <p:spPr>
          <a:xfrm>
            <a:off x="533400" y="381000"/>
            <a:ext cx="7848600" cy="6124754"/>
          </a:xfrm>
          <a:prstGeom prst="rect">
            <a:avLst/>
          </a:prstGeom>
          <a:noFill/>
        </p:spPr>
        <p:txBody>
          <a:bodyPr wrap="square">
            <a:spAutoFit/>
          </a:bodyPr>
          <a:lstStyle/>
          <a:p>
            <a:pPr algn="ctr"/>
            <a:r>
              <a:rPr lang="en-US" sz="3200" b="1" u="sng" dirty="0">
                <a:solidFill>
                  <a:srgbClr val="FF6699"/>
                </a:solidFill>
                <a:latin typeface="Tahoma" charset="0"/>
              </a:rPr>
              <a:t>PAYMENT OF STEWARDS</a:t>
            </a:r>
          </a:p>
          <a:p>
            <a:pPr marL="457200" indent="-457200"/>
            <a:endParaRPr lang="en-US" sz="2000" b="1" u="sng" dirty="0">
              <a:solidFill>
                <a:srgbClr val="FF6699"/>
              </a:solidFill>
              <a:latin typeface="Tahoma" charset="0"/>
            </a:endParaRPr>
          </a:p>
          <a:p>
            <a:pPr>
              <a:buClr>
                <a:srgbClr val="3399FF"/>
              </a:buClr>
            </a:pPr>
            <a:r>
              <a:rPr lang="en-US" sz="2400" b="1" u="sng" dirty="0">
                <a:latin typeface="Times New Roman" panose="02020603050405020304" pitchFamily="18" charset="0"/>
                <a:cs typeface="Times New Roman" panose="02020603050405020304" pitchFamily="18" charset="0"/>
              </a:rPr>
              <a:t>Article 17, </a:t>
            </a:r>
            <a:r>
              <a:rPr lang="en-US" sz="2400" b="1" i="0" u="sng" strike="noStrike" baseline="0" dirty="0">
                <a:latin typeface="Times New Roman" panose="02020603050405020304" pitchFamily="18" charset="0"/>
                <a:cs typeface="Times New Roman" panose="02020603050405020304" pitchFamily="18" charset="0"/>
              </a:rPr>
              <a:t>Section 4</a:t>
            </a:r>
            <a:r>
              <a:rPr lang="en-US" sz="2400" b="1" i="0" u="none" strike="noStrike" baseline="0" dirty="0">
                <a:latin typeface="Times New Roman" panose="02020603050405020304" pitchFamily="18" charset="0"/>
                <a:cs typeface="Times New Roman" panose="02020603050405020304" pitchFamily="18" charset="0"/>
              </a:rPr>
              <a:t> of the CBA, Grievances: Steps 1 and 2 outlines payment of stewards</a:t>
            </a:r>
            <a:r>
              <a:rPr lang="en-US" sz="2400" b="1" dirty="0">
                <a:latin typeface="Times New Roman" panose="02020603050405020304" pitchFamily="18" charset="0"/>
                <a:cs typeface="Times New Roman" panose="02020603050405020304" pitchFamily="18" charset="0"/>
              </a:rPr>
              <a:t>. </a:t>
            </a:r>
            <a:r>
              <a:rPr lang="en-US" sz="2400" b="1" i="0" u="none" strike="noStrike" baseline="0" dirty="0">
                <a:latin typeface="Times New Roman" panose="02020603050405020304" pitchFamily="18" charset="0"/>
                <a:cs typeface="Times New Roman" panose="02020603050405020304" pitchFamily="18" charset="0"/>
              </a:rPr>
              <a:t>The Employer will authorize payment only under the following conditions:</a:t>
            </a:r>
            <a:endParaRPr lang="en-US" sz="2400" b="1" i="0" u="sng" strike="noStrike" baseline="0" dirty="0">
              <a:latin typeface="Times New Roman" panose="02020603050405020304" pitchFamily="18" charset="0"/>
              <a:cs typeface="Times New Roman" panose="02020603050405020304" pitchFamily="18" charset="0"/>
            </a:endParaRPr>
          </a:p>
          <a:p>
            <a:pPr marL="457200" indent="-457200" algn="l"/>
            <a:endParaRPr lang="en-US" sz="2000"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The aggrieved and one Union steward — (only</a:t>
            </a:r>
          </a:p>
          <a:p>
            <a:pPr marL="457200" indent="-457200" algn="l"/>
            <a:r>
              <a:rPr lang="en-US" sz="2400" b="1" i="0" u="none" strike="noStrike" baseline="0" dirty="0">
                <a:latin typeface="Times New Roman" panose="02020603050405020304" pitchFamily="18" charset="0"/>
                <a:cs typeface="Times New Roman" panose="02020603050405020304" pitchFamily="18" charset="0"/>
              </a:rPr>
              <a:t>	as permitted under the formula in Section 2.A)</a:t>
            </a:r>
          </a:p>
          <a:p>
            <a:pPr marL="457200" indent="-457200" algn="l"/>
            <a:r>
              <a:rPr lang="en-US" sz="2400" b="1" i="0" u="none" strike="noStrike" baseline="0" dirty="0">
                <a:latin typeface="Times New Roman" panose="02020603050405020304" pitchFamily="18" charset="0"/>
                <a:cs typeface="Times New Roman" panose="02020603050405020304" pitchFamily="18" charset="0"/>
              </a:rPr>
              <a:t>	for time actually spent in grievance handling,</a:t>
            </a:r>
          </a:p>
          <a:p>
            <a:pPr marL="457200" indent="-457200" algn="l"/>
            <a:r>
              <a:rPr lang="en-US" sz="2400" b="1" i="0" u="none" strike="noStrike" baseline="0" dirty="0">
                <a:latin typeface="Times New Roman" panose="02020603050405020304" pitchFamily="18" charset="0"/>
                <a:cs typeface="Times New Roman" panose="02020603050405020304" pitchFamily="18" charset="0"/>
              </a:rPr>
              <a:t>	including investigation and meetings with 	the Employer. </a:t>
            </a:r>
          </a:p>
          <a:p>
            <a:pPr marL="457200" indent="-457200" algn="l"/>
            <a:endParaRPr lang="en-US" sz="2000"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The Employer will also compensate a steward for the time reasonably necessary to write a grievance</a:t>
            </a:r>
            <a:r>
              <a:rPr lang="en-US" sz="2400" b="1" dirty="0">
                <a:latin typeface="Times New Roman" panose="02020603050405020304" pitchFamily="18" charset="0"/>
                <a:cs typeface="Times New Roman" panose="02020603050405020304" pitchFamily="18" charset="0"/>
              </a:rPr>
              <a:t> and </a:t>
            </a:r>
          </a:p>
          <a:p>
            <a:pPr algn="l">
              <a:buClr>
                <a:srgbClr val="3399FF"/>
              </a:buClr>
            </a:pPr>
            <a:r>
              <a:rPr lang="en-US" sz="2400" b="1" i="0" u="none" strike="noStrike" baseline="0" dirty="0">
                <a:latin typeface="Times New Roman" panose="02020603050405020304" pitchFamily="18" charset="0"/>
                <a:cs typeface="Times New Roman" panose="02020603050405020304" pitchFamily="18" charset="0"/>
              </a:rPr>
              <a:t>	Postal witnesses for the time required to attend Step 2 	meetings.</a:t>
            </a:r>
            <a:endParaRPr lang="en-US" sz="800" b="1" u="sng" dirty="0">
              <a:solidFill>
                <a:srgbClr val="FF6699"/>
              </a:solidFill>
              <a:latin typeface="Tahoma" charset="0"/>
            </a:endParaRPr>
          </a:p>
        </p:txBody>
      </p:sp>
    </p:spTree>
    <p:extLst>
      <p:ext uri="{BB962C8B-B14F-4D97-AF65-F5344CB8AC3E}">
        <p14:creationId xmlns:p14="http://schemas.microsoft.com/office/powerpoint/2010/main" val="188961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57200" y="152400"/>
            <a:ext cx="8001000" cy="6632585"/>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PAYMENT OF STEWARDS CONT’D</a:t>
            </a:r>
          </a:p>
          <a:p>
            <a:pPr marL="457200" indent="-457200" algn="l">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300" b="1" i="0" u="none" strike="noStrike" baseline="0" dirty="0">
                <a:latin typeface="Times New Roman" panose="02020603050405020304" pitchFamily="18" charset="0"/>
                <a:cs typeface="Times New Roman" panose="02020603050405020304" pitchFamily="18" charset="0"/>
              </a:rPr>
              <a:t>Stewards will be paid to attend meetings called by the Employer for information exchange and other conditions designated by the Employer concerning contract application.</a:t>
            </a:r>
          </a:p>
          <a:p>
            <a:pPr marL="457200" indent="-457200" algn="l">
              <a:buClr>
                <a:srgbClr val="3399FF"/>
              </a:buClr>
              <a:buFont typeface="Wingdings" panose="05000000000000000000" pitchFamily="2" charset="2"/>
              <a:buChar char="Ø"/>
            </a:pPr>
            <a:endParaRPr lang="en-US" b="1" i="0" u="none" strike="noStrike" baseline="0"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300" b="1" i="0" u="none" strike="noStrike" baseline="0" dirty="0">
                <a:latin typeface="Times New Roman" panose="02020603050405020304" pitchFamily="18" charset="0"/>
                <a:cs typeface="Times New Roman" panose="02020603050405020304" pitchFamily="18" charset="0"/>
              </a:rPr>
              <a:t>Employer authorized payment as outlined will be granted at the applicable straight time rate, providing the time spent is a part of the employee’s or steward’s regular work day.</a:t>
            </a:r>
          </a:p>
          <a:p>
            <a:pPr marL="457200" indent="-457200" algn="l">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300" b="1" i="0" u="none" strike="noStrike" baseline="0" dirty="0">
                <a:latin typeface="Times New Roman" panose="02020603050405020304" pitchFamily="18" charset="0"/>
                <a:cs typeface="Times New Roman" panose="02020603050405020304" pitchFamily="18" charset="0"/>
              </a:rPr>
              <a:t>The payment also shall apply to Postal Support Employees (PSEs).</a:t>
            </a:r>
          </a:p>
          <a:p>
            <a:pPr marL="457200" indent="-457200" algn="l">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300" b="1" i="0" u="none" strike="noStrike" baseline="0" dirty="0">
                <a:latin typeface="Times New Roman" panose="02020603050405020304" pitchFamily="18" charset="0"/>
                <a:cs typeface="Times New Roman" panose="02020603050405020304" pitchFamily="18" charset="0"/>
              </a:rPr>
              <a:t>In addition, the employer will also compensate any witnesses for the time required to attend a Step 2 meeting.</a:t>
            </a:r>
          </a:p>
          <a:p>
            <a:pPr marL="457200" indent="-457200" algn="l">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lgn="l">
              <a:buClr>
                <a:srgbClr val="3399FF"/>
              </a:buClr>
            </a:pPr>
            <a:r>
              <a:rPr lang="en-US" sz="2300" b="1" dirty="0">
                <a:latin typeface="Times New Roman" panose="02020603050405020304" pitchFamily="18" charset="0"/>
                <a:cs typeface="Times New Roman" panose="02020603050405020304" pitchFamily="18" charset="0"/>
              </a:rPr>
              <a:t>NOTE: See CBA, Article 17.4, PAYMENT OF STEWARDS.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533400" y="457200"/>
            <a:ext cx="7772400" cy="5201424"/>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PAYMENT FOR TRAVEL TIME</a:t>
            </a:r>
          </a:p>
          <a:p>
            <a:pPr eaLnBrk="1" hangingPunct="1"/>
            <a:endParaRPr lang="en-US" sz="2000" b="1" dirty="0">
              <a:solidFill>
                <a:schemeClr val="tx2"/>
              </a:solidFill>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Although </a:t>
            </a:r>
            <a:r>
              <a:rPr lang="en-US" sz="2400" b="1" u="sng" dirty="0">
                <a:latin typeface="Times New Roman" panose="02020603050405020304" pitchFamily="18" charset="0"/>
                <a:cs typeface="Times New Roman" panose="02020603050405020304" pitchFamily="18" charset="0"/>
              </a:rPr>
              <a:t>Article 17.4</a:t>
            </a:r>
            <a:r>
              <a:rPr lang="en-US" sz="2400" b="1" dirty="0">
                <a:latin typeface="Times New Roman" panose="02020603050405020304" pitchFamily="18" charset="0"/>
                <a:cs typeface="Times New Roman" panose="02020603050405020304" pitchFamily="18" charset="0"/>
              </a:rPr>
              <a:t> of the CBA provides that the grievant and a steward shall be paid for time actually spent in grievance handling, including meetings with Management, </a:t>
            </a:r>
            <a:r>
              <a:rPr lang="en-US" sz="2400" b="1" u="sng" dirty="0">
                <a:latin typeface="Times New Roman" panose="02020603050405020304" pitchFamily="18" charset="0"/>
                <a:cs typeface="Times New Roman" panose="02020603050405020304" pitchFamily="18" charset="0"/>
              </a:rPr>
              <a:t>there is no contractual requirement to pay travel time</a:t>
            </a:r>
            <a:r>
              <a:rPr lang="en-US" sz="2400" b="1" dirty="0">
                <a:latin typeface="Times New Roman" panose="02020603050405020304" pitchFamily="18" charset="0"/>
                <a:cs typeface="Times New Roman" panose="02020603050405020304" pitchFamily="18" charset="0"/>
              </a:rPr>
              <a:t> or expenses in connection with attendance at a Step 2 meeting. </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Also, a steward who accompanies an employee to a medical facility for a fitness-for-duty examination </a:t>
            </a:r>
            <a:r>
              <a:rPr lang="en-US" sz="2400" b="1" u="sng" dirty="0">
                <a:latin typeface="Times New Roman" panose="02020603050405020304" pitchFamily="18" charset="0"/>
                <a:cs typeface="Times New Roman" panose="02020603050405020304" pitchFamily="18" charset="0"/>
              </a:rPr>
              <a:t>is not entitled to compensation or travel time</a:t>
            </a:r>
            <a:r>
              <a:rPr lang="en-US" sz="2400" b="1" dirty="0">
                <a:latin typeface="Times New Roman" panose="02020603050405020304" pitchFamily="18" charset="0"/>
                <a:cs typeface="Times New Roman" panose="02020603050405020304" pitchFamily="18" charset="0"/>
              </a:rPr>
              <a:t>.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17.4, TRAVEL TIME.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533400" y="405384"/>
            <a:ext cx="7848600" cy="6024726"/>
          </a:xfrm>
          <a:prstGeom prst="rect">
            <a:avLst/>
          </a:prstGeom>
          <a:noFill/>
          <a:ln w="9525">
            <a:noFill/>
            <a:miter lim="800000"/>
            <a:headEnd/>
            <a:tailEnd/>
          </a:ln>
          <a:effectLst/>
        </p:spPr>
        <p:txBody>
          <a:bodyPr wrap="square">
            <a:spAutoFit/>
          </a:bodyPr>
          <a:lstStyle/>
          <a:p>
            <a:pPr algn="ctr" eaLnBrk="1" hangingPunct="1"/>
            <a:r>
              <a:rPr lang="en-US" sz="3000" b="1" u="sng" dirty="0">
                <a:solidFill>
                  <a:srgbClr val="FF6699"/>
                </a:solidFill>
                <a:latin typeface="Tahoma" charset="0"/>
              </a:rPr>
              <a:t>UNION’S RIGHTS TO ENTER </a:t>
            </a:r>
          </a:p>
          <a:p>
            <a:pPr algn="ctr" eaLnBrk="1" hangingPunct="1"/>
            <a:r>
              <a:rPr lang="en-US" sz="3000" b="1" u="sng" dirty="0">
                <a:solidFill>
                  <a:srgbClr val="FF6699"/>
                </a:solidFill>
                <a:latin typeface="Tahoma" charset="0"/>
              </a:rPr>
              <a:t>POSTAL INSTALLATIONS</a:t>
            </a:r>
          </a:p>
          <a:p>
            <a:pPr marL="457200" indent="-457200" eaLnBrk="1" hangingPunct="1">
              <a:buClr>
                <a:srgbClr val="3399FF"/>
              </a:buClr>
              <a:buFont typeface="Wingdings" panose="05000000000000000000" pitchFamily="2" charset="2"/>
              <a:buChar char="Ø"/>
            </a:pPr>
            <a:endParaRPr lang="en-US" sz="2000" b="1" u="sng" dirty="0">
              <a:latin typeface="Times New Roman" panose="02020603050405020304" pitchFamily="18" charset="0"/>
              <a:cs typeface="Times New Roman" panose="02020603050405020304" pitchFamily="18" charset="0"/>
            </a:endParaRPr>
          </a:p>
          <a:p>
            <a:pPr eaLnBrk="1" hangingPunct="1">
              <a:buClr>
                <a:srgbClr val="3399FF"/>
              </a:buClr>
            </a:pPr>
            <a:r>
              <a:rPr lang="en-US" sz="2350" b="1" u="sng" dirty="0">
                <a:latin typeface="Times New Roman" panose="02020603050405020304" pitchFamily="18" charset="0"/>
                <a:cs typeface="Times New Roman" panose="02020603050405020304" pitchFamily="18" charset="0"/>
              </a:rPr>
              <a:t>Article 23</a:t>
            </a:r>
            <a:r>
              <a:rPr lang="en-US" sz="2350" b="1" dirty="0">
                <a:latin typeface="Times New Roman" panose="02020603050405020304" pitchFamily="18" charset="0"/>
                <a:cs typeface="Times New Roman" panose="02020603050405020304" pitchFamily="18" charset="0"/>
              </a:rPr>
              <a:t> of the JCIM establishes the right of APWU officials to enter postal installations for any official purpose related to collective bargaining.  </a:t>
            </a:r>
          </a:p>
          <a:p>
            <a:pPr marL="463550" indent="-463550"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The Union needs to give Management reasonable notice prior to entering a postal facility. Normally, a telephone call to an appropriate Management official is sufficient.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Such representatives </a:t>
            </a:r>
            <a:r>
              <a:rPr lang="en-US" sz="2350" b="1" u="sng" dirty="0">
                <a:latin typeface="Times New Roman" panose="02020603050405020304" pitchFamily="18" charset="0"/>
                <a:cs typeface="Times New Roman" panose="02020603050405020304" pitchFamily="18" charset="0"/>
              </a:rPr>
              <a:t>need not be on the employer's payroll</a:t>
            </a:r>
            <a:r>
              <a:rPr lang="en-US" sz="2350" b="1" dirty="0">
                <a:latin typeface="Times New Roman" panose="02020603050405020304" pitchFamily="18" charset="0"/>
                <a:cs typeface="Times New Roman" panose="02020603050405020304" pitchFamily="18" charset="0"/>
              </a:rPr>
              <a:t> and may include “Safety and Health Experts.”</a:t>
            </a:r>
          </a:p>
          <a:p>
            <a:pPr marL="457200" indent="-457200">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High mail volume on a particular day is not a legitimate reason to prevent Union officials from entering a facility.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609600" y="2590800"/>
            <a:ext cx="7924800" cy="2954655"/>
          </a:xfrm>
          <a:prstGeom prst="rect">
            <a:avLst/>
          </a:prstGeom>
          <a:noFill/>
          <a:ln w="9525">
            <a:noFill/>
            <a:miter lim="800000"/>
            <a:headEnd/>
            <a:tailEnd/>
          </a:ln>
          <a:effectLst/>
        </p:spPr>
        <p:txBody>
          <a:bodyPr wrap="square">
            <a:spAutoFit/>
          </a:bodyPr>
          <a:lstStyle/>
          <a:p>
            <a:pPr eaLnBrk="1" hangingPunct="1"/>
            <a:r>
              <a:rPr lang="en-US" sz="3400" b="1" dirty="0">
                <a:latin typeface="Times New Roman" panose="02020603050405020304" pitchFamily="18" charset="0"/>
                <a:cs typeface="Times New Roman" panose="02020603050405020304" pitchFamily="18" charset="0"/>
              </a:rPr>
              <a:t>DEFINITION:</a:t>
            </a:r>
          </a:p>
          <a:p>
            <a:pPr eaLnBrk="1" hangingPunct="1"/>
            <a:endParaRPr lang="en-US" sz="2400" b="1" dirty="0">
              <a:latin typeface="Times New Roman" panose="02020603050405020304" pitchFamily="18" charset="0"/>
              <a:cs typeface="Times New Roman" panose="02020603050405020304" pitchFamily="18" charset="0"/>
            </a:endParaRPr>
          </a:p>
          <a:p>
            <a:pPr eaLnBrk="1" hangingPunct="1"/>
            <a:r>
              <a:rPr lang="en-US" sz="3200" b="1" dirty="0">
                <a:latin typeface="Times New Roman" panose="02020603050405020304" pitchFamily="18" charset="0"/>
                <a:cs typeface="Times New Roman" panose="02020603050405020304" pitchFamily="18" charset="0"/>
              </a:rPr>
              <a:t>A grievance is defined as a dispute, difference, disagreement or complaint between the parties related to wages, hours and conditions of employment.</a:t>
            </a:r>
          </a:p>
        </p:txBody>
      </p:sp>
      <p:sp>
        <p:nvSpPr>
          <p:cNvPr id="29699" name="Rectangle 5"/>
          <p:cNvSpPr>
            <a:spLocks noChangeArrowheads="1"/>
          </p:cNvSpPr>
          <p:nvPr/>
        </p:nvSpPr>
        <p:spPr bwMode="auto">
          <a:xfrm>
            <a:off x="304800" y="609600"/>
            <a:ext cx="8382000" cy="1219200"/>
          </a:xfrm>
          <a:prstGeom prst="rect">
            <a:avLst/>
          </a:prstGeom>
          <a:noFill/>
          <a:ln w="9525">
            <a:noFill/>
            <a:miter lim="800000"/>
            <a:headEnd/>
            <a:tailEnd/>
          </a:ln>
          <a:effectLst/>
        </p:spPr>
        <p:txBody>
          <a:bodyPr anchor="ctr"/>
          <a:lstStyle/>
          <a:p>
            <a:pPr algn="ctr" eaLnBrk="1" hangingPunct="1"/>
            <a:br>
              <a:rPr lang="en-US" sz="2800" dirty="0"/>
            </a:br>
            <a:r>
              <a:rPr lang="en-US" sz="3200" b="1" u="sng" dirty="0">
                <a:solidFill>
                  <a:srgbClr val="FF6699"/>
                </a:solidFill>
                <a:latin typeface="Tahoma" charset="0"/>
              </a:rPr>
              <a:t>ARTICLE 15 OF THE CBA</a:t>
            </a:r>
            <a:br>
              <a:rPr lang="en-US" sz="3200" b="1" dirty="0">
                <a:solidFill>
                  <a:srgbClr val="FF6699"/>
                </a:solidFill>
                <a:latin typeface="Tahoma" charset="0"/>
              </a:rPr>
            </a:br>
            <a:r>
              <a:rPr lang="en-US" sz="3200" b="1" u="sng" dirty="0">
                <a:solidFill>
                  <a:srgbClr val="FF6699"/>
                </a:solidFill>
                <a:latin typeface="Tahoma" charset="0"/>
              </a:rPr>
              <a:t>GRIEVANCE ARBITRATION </a:t>
            </a:r>
          </a:p>
          <a:p>
            <a:pPr algn="ctr" eaLnBrk="1" hangingPunct="1"/>
            <a:r>
              <a:rPr lang="en-US" sz="3200" b="1" u="sng" dirty="0">
                <a:solidFill>
                  <a:srgbClr val="FF6699"/>
                </a:solidFill>
                <a:latin typeface="Tahoma" charset="0"/>
              </a:rPr>
              <a:t>PROCEDURE</a:t>
            </a:r>
            <a:br>
              <a:rPr lang="en-US" sz="3000" u="sng" dirty="0">
                <a:solidFill>
                  <a:srgbClr val="FF6699"/>
                </a:solidFill>
              </a:rPr>
            </a:br>
            <a:endParaRPr lang="en-US" sz="3000" u="sng" dirty="0">
              <a:solidFill>
                <a:srgbClr val="FF669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533400" y="228600"/>
            <a:ext cx="8382000" cy="6147837"/>
          </a:xfrm>
          <a:prstGeom prst="rect">
            <a:avLst/>
          </a:prstGeom>
          <a:noFill/>
          <a:ln w="9525">
            <a:noFill/>
            <a:miter lim="800000"/>
            <a:headEnd/>
            <a:tailEnd/>
          </a:ln>
          <a:effectLst/>
        </p:spPr>
        <p:txBody>
          <a:bodyPr wrap="square">
            <a:spAutoFit/>
          </a:bodyPr>
          <a:lstStyle/>
          <a:p>
            <a:pPr algn="ctr" eaLnBrk="1" hangingPunct="1">
              <a:buClr>
                <a:srgbClr val="3399FF"/>
              </a:buClr>
            </a:pPr>
            <a:r>
              <a:rPr lang="en-US" sz="3200" b="1" u="sng" dirty="0">
                <a:solidFill>
                  <a:srgbClr val="FF6699"/>
                </a:solidFill>
                <a:effectLst/>
                <a:latin typeface="Tahoma" charset="0"/>
              </a:rPr>
              <a:t>STEP 1- FILING A GRIEVANCE</a:t>
            </a:r>
            <a:endParaRPr lang="en-US" sz="32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350" b="1" dirty="0">
                <a:latin typeface="Times New Roman" panose="02020603050405020304" pitchFamily="18" charset="0"/>
                <a:cs typeface="Times New Roman" panose="02020603050405020304" pitchFamily="18" charset="0"/>
              </a:rPr>
              <a:t>Any employee who feels aggrieved must discuss the</a:t>
            </a:r>
          </a:p>
          <a:p>
            <a:pPr eaLnBrk="1" hangingPunct="1">
              <a:buClr>
                <a:srgbClr val="3399FF"/>
              </a:buClr>
            </a:pPr>
            <a:r>
              <a:rPr lang="en-US" sz="2350" b="1" dirty="0">
                <a:latin typeface="Times New Roman" panose="02020603050405020304" pitchFamily="18" charset="0"/>
                <a:cs typeface="Times New Roman" panose="02020603050405020304" pitchFamily="18" charset="0"/>
              </a:rPr>
              <a:t>grievance </a:t>
            </a:r>
            <a:r>
              <a:rPr lang="en-US" sz="2350" b="1" u="sng" dirty="0">
                <a:latin typeface="Times New Roman" panose="02020603050405020304" pitchFamily="18" charset="0"/>
                <a:cs typeface="Times New Roman" panose="02020603050405020304" pitchFamily="18" charset="0"/>
              </a:rPr>
              <a:t>with the employee’s immediate supervisor</a:t>
            </a:r>
            <a:r>
              <a:rPr lang="en-US" sz="2350" b="1" dirty="0">
                <a:latin typeface="Times New Roman" panose="02020603050405020304" pitchFamily="18" charset="0"/>
                <a:cs typeface="Times New Roman" panose="02020603050405020304" pitchFamily="18" charset="0"/>
              </a:rPr>
              <a:t> within 14 days of the date on which the employee or the Union first learned or may reasonably have been expected to have learned of its cause.</a:t>
            </a:r>
          </a:p>
          <a:p>
            <a:pPr marL="457200" indent="-457200" eaLnBrk="1" hangingPunct="1">
              <a:buClr>
                <a:srgbClr val="3399FF"/>
              </a:buClr>
            </a:pPr>
            <a:endParaRPr lang="en-US"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Identifying the immediate supervisor of an employee, including an employee who is a Union steward, at a particular installation must be determined locally. </a:t>
            </a:r>
            <a:r>
              <a:rPr lang="en-US" sz="2350" b="1" i="1" dirty="0">
                <a:latin typeface="Times New Roman" panose="02020603050405020304" pitchFamily="18" charset="0"/>
                <a:cs typeface="Times New Roman" panose="02020603050405020304" pitchFamily="18" charset="0"/>
              </a:rPr>
              <a:t>The Attendance Control Supervisor may not be the employee’s immediate supervisor</a:t>
            </a:r>
            <a:r>
              <a:rPr lang="en-US" sz="2350" b="1" dirty="0">
                <a:latin typeface="Times New Roman" panose="02020603050405020304" pitchFamily="18" charset="0"/>
                <a:cs typeface="Times New Roman" panose="02020603050405020304" pitchFamily="18" charset="0"/>
              </a:rPr>
              <a:t>.</a:t>
            </a:r>
          </a:p>
          <a:p>
            <a:pPr>
              <a:buClr>
                <a:srgbClr val="3399FF"/>
              </a:buClr>
            </a:pPr>
            <a:endParaRPr lang="en-US" b="1" dirty="0">
              <a:latin typeface="Times New Roman" panose="02020603050405020304" pitchFamily="18" charset="0"/>
              <a:cs typeface="Times New Roman" panose="02020603050405020304" pitchFamily="18" charset="0"/>
            </a:endParaRPr>
          </a:p>
          <a:p>
            <a:pPr>
              <a:buClr>
                <a:srgbClr val="3399FF"/>
              </a:buClr>
            </a:pPr>
            <a:r>
              <a:rPr lang="en-US" sz="2350" b="1" dirty="0">
                <a:latin typeface="Times New Roman" panose="02020603050405020304" pitchFamily="18" charset="0"/>
                <a:cs typeface="Times New Roman" panose="02020603050405020304" pitchFamily="18" charset="0"/>
              </a:rPr>
              <a:t>NOTE: In order to avoid timeliness issues, the Union representative </a:t>
            </a:r>
            <a:r>
              <a:rPr lang="en-US" sz="2350" b="1" u="sng" dirty="0">
                <a:latin typeface="Times New Roman" panose="02020603050405020304" pitchFamily="18" charset="0"/>
                <a:cs typeface="Times New Roman" panose="02020603050405020304" pitchFamily="18" charset="0"/>
              </a:rPr>
              <a:t>should not wait until the last day</a:t>
            </a:r>
            <a:r>
              <a:rPr lang="en-US" sz="2350" b="1" dirty="0">
                <a:latin typeface="Times New Roman" panose="02020603050405020304" pitchFamily="18" charset="0"/>
                <a:cs typeface="Times New Roman" panose="02020603050405020304" pitchFamily="18" charset="0"/>
              </a:rPr>
              <a:t> to appeal the grievance.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F7685EA-3B87-2977-9766-C03AF03B2E0F}"/>
                  </a:ext>
                </a:extLst>
              </p14:cNvPr>
              <p14:cNvContentPartPr/>
              <p14:nvPr/>
            </p14:nvContentPartPr>
            <p14:xfrm>
              <a:off x="2743046" y="6491726"/>
              <a:ext cx="360" cy="360"/>
            </p14:xfrm>
          </p:contentPart>
        </mc:Choice>
        <mc:Fallback xmlns="">
          <p:pic>
            <p:nvPicPr>
              <p:cNvPr id="2" name="Ink 1">
                <a:extLst>
                  <a:ext uri="{FF2B5EF4-FFF2-40B4-BE49-F238E27FC236}">
                    <a16:creationId xmlns:a16="http://schemas.microsoft.com/office/drawing/2014/main" id="{3F7685EA-3B87-2977-9766-C03AF03B2E0F}"/>
                  </a:ext>
                </a:extLst>
              </p:cNvPr>
              <p:cNvPicPr/>
              <p:nvPr/>
            </p:nvPicPr>
            <p:blipFill>
              <a:blip r:embed="rId3"/>
              <a:stretch>
                <a:fillRect/>
              </a:stretch>
            </p:blipFill>
            <p:spPr>
              <a:xfrm>
                <a:off x="2734406" y="64830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49A0FB9-A458-0E85-A846-7A9181C6DE43}"/>
                  </a:ext>
                </a:extLst>
              </p14:cNvPr>
              <p14:cNvContentPartPr/>
              <p14:nvPr/>
            </p14:nvContentPartPr>
            <p14:xfrm>
              <a:off x="2389886" y="6635726"/>
              <a:ext cx="360" cy="360"/>
            </p14:xfrm>
          </p:contentPart>
        </mc:Choice>
        <mc:Fallback xmlns="">
          <p:pic>
            <p:nvPicPr>
              <p:cNvPr id="3" name="Ink 2">
                <a:extLst>
                  <a:ext uri="{FF2B5EF4-FFF2-40B4-BE49-F238E27FC236}">
                    <a16:creationId xmlns:a16="http://schemas.microsoft.com/office/drawing/2014/main" id="{149A0FB9-A458-0E85-A846-7A9181C6DE43}"/>
                  </a:ext>
                </a:extLst>
              </p:cNvPr>
              <p:cNvPicPr/>
              <p:nvPr/>
            </p:nvPicPr>
            <p:blipFill>
              <a:blip r:embed="rId3"/>
              <a:stretch>
                <a:fillRect/>
              </a:stretch>
            </p:blipFill>
            <p:spPr>
              <a:xfrm>
                <a:off x="2380886" y="6626726"/>
                <a:ext cx="18000" cy="1800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68A5-BB99-90F5-1889-F69443A38E42}"/>
              </a:ext>
            </a:extLst>
          </p:cNvPr>
          <p:cNvSpPr>
            <a:spLocks noGrp="1"/>
          </p:cNvSpPr>
          <p:nvPr>
            <p:ph type="title"/>
          </p:nvPr>
        </p:nvSpPr>
        <p:spPr>
          <a:xfrm>
            <a:off x="685800" y="457200"/>
            <a:ext cx="7315200" cy="838200"/>
          </a:xfrm>
        </p:spPr>
        <p:txBody>
          <a:bodyPr>
            <a:normAutofit fontScale="90000"/>
          </a:bodyPr>
          <a:lstStyle/>
          <a:p>
            <a:pPr algn="ctr"/>
            <a:r>
              <a:rPr lang="en-US" dirty="0">
                <a:solidFill>
                  <a:srgbClr val="FF0000"/>
                </a:solidFill>
              </a:rPr>
              <a:t> </a:t>
            </a:r>
            <a:r>
              <a:rPr lang="en-US" b="1" u="sng" dirty="0">
                <a:solidFill>
                  <a:srgbClr val="FF3399"/>
                </a:solidFill>
                <a:latin typeface="Tahoma" panose="020B0604030504040204" pitchFamily="34" charset="0"/>
                <a:ea typeface="Tahoma" panose="020B0604030504040204" pitchFamily="34" charset="0"/>
                <a:cs typeface="Tahoma" panose="020B0604030504040204" pitchFamily="34" charset="0"/>
              </a:rPr>
              <a:t>KEEPING TRACK OF TIME LIMITS</a:t>
            </a:r>
            <a:br>
              <a:rPr lang="en-US" b="1" dirty="0">
                <a:solidFill>
                  <a:srgbClr val="FF3399"/>
                </a:solidFill>
                <a:latin typeface="Tahoma" panose="020B0604030504040204" pitchFamily="34" charset="0"/>
                <a:ea typeface="Tahoma" panose="020B0604030504040204" pitchFamily="34" charset="0"/>
                <a:cs typeface="Tahoma" panose="020B0604030504040204" pitchFamily="34" charset="0"/>
              </a:rPr>
            </a:br>
            <a:br>
              <a:rPr lang="en-US" sz="2600" b="1" dirty="0">
                <a:solidFill>
                  <a:schemeClr val="tx1"/>
                </a:solidFill>
                <a:latin typeface="Times New Roman" panose="02020603050405020304" pitchFamily="18" charset="0"/>
                <a:cs typeface="Times New Roman" panose="02020603050405020304" pitchFamily="18" charset="0"/>
              </a:rPr>
            </a:br>
            <a:br>
              <a:rPr lang="en-US" sz="2600" b="1" dirty="0">
                <a:solidFill>
                  <a:schemeClr val="tx1"/>
                </a:solidFill>
                <a:latin typeface="Times New Roman" panose="02020603050405020304" pitchFamily="18" charset="0"/>
                <a:cs typeface="Times New Roman" panose="02020603050405020304" pitchFamily="18" charset="0"/>
              </a:rPr>
            </a:br>
            <a:r>
              <a:rPr lang="en-US" sz="2600" b="1" dirty="0">
                <a:solidFill>
                  <a:schemeClr val="tx1"/>
                </a:solidFill>
                <a:latin typeface="Times New Roman" panose="02020603050405020304" pitchFamily="18" charset="0"/>
                <a:cs typeface="Times New Roman" panose="02020603050405020304" pitchFamily="18" charset="0"/>
              </a:rPr>
              <a:t>Keeping track of time limit is critical to a successful</a:t>
            </a:r>
            <a:br>
              <a:rPr lang="en-US" sz="2600" b="1" dirty="0">
                <a:solidFill>
                  <a:schemeClr val="tx1"/>
                </a:solidFill>
                <a:latin typeface="Times New Roman" panose="02020603050405020304" pitchFamily="18" charset="0"/>
                <a:cs typeface="Times New Roman" panose="02020603050405020304" pitchFamily="18" charset="0"/>
              </a:rPr>
            </a:br>
            <a:r>
              <a:rPr lang="en-US" sz="2600" b="1" dirty="0">
                <a:solidFill>
                  <a:schemeClr val="tx1"/>
                </a:solidFill>
                <a:latin typeface="Times New Roman" panose="02020603050405020304" pitchFamily="18" charset="0"/>
                <a:cs typeface="Times New Roman" panose="02020603050405020304" pitchFamily="18" charset="0"/>
              </a:rPr>
              <a:t>grievance.  An untimely grievance jeopardizes your ability to have the grievance at arbitration.</a:t>
            </a:r>
            <a:br>
              <a:rPr lang="en-US" sz="2600" b="1" dirty="0">
                <a:solidFill>
                  <a:schemeClr val="tx1"/>
                </a:solidFill>
                <a:latin typeface="Times New Roman" panose="02020603050405020304" pitchFamily="18" charset="0"/>
                <a:cs typeface="Times New Roman" panose="02020603050405020304" pitchFamily="18" charset="0"/>
              </a:rPr>
            </a:br>
            <a:br>
              <a:rPr lang="en-US" sz="2600" b="1" dirty="0">
                <a:solidFill>
                  <a:schemeClr val="tx1"/>
                </a:solidFill>
                <a:latin typeface="Times New Roman" panose="02020603050405020304" pitchFamily="18" charset="0"/>
                <a:cs typeface="Times New Roman" panose="02020603050405020304" pitchFamily="18" charset="0"/>
              </a:rPr>
            </a:br>
            <a:r>
              <a:rPr lang="en-US" sz="2600" b="1" dirty="0">
                <a:solidFill>
                  <a:schemeClr val="tx1"/>
                </a:solidFill>
                <a:latin typeface="Times New Roman" panose="02020603050405020304" pitchFamily="18" charset="0"/>
                <a:cs typeface="Times New Roman" panose="02020603050405020304" pitchFamily="18" charset="0"/>
              </a:rPr>
              <a:t>DON’T LET YOUR GRIEVANCE GO UNTIMELY!</a:t>
            </a:r>
            <a:br>
              <a:rPr lang="en-US" sz="2600" b="1" dirty="0">
                <a:solidFill>
                  <a:schemeClr val="tx1"/>
                </a:solidFill>
                <a:latin typeface="Times New Roman" panose="02020603050405020304" pitchFamily="18" charset="0"/>
                <a:cs typeface="Times New Roman" panose="02020603050405020304" pitchFamily="18" charset="0"/>
              </a:rPr>
            </a:br>
            <a:br>
              <a:rPr lang="en-US" sz="2600" b="1"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sz="2700" b="1" dirty="0">
                <a:solidFill>
                  <a:srgbClr val="0033CC"/>
                </a:solidFill>
                <a:latin typeface="Times New Roman" panose="02020603050405020304" pitchFamily="18" charset="0"/>
                <a:cs typeface="Times New Roman" panose="02020603050405020304" pitchFamily="18" charset="0"/>
              </a:rPr>
              <a:t>      </a:t>
            </a:r>
            <a:r>
              <a:rPr lang="en-US" sz="27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GRIEVANCE CHRONOLOGY SHEET.pdf</a:t>
            </a:r>
            <a:endParaRPr lang="en-US" sz="2700" b="1" u="sng"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1988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p:cNvSpPr>
            <a:spLocks noChangeArrowheads="1"/>
          </p:cNvSpPr>
          <p:nvPr/>
        </p:nvSpPr>
        <p:spPr bwMode="auto">
          <a:xfrm>
            <a:off x="685800" y="228600"/>
            <a:ext cx="78486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buClr>
                <a:srgbClr val="3399FF"/>
              </a:buClr>
            </a:pPr>
            <a:r>
              <a:rPr lang="en-US" sz="3000" b="1" u="sng" dirty="0">
                <a:solidFill>
                  <a:srgbClr val="FF6699"/>
                </a:solidFill>
                <a:effectLst/>
                <a:latin typeface="Tahoma" charset="0"/>
              </a:rPr>
              <a:t>STEP 1- FILING A GRIEVANCE </a:t>
            </a:r>
            <a:r>
              <a:rPr lang="en-US" sz="3000" b="1" u="sng" dirty="0">
                <a:solidFill>
                  <a:srgbClr val="FF6699"/>
                </a:solidFill>
                <a:latin typeface="Tahoma" charset="0"/>
              </a:rPr>
              <a:t>CONT’D </a:t>
            </a:r>
            <a:endParaRPr lang="en-US" sz="3000" b="1" dirty="0">
              <a:latin typeface="Times New Roman" panose="02020603050405020304" pitchFamily="18" charset="0"/>
              <a:cs typeface="Times New Roman" panose="02020603050405020304" pitchFamily="18" charset="0"/>
            </a:endParaRPr>
          </a:p>
          <a:p>
            <a:pPr marL="457200" indent="-457200" eaLnBrk="1" hangingPunct="1">
              <a:buClr>
                <a:schemeClr val="hlink"/>
              </a:buClr>
              <a:buFont typeface="Wingdings" panose="05000000000000000000" pitchFamily="2" charset="2"/>
              <a:buChar char="Ø"/>
              <a:defRPr/>
            </a:pPr>
            <a:endParaRPr lang="en-US" sz="2000" b="1" dirty="0">
              <a:latin typeface="Times New Roman" panose="02020603050405020304" pitchFamily="18" charset="0"/>
              <a:cs typeface="Times New Roman" panose="02020603050405020304" pitchFamily="18" charset="0"/>
            </a:endParaRPr>
          </a:p>
          <a:p>
            <a:pPr marL="457200" indent="-457200" eaLnBrk="1" hangingPunct="1">
              <a:lnSpc>
                <a:spcPct val="95000"/>
              </a:lnSpc>
              <a:buClr>
                <a:schemeClr val="hlink"/>
              </a:buClr>
              <a:buFont typeface="Wingdings" panose="05000000000000000000" pitchFamily="2" charset="2"/>
              <a:buChar char="Ø"/>
              <a:defRPr/>
            </a:pPr>
            <a:r>
              <a:rPr lang="en-US" sz="2350" b="1" dirty="0">
                <a:latin typeface="Times New Roman" panose="02020603050405020304" pitchFamily="18" charset="0"/>
                <a:cs typeface="Times New Roman" panose="02020603050405020304" pitchFamily="18" charset="0"/>
              </a:rPr>
              <a:t>If the employee files his/her own grievance, the grievant may be accompanied and represented by a Union representative. </a:t>
            </a:r>
          </a:p>
          <a:p>
            <a:pPr marL="457200" indent="-457200" eaLnBrk="1" hangingPunct="1">
              <a:lnSpc>
                <a:spcPct val="95000"/>
              </a:lnSpc>
              <a:buClr>
                <a:schemeClr val="hlink"/>
              </a:buClr>
              <a:buFont typeface="Wingdings" pitchFamily="2" charset="2"/>
              <a:buNone/>
              <a:defRPr/>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5000"/>
              </a:lnSpc>
              <a:buClr>
                <a:schemeClr val="hlink"/>
              </a:buClr>
              <a:buFont typeface="Wingdings" panose="05000000000000000000" pitchFamily="2" charset="2"/>
              <a:buChar char="Ø"/>
              <a:defRPr/>
            </a:pPr>
            <a:r>
              <a:rPr lang="en-US" sz="2350" b="1" dirty="0">
                <a:latin typeface="Times New Roman" panose="02020603050405020304" pitchFamily="18" charset="0"/>
                <a:cs typeface="Times New Roman" panose="02020603050405020304" pitchFamily="18" charset="0"/>
              </a:rPr>
              <a:t>If the Union initiates a grievance on behalf of an individual, the individual grievant’s participation </a:t>
            </a:r>
          </a:p>
          <a:p>
            <a:pPr marL="457200" indent="-457200" eaLnBrk="1" hangingPunct="1">
              <a:lnSpc>
                <a:spcPct val="95000"/>
              </a:lnSpc>
              <a:buClr>
                <a:schemeClr val="hlink"/>
              </a:buClr>
              <a:defRPr/>
            </a:pPr>
            <a:r>
              <a:rPr lang="en-US" sz="2350" b="1" dirty="0">
                <a:latin typeface="Times New Roman" panose="02020603050405020304" pitchFamily="18" charset="0"/>
                <a:cs typeface="Times New Roman" panose="02020603050405020304" pitchFamily="18" charset="0"/>
              </a:rPr>
              <a:t>	in a Step 1 meeting is at the option of the Union.</a:t>
            </a:r>
          </a:p>
          <a:p>
            <a:pPr marL="457200" indent="-457200" eaLnBrk="1" hangingPunct="1">
              <a:lnSpc>
                <a:spcPct val="95000"/>
              </a:lnSpc>
              <a:buClr>
                <a:schemeClr val="hlink"/>
              </a:buClr>
              <a:defRPr/>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Should the grievance affect more than one employee </a:t>
            </a:r>
          </a:p>
          <a:p>
            <a:pPr marL="457200" indent="-457200">
              <a:lnSpc>
                <a:spcPct val="95000"/>
              </a:lnSpc>
              <a:buClr>
                <a:srgbClr val="3399FF"/>
              </a:buClr>
            </a:pPr>
            <a:r>
              <a:rPr lang="en-US" sz="2350" b="1" dirty="0">
                <a:latin typeface="Times New Roman" panose="02020603050405020304" pitchFamily="18" charset="0"/>
                <a:cs typeface="Times New Roman" panose="02020603050405020304" pitchFamily="18" charset="0"/>
              </a:rPr>
              <a:t>	in the office, the Union may initiate a </a:t>
            </a:r>
            <a:r>
              <a:rPr lang="en-US" sz="2350" b="1" u="sng" dirty="0">
                <a:latin typeface="Times New Roman" panose="02020603050405020304" pitchFamily="18" charset="0"/>
                <a:cs typeface="Times New Roman" panose="02020603050405020304" pitchFamily="18" charset="0"/>
              </a:rPr>
              <a:t>class action grievance</a:t>
            </a:r>
            <a:r>
              <a:rPr lang="en-US" sz="2350" b="1" dirty="0">
                <a:latin typeface="Times New Roman" panose="02020603050405020304" pitchFamily="18" charset="0"/>
                <a:cs typeface="Times New Roman" panose="02020603050405020304" pitchFamily="18" charset="0"/>
              </a:rPr>
              <a:t> on behalf of all affected employees and Management is obligated to designate an appropriate employer representative.</a:t>
            </a:r>
          </a:p>
          <a:p>
            <a:pPr marL="457200" indent="-457200">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50" b="1" dirty="0">
                <a:latin typeface="Times New Roman" panose="02020603050405020304" pitchFamily="18" charset="0"/>
                <a:cs typeface="Times New Roman" panose="02020603050405020304" pitchFamily="18" charset="0"/>
              </a:rPr>
              <a:t>NOTE: See JCIM, Article 15.2, STEP 1 WITHOUT UNION REPRESENTATION.</a:t>
            </a:r>
          </a:p>
          <a:p>
            <a:pPr>
              <a:lnSpc>
                <a:spcPct val="95000"/>
              </a:lnSpc>
              <a:buClr>
                <a:srgbClr val="3399FF"/>
              </a:buClr>
            </a:pPr>
            <a:r>
              <a:rPr lang="en-US" sz="2350" b="1"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533400" y="304800"/>
            <a:ext cx="7924800" cy="5847755"/>
          </a:xfrm>
          <a:prstGeom prst="rect">
            <a:avLst/>
          </a:prstGeom>
          <a:noFill/>
          <a:ln w="9525">
            <a:noFill/>
            <a:miter lim="800000"/>
            <a:headEnd/>
            <a:tailEnd/>
          </a:ln>
          <a:effectLst/>
        </p:spPr>
        <p:txBody>
          <a:bodyPr wrap="square">
            <a:spAutoFit/>
          </a:bodyPr>
          <a:lstStyle/>
          <a:p>
            <a:pPr algn="ctr" eaLnBrk="1" hangingPunct="1">
              <a:buClr>
                <a:srgbClr val="3399FF"/>
              </a:buClr>
            </a:pPr>
            <a:r>
              <a:rPr lang="en-US" sz="3000" b="1" u="sng" dirty="0">
                <a:solidFill>
                  <a:srgbClr val="FF6699"/>
                </a:solidFill>
                <a:effectLst/>
                <a:latin typeface="Tahoma" charset="0"/>
              </a:rPr>
              <a:t>STEP 1- FILING A GRIEVANCE </a:t>
            </a:r>
            <a:r>
              <a:rPr lang="en-US" sz="3000" b="1" u="sng" dirty="0">
                <a:solidFill>
                  <a:srgbClr val="FF6699"/>
                </a:solidFill>
                <a:latin typeface="Tahoma" charset="0"/>
              </a:rPr>
              <a:t>CONT’D </a:t>
            </a:r>
            <a:endParaRPr lang="en-US" sz="3000" b="1" dirty="0">
              <a:latin typeface="Times New Roman" panose="02020603050405020304" pitchFamily="18" charset="0"/>
              <a:cs typeface="Times New Roman" panose="02020603050405020304" pitchFamily="18" charset="0"/>
            </a:endParaRPr>
          </a:p>
          <a:p>
            <a:pPr marL="342900" indent="-3429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Anytime the Union representative does not meet with Management at Step 1 within 14 days from the date of the incident, he/she must either appeal it to Step 2 or get a </a:t>
            </a:r>
            <a:r>
              <a:rPr lang="en-US" sz="2400" b="1" u="sng" dirty="0">
                <a:latin typeface="Times New Roman" panose="02020603050405020304" pitchFamily="18" charset="0"/>
                <a:cs typeface="Times New Roman" panose="02020603050405020304" pitchFamily="18" charset="0"/>
              </a:rPr>
              <a:t>Written, Dated and Signed Extension.</a:t>
            </a:r>
          </a:p>
          <a:p>
            <a:pPr marL="457200" indent="-457200" eaLnBrk="1" hangingPunct="1">
              <a:buClr>
                <a:srgbClr val="3399FF"/>
              </a:buClr>
              <a:buFont typeface="Wingdings" panose="05000000000000000000" pitchFamily="2" charset="2"/>
              <a:buChar char="Ø"/>
            </a:pPr>
            <a:endParaRPr lang="en-US" sz="2000" b="1" u="sng"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NEVER AGREE TO A VERBAL EXTENSION!</a:t>
            </a:r>
          </a:p>
          <a:p>
            <a:pPr marL="457200" indent="-457200">
              <a:buClr>
                <a:srgbClr val="3399FF"/>
              </a:buClr>
              <a:buFont typeface="Wingdings" panose="05000000000000000000" pitchFamily="2" charset="2"/>
              <a:buChar char="Ø"/>
            </a:pPr>
            <a:endParaRPr lang="en-US" sz="2000" b="1"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45720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Utilize the Extending Time Limits Request Form below.</a:t>
            </a:r>
          </a:p>
          <a:p>
            <a:pPr>
              <a:buClr>
                <a:srgbClr val="3399FF"/>
              </a:buClr>
            </a:pPr>
            <a:endParaRPr lang="en-US" sz="2000" b="1" dirty="0">
              <a:latin typeface="Times New Roman" panose="02020603050405020304" pitchFamily="18" charset="0"/>
              <a:cs typeface="Times New Roman" panose="02020603050405020304" pitchFamily="18" charset="0"/>
            </a:endParaRPr>
          </a:p>
          <a:p>
            <a:pPr algn="ctr">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EXTENDING TIME LIMITS REQUEST FORM.pdf</a:t>
            </a:r>
            <a:endParaRPr lang="en-US" sz="2400" b="1" dirty="0">
              <a:solidFill>
                <a:srgbClr val="0033CC"/>
              </a:solidFill>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NOTE: If emailing a request for an extension, insure that Management emails you approval for the extension. Print out the copies and include them in the grievance file.</a:t>
            </a:r>
            <a:endParaRPr lang="en-US" sz="2400" b="1" u="sng"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E0BB5C-D2A6-4D68-B633-8ABE96143A3A}"/>
              </a:ext>
            </a:extLst>
          </p:cNvPr>
          <p:cNvSpPr txBox="1"/>
          <p:nvPr/>
        </p:nvSpPr>
        <p:spPr>
          <a:xfrm>
            <a:off x="533400" y="228600"/>
            <a:ext cx="8153400" cy="6483121"/>
          </a:xfrm>
          <a:prstGeom prst="rect">
            <a:avLst/>
          </a:prstGeom>
          <a:noFill/>
        </p:spPr>
        <p:txBody>
          <a:bodyPr wrap="square">
            <a:spAutoFit/>
          </a:bodyPr>
          <a:lstStyle/>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CHECKLIST FOR FILING </a:t>
            </a:r>
          </a:p>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STEP 1 GRIEVANCES</a:t>
            </a:r>
          </a:p>
          <a:p>
            <a:pPr marL="342900" indent="-342900" algn="l">
              <a:buFont typeface="Wingdings" panose="05000000000000000000" pitchFamily="2" charset="2"/>
              <a:buChar char="ü"/>
            </a:pPr>
            <a:endParaRPr lang="en-US" sz="800" b="1" dirty="0">
              <a:latin typeface="Times New Roman" panose="02020603050405020304" pitchFamily="18" charset="0"/>
            </a:endParaRPr>
          </a:p>
          <a:p>
            <a:pPr algn="l"/>
            <a:r>
              <a:rPr lang="en-US" sz="2400" b="1" i="0" u="none" strike="noStrike" baseline="0" dirty="0">
                <a:latin typeface="Times New Roman" panose="02020603050405020304" pitchFamily="18" charset="0"/>
                <a:cs typeface="Times New Roman" panose="02020603050405020304" pitchFamily="18" charset="0"/>
              </a:rPr>
              <a:t>Prior to filing the Step 1 Grievance, the steward should ensure that the six questions listed below are answered.</a:t>
            </a:r>
          </a:p>
          <a:p>
            <a:pPr algn="l"/>
            <a:r>
              <a:rPr lang="en-US" sz="800" b="1" i="0" u="none" strike="noStrike" baseline="0" dirty="0">
                <a:latin typeface="Times New Roman" panose="02020603050405020304" pitchFamily="18" charset="0"/>
                <a:cs typeface="Times New Roman" panose="02020603050405020304" pitchFamily="18" charset="0"/>
              </a:rPr>
              <a:t> </a:t>
            </a:r>
          </a:p>
          <a:p>
            <a:pPr marL="457200" indent="-457200" algn="l">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Who was involved?</a:t>
            </a:r>
          </a:p>
          <a:p>
            <a:pPr marL="457200" indent="-457200" algn="l">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What happened?</a:t>
            </a:r>
          </a:p>
          <a:p>
            <a:pPr marL="457200" indent="-457200" algn="l">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When did the incident or violation occur?</a:t>
            </a:r>
          </a:p>
          <a:p>
            <a:pPr marL="457200" indent="-457200">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Where did the incident or violation occur?</a:t>
            </a:r>
          </a:p>
          <a:p>
            <a:pPr marL="457200" indent="-457200" algn="l">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Why is it a violation of the contract (Article(s) violated)?</a:t>
            </a:r>
          </a:p>
          <a:p>
            <a:pPr marL="457200" indent="-457200" algn="l">
              <a:lnSpc>
                <a:spcPct val="150000"/>
              </a:lnSpc>
              <a:buClr>
                <a:srgbClr val="3399FF"/>
              </a:buClr>
              <a:buFont typeface="Wingdings" panose="05000000000000000000" pitchFamily="2" charset="2"/>
              <a:buChar char="ü"/>
            </a:pPr>
            <a:r>
              <a:rPr lang="en-US" sz="2400" b="1" i="0" u="none" strike="noStrike" baseline="0" dirty="0">
                <a:latin typeface="Times New Roman" panose="02020603050405020304" pitchFamily="18" charset="0"/>
                <a:cs typeface="Times New Roman" panose="02020603050405020304" pitchFamily="18" charset="0"/>
              </a:rPr>
              <a:t>How can the grievance be resolved? (Remedy to Request).</a:t>
            </a:r>
          </a:p>
          <a:p>
            <a:pPr algn="ctr">
              <a:lnSpc>
                <a:spcPct val="170000"/>
              </a:lnSpc>
              <a:buClr>
                <a:srgbClr val="3399FF"/>
              </a:buClr>
            </a:pPr>
            <a:r>
              <a:rPr lang="en-US" sz="2400" b="1" i="0" u="none" strike="noStrike" baseline="0"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STEP 1 GRIEVANCE OUTLINE WORKSHEET</a:t>
            </a:r>
            <a:r>
              <a:rPr lang="en-US" sz="2400" b="1" i="0" u="none" strike="noStrike" baseline="0" dirty="0">
                <a:solidFill>
                  <a:srgbClr val="3FCDE7"/>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.pdf</a:t>
            </a:r>
            <a:endParaRPr lang="en-US" sz="2400" b="1"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8159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609600" y="304800"/>
            <a:ext cx="7772400" cy="6251711"/>
          </a:xfrm>
          <a:prstGeom prst="rect">
            <a:avLst/>
          </a:prstGeom>
          <a:noFill/>
          <a:ln w="9525">
            <a:noFill/>
            <a:miter lim="800000"/>
            <a:headEnd/>
            <a:tailEnd/>
          </a:ln>
          <a:effectLst/>
        </p:spPr>
        <p:txBody>
          <a:bodyPr wrap="square">
            <a:spAutoFit/>
          </a:bodyPr>
          <a:lstStyle/>
          <a:p>
            <a:pPr algn="ctr" eaLnBrk="1" hangingPunct="1">
              <a:lnSpc>
                <a:spcPct val="90000"/>
              </a:lnSpc>
              <a:buClr>
                <a:srgbClr val="3399FF"/>
              </a:buClr>
            </a:pPr>
            <a:r>
              <a:rPr lang="en-US" sz="3200" b="1" u="sng" dirty="0">
                <a:solidFill>
                  <a:srgbClr val="FF6699"/>
                </a:solidFill>
                <a:latin typeface="Tahoma" charset="0"/>
              </a:rPr>
              <a:t>THE STEP 1 - MEETING</a:t>
            </a:r>
            <a:endParaRPr lang="en-US" sz="3200" b="1" dirty="0">
              <a:latin typeface="Times New Roman" panose="02020603050405020304" pitchFamily="18" charset="0"/>
              <a:cs typeface="Times New Roman" panose="02020603050405020304" pitchFamily="18" charset="0"/>
            </a:endParaRPr>
          </a:p>
          <a:p>
            <a:pPr eaLnBrk="1" hangingPunct="1">
              <a:lnSpc>
                <a:spcPct val="95000"/>
              </a:lnSpc>
              <a:buClr>
                <a:srgbClr val="3399FF"/>
              </a:buClr>
            </a:pPr>
            <a:endParaRPr lang="en-US" sz="2000"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00" b="1" dirty="0">
                <a:latin typeface="Times New Roman" panose="02020603050405020304" pitchFamily="18" charset="0"/>
                <a:cs typeface="Times New Roman" panose="02020603050405020304" pitchFamily="18" charset="0"/>
              </a:rPr>
              <a:t>The intent of the parties is to resolve cases at the lowest possible level. </a:t>
            </a:r>
          </a:p>
          <a:p>
            <a:pPr>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5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Normally, the parties will meet on Step 1 grievances </a:t>
            </a:r>
          </a:p>
          <a:p>
            <a:pPr marL="457200" indent="-457200" eaLnBrk="1" hangingPunct="1">
              <a:lnSpc>
                <a:spcPct val="95000"/>
              </a:lnSpc>
              <a:buClr>
                <a:srgbClr val="3399FF"/>
              </a:buClr>
            </a:pPr>
            <a:r>
              <a:rPr lang="en-US" sz="2300" b="1" dirty="0">
                <a:latin typeface="Times New Roman" panose="02020603050405020304" pitchFamily="18" charset="0"/>
                <a:cs typeface="Times New Roman" panose="02020603050405020304" pitchFamily="18" charset="0"/>
              </a:rPr>
              <a:t>	in person.  However, in unusual circumstances, a Step 1 grievance may be done by telephone</a:t>
            </a:r>
            <a:r>
              <a:rPr lang="en-US" sz="2300" dirty="0">
                <a:latin typeface="Times New Roman" panose="02020603050405020304" pitchFamily="18" charset="0"/>
                <a:cs typeface="Times New Roman" panose="02020603050405020304" pitchFamily="18" charset="0"/>
              </a:rPr>
              <a:t>. </a:t>
            </a:r>
          </a:p>
          <a:p>
            <a:pPr eaLnBrk="1" hangingPunct="1">
              <a:lnSpc>
                <a:spcPct val="95000"/>
              </a:lnSpc>
              <a:buClr>
                <a:srgbClr val="3399FF"/>
              </a:buClr>
            </a:pPr>
            <a:endParaRPr lang="en-US"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00" b="1" u="sng" dirty="0">
                <a:latin typeface="Times New Roman" panose="02020603050405020304" pitchFamily="18" charset="0"/>
                <a:cs typeface="Times New Roman" panose="02020603050405020304" pitchFamily="18" charset="0"/>
              </a:rPr>
              <a:t>Article 15.2, Step 1(b)</a:t>
            </a:r>
            <a:r>
              <a:rPr lang="en-US" sz="2300" b="1" dirty="0">
                <a:latin typeface="Times New Roman" panose="02020603050405020304" pitchFamily="18" charset="0"/>
                <a:cs typeface="Times New Roman" panose="02020603050405020304" pitchFamily="18" charset="0"/>
              </a:rPr>
              <a:t> of the CBA, gives the Step 1 representative the authority to resolve grievances. The Union representative has the authority to settle, modify and/or withdraw grievances in whole or in part. </a:t>
            </a:r>
          </a:p>
          <a:p>
            <a:pPr>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00" b="1" dirty="0">
                <a:latin typeface="Times New Roman" panose="02020603050405020304" pitchFamily="18" charset="0"/>
                <a:cs typeface="Times New Roman" panose="02020603050405020304" pitchFamily="18" charset="0"/>
              </a:rPr>
              <a:t>NOTE: If the Step 1 grievance is resolved,  the resolution of the grievance </a:t>
            </a:r>
            <a:r>
              <a:rPr lang="en-US" sz="2300" b="1" u="sng" dirty="0">
                <a:latin typeface="Times New Roman" panose="02020603050405020304" pitchFamily="18" charset="0"/>
                <a:cs typeface="Times New Roman" panose="02020603050405020304" pitchFamily="18" charset="0"/>
              </a:rPr>
              <a:t>should always</a:t>
            </a:r>
            <a:r>
              <a:rPr lang="en-US" sz="2300" b="1" dirty="0">
                <a:latin typeface="Times New Roman" panose="02020603050405020304" pitchFamily="18" charset="0"/>
                <a:cs typeface="Times New Roman" panose="02020603050405020304" pitchFamily="18" charset="0"/>
              </a:rPr>
              <a:t> be in writing and dated and signed by Management.  </a:t>
            </a:r>
          </a:p>
          <a:p>
            <a:pPr>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algn="ctr">
              <a:lnSpc>
                <a:spcPct val="95000"/>
              </a:lnSpc>
              <a:buClr>
                <a:srgbClr val="3399FF"/>
              </a:buClr>
            </a:pPr>
            <a:r>
              <a:rPr lang="en-US" sz="23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SETTLEMENT IMPLEMENTATION FORM.pdf</a:t>
            </a:r>
            <a:endParaRPr lang="en-US" sz="2300" b="1" dirty="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ChangeArrowheads="1"/>
          </p:cNvSpPr>
          <p:nvPr/>
        </p:nvSpPr>
        <p:spPr bwMode="auto">
          <a:xfrm>
            <a:off x="685800" y="152400"/>
            <a:ext cx="7772400" cy="6724148"/>
          </a:xfrm>
          <a:prstGeom prst="rect">
            <a:avLst/>
          </a:prstGeom>
          <a:noFill/>
          <a:ln w="9525">
            <a:noFill/>
            <a:miter lim="800000"/>
            <a:headEnd/>
            <a:tailEnd/>
          </a:ln>
          <a:effectLst/>
        </p:spPr>
        <p:txBody>
          <a:bodyPr wrap="square">
            <a:spAutoFit/>
          </a:bodyPr>
          <a:lstStyle/>
          <a:p>
            <a:pPr algn="ctr" eaLnBrk="1" hangingPunct="1">
              <a:buClr>
                <a:srgbClr val="3399FF"/>
              </a:buClr>
            </a:pPr>
            <a:r>
              <a:rPr lang="en-US" sz="3200" b="1" u="sng" dirty="0">
                <a:solidFill>
                  <a:srgbClr val="FF6699"/>
                </a:solidFill>
                <a:effectLst/>
                <a:latin typeface="Tahoma" charset="0"/>
              </a:rPr>
              <a:t>DENIAL - STEP 1</a:t>
            </a:r>
            <a:endParaRPr lang="en-US" sz="32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eaLnBrk="1" hangingPunct="1">
              <a:lnSpc>
                <a:spcPct val="95000"/>
              </a:lnSpc>
              <a:buClr>
                <a:srgbClr val="3399FF"/>
              </a:buClr>
            </a:pPr>
            <a:r>
              <a:rPr lang="en-US" sz="2350" b="1" dirty="0">
                <a:latin typeface="Times New Roman" panose="02020603050405020304" pitchFamily="18" charset="0"/>
                <a:cs typeface="Times New Roman" panose="02020603050405020304" pitchFamily="18" charset="0"/>
              </a:rPr>
              <a:t>If the parties are unable to resolve a grievance at Step 1, the supervisor shall give an oral decision, stating the reasons for denying the grievance</a:t>
            </a:r>
          </a:p>
          <a:p>
            <a:pPr eaLnBrk="1" hangingPunct="1">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The Step 1 decision must be given within </a:t>
            </a:r>
            <a:r>
              <a:rPr lang="en-US" sz="2350" b="1" u="sng" dirty="0">
                <a:latin typeface="Times New Roman" panose="02020603050405020304" pitchFamily="18" charset="0"/>
                <a:cs typeface="Times New Roman" panose="02020603050405020304" pitchFamily="18" charset="0"/>
              </a:rPr>
              <a:t>5 days </a:t>
            </a:r>
            <a:r>
              <a:rPr lang="en-US" sz="2350" b="1" dirty="0">
                <a:latin typeface="Times New Roman" panose="02020603050405020304" pitchFamily="18" charset="0"/>
                <a:cs typeface="Times New Roman" panose="02020603050405020304" pitchFamily="18" charset="0"/>
              </a:rPr>
              <a:t>of the Step 1 meeting, unless the time limits are mutually extended </a:t>
            </a:r>
            <a:r>
              <a:rPr lang="en-US" sz="2350" b="1" u="sng" dirty="0">
                <a:latin typeface="Times New Roman" panose="02020603050405020304" pitchFamily="18" charset="0"/>
                <a:cs typeface="Times New Roman" panose="02020603050405020304" pitchFamily="18" charset="0"/>
              </a:rPr>
              <a:t>in writing</a:t>
            </a:r>
            <a:r>
              <a:rPr lang="en-US" sz="2350" b="1" dirty="0">
                <a:latin typeface="Times New Roman" panose="02020603050405020304" pitchFamily="18" charset="0"/>
                <a:cs typeface="Times New Roman" panose="02020603050405020304" pitchFamily="18" charset="0"/>
              </a:rPr>
              <a:t>.  </a:t>
            </a:r>
          </a:p>
          <a:p>
            <a:pPr marL="457200" indent="-457200" eaLnBrk="1" hangingPunct="1">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Within </a:t>
            </a:r>
            <a:r>
              <a:rPr lang="en-US" sz="2350" b="1" u="sng" dirty="0">
                <a:latin typeface="Times New Roman" panose="02020603050405020304" pitchFamily="18" charset="0"/>
                <a:cs typeface="Times New Roman" panose="02020603050405020304" pitchFamily="18" charset="0"/>
              </a:rPr>
              <a:t>5 days</a:t>
            </a:r>
            <a:r>
              <a:rPr lang="en-US" sz="2350" b="1" dirty="0">
                <a:latin typeface="Times New Roman" panose="02020603050405020304" pitchFamily="18" charset="0"/>
                <a:cs typeface="Times New Roman" panose="02020603050405020304" pitchFamily="18" charset="0"/>
              </a:rPr>
              <a:t> from the issuance of the decision, the supervisor must, </a:t>
            </a:r>
            <a:r>
              <a:rPr lang="en-US" sz="2350" b="1" u="sng" dirty="0">
                <a:latin typeface="Times New Roman" panose="02020603050405020304" pitchFamily="18" charset="0"/>
                <a:cs typeface="Times New Roman" panose="02020603050405020304" pitchFamily="18" charset="0"/>
              </a:rPr>
              <a:t>if the Union so requests</a:t>
            </a:r>
            <a:r>
              <a:rPr lang="en-US" sz="2350" b="1" dirty="0">
                <a:latin typeface="Times New Roman" panose="02020603050405020304" pitchFamily="18" charset="0"/>
                <a:cs typeface="Times New Roman" panose="02020603050405020304" pitchFamily="18" charset="0"/>
              </a:rPr>
              <a:t>, initial the standard grievance form to confirm the date of the </a:t>
            </a:r>
          </a:p>
          <a:p>
            <a:pPr>
              <a:lnSpc>
                <a:spcPct val="95000"/>
              </a:lnSpc>
              <a:buClr>
                <a:srgbClr val="3399FF"/>
              </a:buClr>
            </a:pPr>
            <a:r>
              <a:rPr lang="en-US" sz="2350" b="1" dirty="0">
                <a:latin typeface="Times New Roman" panose="02020603050405020304" pitchFamily="18" charset="0"/>
                <a:cs typeface="Times New Roman" panose="02020603050405020304" pitchFamily="18" charset="0"/>
              </a:rPr>
              <a:t>	Step 1 decision.  </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Secure proof of the grievance timeline by asking Management to initial the Step 1 grievance form verifying that he/she denied the grievance. </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50" b="1" dirty="0">
                <a:latin typeface="Times New Roman" panose="02020603050405020304" pitchFamily="18" charset="0"/>
                <a:cs typeface="Times New Roman" panose="02020603050405020304" pitchFamily="18" charset="0"/>
              </a:rPr>
              <a:t>NOTE: See CBA, Article 15, Section 2,  Step 1 (c).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Rot="1" noChangeArrowheads="1"/>
          </p:cNvSpPr>
          <p:nvPr>
            <p:ph type="body" idx="4294967295"/>
          </p:nvPr>
        </p:nvSpPr>
        <p:spPr>
          <a:xfrm>
            <a:off x="457200" y="304800"/>
            <a:ext cx="7467600" cy="6248400"/>
          </a:xfrm>
        </p:spPr>
        <p:txBody>
          <a:bodyPr>
            <a:normAutofit fontScale="32500" lnSpcReduction="20000"/>
          </a:bodyPr>
          <a:lstStyle/>
          <a:p>
            <a:pPr marL="0" indent="0" algn="ctr">
              <a:spcBef>
                <a:spcPts val="0"/>
              </a:spcBef>
              <a:buClr>
                <a:srgbClr val="3399FF"/>
              </a:buClr>
              <a:buSzPct val="100000"/>
              <a:buNone/>
              <a:defRPr/>
            </a:pPr>
            <a:r>
              <a:rPr lang="en-US" sz="9800" b="1" u="sng" dirty="0">
                <a:solidFill>
                  <a:srgbClr val="FF6699"/>
                </a:solidFill>
                <a:effectLst/>
                <a:latin typeface="Tahoma" charset="0"/>
              </a:rPr>
              <a:t>DENIAL - STEP 1 </a:t>
            </a:r>
            <a:r>
              <a:rPr lang="en-US" sz="9800" b="1" u="sng" dirty="0">
                <a:solidFill>
                  <a:srgbClr val="FF6699"/>
                </a:solidFill>
                <a:latin typeface="Tahoma" charset="0"/>
              </a:rPr>
              <a:t>CONT’D</a:t>
            </a:r>
          </a:p>
          <a:p>
            <a:pPr marL="0" indent="0" algn="ctr">
              <a:spcBef>
                <a:spcPts val="0"/>
              </a:spcBef>
              <a:buClr>
                <a:srgbClr val="3399FF"/>
              </a:buClr>
              <a:buSzPct val="100000"/>
              <a:buNone/>
              <a:defRPr/>
            </a:pPr>
            <a:endParaRPr lang="en-US" sz="5000" b="1" u="sng" dirty="0">
              <a:solidFill>
                <a:srgbClr val="FF6699"/>
              </a:solidFill>
              <a:latin typeface="Tahoma" charset="0"/>
            </a:endParaRPr>
          </a:p>
          <a:p>
            <a:pPr marL="0" indent="0" algn="ctr">
              <a:spcBef>
                <a:spcPts val="0"/>
              </a:spcBef>
              <a:buClr>
                <a:srgbClr val="3399FF"/>
              </a:buClr>
              <a:buSzPct val="100000"/>
              <a:buNone/>
              <a:defRPr/>
            </a:pPr>
            <a:r>
              <a:rPr lang="en-US" sz="2400" b="1" u="sng" dirty="0">
                <a:solidFill>
                  <a:srgbClr val="FF6699"/>
                </a:solidFill>
                <a:latin typeface="Tahoma" charset="0"/>
              </a:rPr>
              <a:t> </a:t>
            </a:r>
            <a:endParaRPr lang="en-US" sz="24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SzPct val="100000"/>
              <a:buFont typeface="Wingdings" panose="05000000000000000000" pitchFamily="2" charset="2"/>
              <a:buChar char="Ø"/>
              <a:defRPr/>
            </a:pPr>
            <a:r>
              <a:rPr lang="en-US" sz="7100" b="1" dirty="0">
                <a:solidFill>
                  <a:schemeClr val="tx1"/>
                </a:solidFill>
                <a:effectLst/>
                <a:latin typeface="Times New Roman" panose="02020603050405020304" pitchFamily="18" charset="0"/>
                <a:cs typeface="Times New Roman" panose="02020603050405020304" pitchFamily="18" charset="0"/>
              </a:rPr>
              <a:t>The Union’s Step 1 worksheet should be fully completed, prior to requesting that the supervisor initial the form verifying the decision date of the grievance.</a:t>
            </a:r>
          </a:p>
          <a:p>
            <a:pPr marL="457200" indent="-457200" eaLnBrk="1" hangingPunct="1">
              <a:lnSpc>
                <a:spcPct val="120000"/>
              </a:lnSpc>
              <a:spcBef>
                <a:spcPts val="0"/>
              </a:spcBef>
              <a:buClr>
                <a:srgbClr val="3399FF"/>
              </a:buClr>
              <a:buSzPct val="100000"/>
              <a:buFont typeface="Wingdings" panose="05000000000000000000" pitchFamily="2" charset="2"/>
              <a:buChar char="Ø"/>
              <a:defRPr/>
            </a:pPr>
            <a:endParaRPr lang="en-US" sz="6200" b="1" dirty="0">
              <a:solidFill>
                <a:schemeClr val="tx1"/>
              </a:solidFill>
              <a:effectLst/>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r>
              <a:rPr lang="en-US" sz="7100" b="1" dirty="0">
                <a:solidFill>
                  <a:schemeClr val="tx1"/>
                </a:solidFill>
                <a:effectLst/>
                <a:latin typeface="Times New Roman" panose="02020603050405020304" pitchFamily="18" charset="0"/>
                <a:cs typeface="Times New Roman" panose="02020603050405020304" pitchFamily="18" charset="0"/>
              </a:rPr>
              <a:t>If the supervisor has initialed the Step 1 worksheet, make note of it on your Step 2 Appeal Form by saying,</a:t>
            </a:r>
          </a:p>
          <a:p>
            <a:pPr marL="0" indent="0">
              <a:lnSpc>
                <a:spcPct val="120000"/>
              </a:lnSpc>
              <a:spcBef>
                <a:spcPts val="0"/>
              </a:spcBef>
              <a:buClr>
                <a:srgbClr val="3399FF"/>
              </a:buClr>
              <a:buSzPct val="100000"/>
              <a:buNone/>
              <a:defRPr/>
            </a:pPr>
            <a:r>
              <a:rPr lang="en-US" sz="7100" b="1" dirty="0">
                <a:solidFill>
                  <a:schemeClr val="tx1"/>
                </a:solidFill>
                <a:effectLst/>
                <a:latin typeface="Times New Roman" panose="02020603050405020304" pitchFamily="18" charset="0"/>
                <a:cs typeface="Times New Roman" panose="02020603050405020304" pitchFamily="18" charset="0"/>
              </a:rPr>
              <a:t>	(See Step 1 worksheet). </a:t>
            </a:r>
            <a:r>
              <a:rPr lang="en-US" sz="7100" b="1" dirty="0">
                <a:solidFill>
                  <a:schemeClr val="tx1"/>
                </a:solidFill>
                <a:latin typeface="Times New Roman" panose="02020603050405020304" pitchFamily="18" charset="0"/>
                <a:cs typeface="Times New Roman" panose="02020603050405020304" pitchFamily="18" charset="0"/>
              </a:rPr>
              <a:t>The Step 1 worksheet should 	have the issue clearly listed with the grievant’s name 	or be listed as a class action grievance. </a:t>
            </a:r>
          </a:p>
          <a:p>
            <a:pPr marL="0" indent="0">
              <a:lnSpc>
                <a:spcPct val="120000"/>
              </a:lnSpc>
              <a:spcBef>
                <a:spcPts val="0"/>
              </a:spcBef>
              <a:buClr>
                <a:srgbClr val="3399FF"/>
              </a:buClr>
              <a:buSzPct val="100000"/>
              <a:buNone/>
              <a:defRPr/>
            </a:pPr>
            <a:endParaRPr lang="en-US" sz="62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r>
              <a:rPr lang="en-US" sz="7100" b="1" dirty="0">
                <a:latin typeface="Times New Roman" panose="02020603050405020304" pitchFamily="18" charset="0"/>
                <a:cs typeface="Times New Roman" panose="02020603050405020304" pitchFamily="18" charset="0"/>
              </a:rPr>
              <a:t>The PS Form 2608 (Supervisor’s Grievance Summary - Step 1), is not normally available at the time of discussion at Step 1. But, the Union should request a copy at </a:t>
            </a:r>
            <a:r>
              <a:rPr lang="en-US" sz="7100" b="1" u="sng" dirty="0">
                <a:latin typeface="Times New Roman" panose="02020603050405020304" pitchFamily="18" charset="0"/>
                <a:cs typeface="Times New Roman" panose="02020603050405020304" pitchFamily="18" charset="0"/>
              </a:rPr>
              <a:t>Step 2.</a:t>
            </a:r>
            <a:r>
              <a:rPr lang="en-US" sz="7100" b="1" dirty="0">
                <a:latin typeface="Times New Roman" panose="02020603050405020304" pitchFamily="18" charset="0"/>
                <a:cs typeface="Times New Roman" panose="02020603050405020304" pitchFamily="18" charset="0"/>
              </a:rPr>
              <a:t>  </a:t>
            </a:r>
          </a:p>
          <a:p>
            <a:pPr marL="0" indent="0">
              <a:lnSpc>
                <a:spcPct val="120000"/>
              </a:lnSpc>
              <a:spcBef>
                <a:spcPts val="0"/>
              </a:spcBef>
              <a:buClr>
                <a:srgbClr val="3399FF"/>
              </a:buClr>
              <a:buSzPct val="100000"/>
              <a:buNone/>
              <a:defRPr/>
            </a:pPr>
            <a:endParaRPr lang="en-US" sz="74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SzPct val="100000"/>
              <a:buFont typeface="Wingdings" panose="05000000000000000000" pitchFamily="2" charset="2"/>
              <a:buChar char="Ø"/>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8000" b="1" dirty="0">
              <a:latin typeface="Times New Roman" panose="02020603050405020304" pitchFamily="18" charset="0"/>
              <a:cs typeface="Times New Roman" panose="02020603050405020304" pitchFamily="18" charset="0"/>
            </a:endParaRPr>
          </a:p>
          <a:p>
            <a:pPr marL="0" indent="0">
              <a:lnSpc>
                <a:spcPct val="120000"/>
              </a:lnSpc>
              <a:spcBef>
                <a:spcPts val="0"/>
              </a:spcBef>
              <a:buClr>
                <a:srgbClr val="3399FF"/>
              </a:buClr>
              <a:buSzPct val="100000"/>
              <a:buNone/>
              <a:defRPr/>
            </a:pPr>
            <a:endParaRPr lang="en-US" sz="7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5"/>
          <p:cNvSpPr>
            <a:spLocks noGrp="1" noRot="1" noChangeArrowheads="1"/>
          </p:cNvSpPr>
          <p:nvPr>
            <p:ph type="title"/>
          </p:nvPr>
        </p:nvSpPr>
        <p:spPr>
          <a:xfrm>
            <a:off x="609600" y="762000"/>
            <a:ext cx="7924800" cy="1143000"/>
          </a:xfrm>
        </p:spPr>
        <p:txBody>
          <a:bodyPr>
            <a:normAutofit fontScale="90000"/>
          </a:bodyPr>
          <a:lstStyle/>
          <a:p>
            <a:pPr eaLnBrk="1" hangingPunct="1"/>
            <a:br>
              <a:rPr lang="en-US" sz="4000" b="1" dirty="0">
                <a:solidFill>
                  <a:schemeClr val="tx1"/>
                </a:solidFill>
                <a:effectLst/>
                <a:latin typeface="Tahoma" charset="0"/>
              </a:rPr>
            </a:br>
            <a:endParaRPr lang="en-US" sz="4000" b="1" dirty="0">
              <a:solidFill>
                <a:srgbClr val="FF6699"/>
              </a:solidFill>
              <a:effectLst/>
              <a:latin typeface="Tahoma" charset="0"/>
            </a:endParaRPr>
          </a:p>
        </p:txBody>
      </p:sp>
      <p:sp>
        <p:nvSpPr>
          <p:cNvPr id="5" name="TextBox 4">
            <a:extLst>
              <a:ext uri="{FF2B5EF4-FFF2-40B4-BE49-F238E27FC236}">
                <a16:creationId xmlns:a16="http://schemas.microsoft.com/office/drawing/2014/main" id="{0503F5A4-8F29-4519-A525-4B534138A81C}"/>
              </a:ext>
            </a:extLst>
          </p:cNvPr>
          <p:cNvSpPr txBox="1"/>
          <p:nvPr/>
        </p:nvSpPr>
        <p:spPr>
          <a:xfrm>
            <a:off x="533400" y="152400"/>
            <a:ext cx="8001000" cy="6555641"/>
          </a:xfrm>
          <a:prstGeom prst="rect">
            <a:avLst/>
          </a:prstGeom>
          <a:noFill/>
        </p:spPr>
        <p:txBody>
          <a:bodyPr wrap="square">
            <a:spAutoFit/>
          </a:bodyPr>
          <a:lstStyle/>
          <a:p>
            <a:pPr algn="ctr"/>
            <a:r>
              <a:rPr lang="en-US" sz="3200" b="1" u="sng" dirty="0">
                <a:solidFill>
                  <a:srgbClr val="FF6699"/>
                </a:solidFill>
                <a:effectLst/>
                <a:latin typeface="Tahoma" charset="0"/>
              </a:rPr>
              <a:t>APPEAL TO STEP 2 </a:t>
            </a:r>
          </a:p>
          <a:p>
            <a:pPr algn="ctr"/>
            <a:endParaRPr lang="en-US" sz="2000" b="1" u="sng" dirty="0">
              <a:solidFill>
                <a:srgbClr val="FF6699"/>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Once the grievance is denied at Step 1, it should be appealed to Step 2 within the time limits outlined in the CBA.</a:t>
            </a:r>
          </a:p>
          <a:p>
            <a:endParaRPr lang="en-US" sz="2000" b="1" u="sng"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When appealing a grievance to Step 2, day one of  the 10 day time limit is the day following the supervisor’s </a:t>
            </a:r>
          </a:p>
          <a:p>
            <a:pPr>
              <a:buClr>
                <a:srgbClr val="3399FF"/>
              </a:buClr>
            </a:pPr>
            <a:r>
              <a:rPr lang="en-US" sz="2400" b="1" dirty="0">
                <a:latin typeface="Times New Roman" panose="02020603050405020304" pitchFamily="18" charset="0"/>
                <a:cs typeface="Times New Roman" panose="02020603050405020304" pitchFamily="18" charset="0"/>
              </a:rPr>
              <a:t>	Step 1 decision.</a:t>
            </a:r>
          </a:p>
          <a:p>
            <a:pPr marL="457200" indent="-457200">
              <a:buClr>
                <a:srgbClr val="3399FF"/>
              </a:buClr>
            </a:pPr>
            <a:endParaRPr lang="en-US"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When appealing a grievance to Step 2 by mail, the appeal must be postmarked on or before the </a:t>
            </a:r>
            <a:r>
              <a:rPr lang="en-US" sz="2400" b="1" u="sng" dirty="0">
                <a:latin typeface="Times New Roman" panose="02020603050405020304" pitchFamily="18" charset="0"/>
                <a:cs typeface="Times New Roman" panose="02020603050405020304" pitchFamily="18" charset="0"/>
              </a:rPr>
              <a:t>tenth day</a:t>
            </a:r>
            <a:r>
              <a:rPr lang="en-US" sz="2400" b="1" dirty="0">
                <a:latin typeface="Times New Roman" panose="02020603050405020304" pitchFamily="18" charset="0"/>
                <a:cs typeface="Times New Roman" panose="02020603050405020304" pitchFamily="18" charset="0"/>
              </a:rPr>
              <a:t> following the Step 1 decision. (For example, if the decision is received on the fourth, the Appeal to Step 2 must be postmarked no later than the fourteenth).</a:t>
            </a:r>
          </a:p>
          <a:p>
            <a:pPr marL="457200" indent="-457200">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buClr>
                <a:srgbClr val="3399FF"/>
              </a:buClr>
            </a:pPr>
            <a:r>
              <a:rPr lang="en-US" sz="2400" b="1" dirty="0">
                <a:latin typeface="Times New Roman" panose="02020603050405020304" pitchFamily="18" charset="0"/>
                <a:cs typeface="Times New Roman" panose="02020603050405020304" pitchFamily="18" charset="0"/>
              </a:rPr>
              <a:t>NOTE: See JCIM, Article 15.2. Step 1(d), APPEAL TO STEP 2.</a:t>
            </a:r>
            <a:endParaRPr lang="en-US" sz="2000" b="1" dirty="0">
              <a:latin typeface="Tahoma"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533400" y="397401"/>
            <a:ext cx="7924800" cy="6617196"/>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effectLst/>
                <a:latin typeface="Tahoma" charset="0"/>
              </a:rPr>
              <a:t>APPEAL TO STEP 2 CONT’D</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When mailing the Appeal to Step 2 Form to Management, send it by certified mail, return receipt requested. (Attach both receipts to your personal grievance file).</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When using alternative methods, the Step 2 appeal must be received on or before the </a:t>
            </a:r>
            <a:r>
              <a:rPr lang="en-US" sz="2400" b="1" u="sng" dirty="0">
                <a:latin typeface="Times New Roman" panose="02020603050405020304" pitchFamily="18" charset="0"/>
                <a:cs typeface="Times New Roman" panose="02020603050405020304" pitchFamily="18" charset="0"/>
              </a:rPr>
              <a:t>tenth day</a:t>
            </a:r>
            <a:r>
              <a:rPr lang="en-US" sz="2400" b="1" dirty="0">
                <a:latin typeface="Times New Roman" panose="02020603050405020304" pitchFamily="18" charset="0"/>
                <a:cs typeface="Times New Roman" panose="02020603050405020304" pitchFamily="18" charset="0"/>
              </a:rPr>
              <a:t>.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Any local using Electronic Grievance System (EGS) to appeal their cases, the date the Step 2 appeal is entered into EGS is the date to be considered received by Management.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15.2. Step 1(d), APPEAL TO STEP 2</a:t>
            </a:r>
          </a:p>
          <a:p>
            <a:pPr marL="342900" indent="-342900" eaLnBrk="1" hangingPunct="1">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303304"/>
            <a:ext cx="8001000" cy="6774611"/>
          </a:xfrm>
          <a:prstGeom prst="rect">
            <a:avLst/>
          </a:prstGeom>
        </p:spPr>
        <p:txBody>
          <a:bodyPr vert="horz" wrap="square" lIns="0" tIns="0" rIns="0" bIns="0" rtlCol="0">
            <a:spAutoFit/>
          </a:bodyPr>
          <a:lstStyle/>
          <a:p>
            <a:pPr algn="ctr">
              <a:lnSpc>
                <a:spcPct val="100000"/>
              </a:lnSpc>
            </a:pPr>
            <a:endParaRPr lang="en-US" sz="205" b="1" u="heavy" spc="-3" dirty="0">
              <a:latin typeface="Times New Roman"/>
              <a:cs typeface="Times New Roman"/>
            </a:endParaRPr>
          </a:p>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CHECKLIST FOR FILING </a:t>
            </a:r>
          </a:p>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STEP 2 GRIEVANCES</a:t>
            </a:r>
          </a:p>
          <a:p>
            <a:pPr algn="ctr"/>
            <a:endParaRPr lang="en-US" sz="2000" b="1" u="sng" dirty="0">
              <a:solidFill>
                <a:srgbClr val="FF6699"/>
              </a:solidFill>
              <a:latin typeface="Tahoma" panose="020B0604030504040204" pitchFamily="34" charset="0"/>
              <a:ea typeface="Tahoma" panose="020B0604030504040204" pitchFamily="34" charset="0"/>
              <a:cs typeface="Tahoma" panose="020B0604030504040204" pitchFamily="34" charset="0"/>
            </a:endParaRPr>
          </a:p>
          <a:p>
            <a:r>
              <a:rPr sz="2400" b="1" spc="-3" dirty="0">
                <a:latin typeface="Times New Roman"/>
                <a:cs typeface="Times New Roman"/>
              </a:rPr>
              <a:t>Prior to</a:t>
            </a:r>
            <a:r>
              <a:rPr lang="en-US" sz="2400" b="1" spc="-3" dirty="0">
                <a:latin typeface="Times New Roman"/>
                <a:cs typeface="Times New Roman"/>
              </a:rPr>
              <a:t> </a:t>
            </a:r>
            <a:r>
              <a:rPr sz="2400" b="1" spc="-3" dirty="0">
                <a:latin typeface="Times New Roman"/>
                <a:cs typeface="Times New Roman"/>
              </a:rPr>
              <a:t>filing the grievance at Step </a:t>
            </a:r>
            <a:r>
              <a:rPr sz="2400" b="1" dirty="0">
                <a:latin typeface="Times New Roman"/>
                <a:cs typeface="Times New Roman"/>
              </a:rPr>
              <a:t>2</a:t>
            </a:r>
            <a:r>
              <a:rPr sz="2400" b="1" spc="-3" dirty="0">
                <a:latin typeface="Times New Roman"/>
                <a:cs typeface="Times New Roman"/>
              </a:rPr>
              <a:t>:</a:t>
            </a:r>
            <a:endParaRPr lang="en-US" sz="2400" b="1" spc="-3" dirty="0">
              <a:latin typeface="Times New Roman"/>
              <a:cs typeface="Times New Roman"/>
            </a:endParaRPr>
          </a:p>
          <a:p>
            <a:pPr>
              <a:spcBef>
                <a:spcPts val="27"/>
              </a:spcBef>
            </a:pPr>
            <a:endParaRPr sz="2000" b="1"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r>
              <a:rPr sz="2400" b="1" spc="-3" dirty="0">
                <a:latin typeface="Times New Roman"/>
                <a:cs typeface="Times New Roman"/>
              </a:rPr>
              <a:t>Analyze the Step </a:t>
            </a:r>
            <a:r>
              <a:rPr sz="2400" b="1" dirty="0">
                <a:latin typeface="Times New Roman"/>
                <a:cs typeface="Times New Roman"/>
              </a:rPr>
              <a:t>1 </a:t>
            </a:r>
            <a:r>
              <a:rPr sz="2400" b="1" spc="-3" dirty="0">
                <a:latin typeface="Times New Roman"/>
                <a:cs typeface="Times New Roman"/>
              </a:rPr>
              <a:t>supervisor’s response.</a:t>
            </a:r>
            <a:endParaRPr lang="en-US" sz="24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endParaRPr lang="en-US" sz="2000" b="1" spc="-3" dirty="0">
              <a:latin typeface="Times New Roman"/>
              <a:cs typeface="Times New Roman"/>
            </a:endParaRPr>
          </a:p>
          <a:p>
            <a:pPr marL="457200" marR="5195" indent="-457200">
              <a:buClr>
                <a:srgbClr val="3399FF"/>
              </a:buClr>
              <a:buFont typeface="Wingdings" panose="05000000000000000000" pitchFamily="2" charset="2"/>
              <a:buChar char="ü"/>
              <a:tabLst>
                <a:tab pos="320810" algn="l"/>
              </a:tabLst>
            </a:pPr>
            <a:r>
              <a:rPr sz="2400" b="1" spc="-3" dirty="0">
                <a:latin typeface="Times New Roman"/>
                <a:cs typeface="Times New Roman"/>
              </a:rPr>
              <a:t>Check appropriate provisions of the contract,</a:t>
            </a:r>
            <a:r>
              <a:rPr lang="en-US" sz="2400" b="1" spc="-3" dirty="0">
                <a:latin typeface="Times New Roman"/>
                <a:cs typeface="Times New Roman"/>
              </a:rPr>
              <a:t> 	</a:t>
            </a:r>
            <a:r>
              <a:rPr sz="2400" b="1" spc="-3" dirty="0">
                <a:latin typeface="Times New Roman"/>
                <a:cs typeface="Times New Roman"/>
              </a:rPr>
              <a:t> handbooks, manuals, that are applicable.</a:t>
            </a:r>
            <a:endParaRPr lang="en-US" sz="2400" b="1" spc="-3" dirty="0">
              <a:latin typeface="Times New Roman"/>
              <a:cs typeface="Times New Roman"/>
            </a:endParaRPr>
          </a:p>
          <a:p>
            <a:pPr marL="457200" marR="5195" indent="-457200">
              <a:buClr>
                <a:srgbClr val="3399FF"/>
              </a:buClr>
              <a:buFont typeface="Wingdings" panose="05000000000000000000" pitchFamily="2" charset="2"/>
              <a:buChar char="ü"/>
              <a:tabLst>
                <a:tab pos="320810" algn="l"/>
              </a:tabLst>
            </a:pPr>
            <a:endParaRPr lang="en-US" sz="20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r>
              <a:rPr sz="2400" b="1" spc="-3" dirty="0">
                <a:latin typeface="Times New Roman"/>
                <a:cs typeface="Times New Roman"/>
              </a:rPr>
              <a:t>Review Step </a:t>
            </a:r>
            <a:r>
              <a:rPr sz="2400" b="1" dirty="0">
                <a:latin typeface="Times New Roman"/>
                <a:cs typeface="Times New Roman"/>
              </a:rPr>
              <a:t>1 </a:t>
            </a:r>
            <a:r>
              <a:rPr sz="2400" b="1" spc="-3" dirty="0">
                <a:latin typeface="Times New Roman"/>
                <a:cs typeface="Times New Roman"/>
              </a:rPr>
              <a:t>contentions and examine all related</a:t>
            </a:r>
            <a:r>
              <a:rPr sz="2400" b="1" spc="31" dirty="0">
                <a:latin typeface="Times New Roman"/>
                <a:cs typeface="Times New Roman"/>
              </a:rPr>
              <a:t> </a:t>
            </a:r>
            <a:r>
              <a:rPr sz="2400" b="1" spc="-3" dirty="0">
                <a:latin typeface="Times New Roman"/>
                <a:cs typeface="Times New Roman"/>
              </a:rPr>
              <a:t>data.</a:t>
            </a:r>
            <a:endParaRPr lang="en-US" sz="24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endParaRPr lang="en-US" sz="20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r>
              <a:rPr sz="2400" b="1" spc="-3" dirty="0">
                <a:latin typeface="Times New Roman"/>
                <a:cs typeface="Times New Roman"/>
              </a:rPr>
              <a:t>Determine if additional contentions and data are</a:t>
            </a:r>
            <a:r>
              <a:rPr sz="2400" b="1" spc="34" dirty="0">
                <a:latin typeface="Times New Roman"/>
                <a:cs typeface="Times New Roman"/>
              </a:rPr>
              <a:t> </a:t>
            </a:r>
            <a:r>
              <a:rPr sz="2400" b="1" spc="-3" dirty="0">
                <a:latin typeface="Times New Roman"/>
                <a:cs typeface="Times New Roman"/>
              </a:rPr>
              <a:t>required.</a:t>
            </a:r>
            <a:endParaRPr lang="en-US" sz="2400" b="1" spc="-3" dirty="0">
              <a:latin typeface="Times New Roman"/>
              <a:cs typeface="Times New Roman"/>
            </a:endParaRPr>
          </a:p>
          <a:p>
            <a:pPr>
              <a:buClr>
                <a:srgbClr val="3399FF"/>
              </a:buClr>
              <a:tabLst>
                <a:tab pos="320810" algn="l"/>
              </a:tabLst>
            </a:pPr>
            <a:endParaRPr lang="en-US" sz="20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r>
              <a:rPr lang="en-US" sz="2400" b="1" spc="-3" dirty="0">
                <a:latin typeface="Times New Roman"/>
                <a:cs typeface="Times New Roman"/>
              </a:rPr>
              <a:t>Outline the Step 2 presentation.</a:t>
            </a:r>
          </a:p>
          <a:p>
            <a:pPr marL="457200" indent="-457200">
              <a:buClr>
                <a:srgbClr val="3399FF"/>
              </a:buClr>
              <a:buFont typeface="Wingdings" panose="05000000000000000000" pitchFamily="2" charset="2"/>
              <a:buChar char="ü"/>
              <a:tabLst>
                <a:tab pos="320810" algn="l"/>
              </a:tabLst>
            </a:pPr>
            <a:endParaRPr lang="en-US" sz="2400" b="1" spc="-3" dirty="0">
              <a:latin typeface="Times New Roman"/>
              <a:cs typeface="Times New Roman"/>
            </a:endParaRPr>
          </a:p>
          <a:p>
            <a:pPr marL="457200" indent="-457200">
              <a:buClr>
                <a:srgbClr val="3399FF"/>
              </a:buClr>
              <a:buFont typeface="Wingdings" panose="05000000000000000000" pitchFamily="2" charset="2"/>
              <a:buChar char="ü"/>
              <a:tabLst>
                <a:tab pos="320810" algn="l"/>
              </a:tabLst>
            </a:pPr>
            <a:endParaRPr sz="2400" b="1" dirty="0">
              <a:latin typeface="Times New Roman"/>
              <a:cs typeface="Times New Roman"/>
            </a:endParaRPr>
          </a:p>
          <a:p>
            <a:pPr>
              <a:spcBef>
                <a:spcPts val="31"/>
              </a:spcBef>
            </a:pPr>
            <a:endParaRPr sz="818" dirty="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00" y="303304"/>
            <a:ext cx="7315200" cy="5509970"/>
          </a:xfrm>
          <a:prstGeom prst="rect">
            <a:avLst/>
          </a:prstGeom>
        </p:spPr>
        <p:txBody>
          <a:bodyPr vert="horz" wrap="square" lIns="0" tIns="0" rIns="0" bIns="0" rtlCol="0">
            <a:spAutoFit/>
          </a:bodyPr>
          <a:lstStyle/>
          <a:p>
            <a:pPr algn="ctr">
              <a:lnSpc>
                <a:spcPct val="100000"/>
              </a:lnSpc>
            </a:pPr>
            <a:endParaRPr lang="en-US" sz="205" b="1" u="heavy" spc="-3" dirty="0">
              <a:latin typeface="Times New Roman"/>
              <a:cs typeface="Times New Roman"/>
            </a:endParaRPr>
          </a:p>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CHECKLIST FOR FILING </a:t>
            </a:r>
          </a:p>
          <a:p>
            <a:pPr algn="ct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STEP 2 GRIEVANCES CONT’D </a:t>
            </a:r>
          </a:p>
          <a:p>
            <a:endParaRPr lang="en-US" sz="2000" b="1" spc="-3" dirty="0">
              <a:latin typeface="Times New Roman"/>
              <a:cs typeface="Times New Roman"/>
            </a:endParaRPr>
          </a:p>
          <a:p>
            <a:pPr marL="457200" indent="-457200">
              <a:buClr>
                <a:srgbClr val="3399FF"/>
              </a:buClr>
              <a:buFont typeface="Wingdings" panose="05000000000000000000" pitchFamily="2" charset="2"/>
              <a:buChar char="ü"/>
            </a:pPr>
            <a:r>
              <a:rPr lang="en-US" sz="2400" b="1" spc="-3" dirty="0">
                <a:latin typeface="Times New Roman"/>
                <a:cs typeface="Times New Roman"/>
              </a:rPr>
              <a:t>Make copies of all Exhibits and support documentation.</a:t>
            </a:r>
          </a:p>
          <a:p>
            <a:endParaRPr lang="en-US" sz="2000" b="1" spc="-3" dirty="0">
              <a:latin typeface="Times New Roman"/>
              <a:cs typeface="Times New Roman"/>
            </a:endParaRPr>
          </a:p>
          <a:p>
            <a:pPr marL="457200" indent="-457200">
              <a:buClr>
                <a:srgbClr val="3399FF"/>
              </a:buClr>
              <a:buFont typeface="Wingdings" panose="05000000000000000000" pitchFamily="2" charset="2"/>
              <a:buChar char="ü"/>
            </a:pPr>
            <a:r>
              <a:rPr lang="en-US" sz="2400" b="1" spc="-3" dirty="0">
                <a:latin typeface="Times New Roman"/>
                <a:cs typeface="Times New Roman"/>
              </a:rPr>
              <a:t>Contemplate Management's Step 2 arguments.</a:t>
            </a:r>
          </a:p>
          <a:p>
            <a:endParaRPr lang="en-US" sz="2000" b="1" spc="-3" dirty="0">
              <a:latin typeface="Times New Roman"/>
              <a:cs typeface="Times New Roman"/>
            </a:endParaRPr>
          </a:p>
          <a:p>
            <a:pPr marL="457200" indent="-457200">
              <a:buClr>
                <a:srgbClr val="3399FF"/>
              </a:buClr>
              <a:buFont typeface="Wingdings" panose="05000000000000000000" pitchFamily="2" charset="2"/>
              <a:buChar char="ü"/>
            </a:pPr>
            <a:r>
              <a:rPr lang="en-US" sz="2400" b="1" spc="-3" dirty="0">
                <a:latin typeface="Times New Roman"/>
                <a:cs typeface="Times New Roman"/>
              </a:rPr>
              <a:t>Express a clear and concise remedy.</a:t>
            </a:r>
          </a:p>
          <a:p>
            <a:pPr marL="457200" indent="-457200">
              <a:buClr>
                <a:srgbClr val="3399FF"/>
              </a:buClr>
              <a:buFont typeface="Wingdings" panose="05000000000000000000" pitchFamily="2" charset="2"/>
              <a:buChar char="ü"/>
            </a:pPr>
            <a:endParaRPr lang="en-US" sz="2000" b="1" spc="-3" dirty="0">
              <a:latin typeface="Times New Roman"/>
              <a:cs typeface="Times New Roman"/>
            </a:endParaRPr>
          </a:p>
          <a:p>
            <a:pPr algn="ctr">
              <a:buClr>
                <a:srgbClr val="3399FF"/>
              </a:buClr>
            </a:pPr>
            <a:r>
              <a:rPr lang="en-US" sz="2400" b="1" spc="-3" dirty="0">
                <a:solidFill>
                  <a:srgbClr val="0033CC"/>
                </a:solidFill>
                <a:latin typeface="Times New Roman"/>
                <a:cs typeface="Times New Roman"/>
                <a:hlinkClick r:id="rId3" action="ppaction://hlinkfile">
                  <a:extLst>
                    <a:ext uri="{A12FA001-AC4F-418D-AE19-62706E023703}">
                      <ahyp:hlinkClr xmlns:ahyp="http://schemas.microsoft.com/office/drawing/2018/hyperlinkcolor" val="tx"/>
                    </a:ext>
                  </a:extLst>
                </a:hlinkClick>
              </a:rPr>
              <a:t>STEP 2 GRIEVANCE APPEAL FORM.pdf</a:t>
            </a:r>
            <a:endParaRPr lang="en-US" sz="2400" b="1" spc="-3" dirty="0">
              <a:solidFill>
                <a:srgbClr val="0033CC"/>
              </a:solidFill>
              <a:latin typeface="Times New Roman"/>
              <a:cs typeface="Times New Roman"/>
            </a:endParaRPr>
          </a:p>
          <a:p>
            <a:pPr algn="ctr">
              <a:buClr>
                <a:srgbClr val="3399FF"/>
              </a:buClr>
            </a:pPr>
            <a:endParaRPr lang="en-US" sz="2000" b="1" spc="-3" dirty="0">
              <a:solidFill>
                <a:srgbClr val="0033CC"/>
              </a:solidFill>
              <a:latin typeface="Times New Roman"/>
              <a:cs typeface="Times New Roman"/>
            </a:endParaRPr>
          </a:p>
          <a:p>
            <a:pPr>
              <a:buClr>
                <a:srgbClr val="3399FF"/>
              </a:buClr>
            </a:pPr>
            <a:r>
              <a:rPr lang="en-US" sz="2400" b="1" dirty="0">
                <a:latin typeface="Times New Roman" panose="02020603050405020304" pitchFamily="18" charset="0"/>
                <a:cs typeface="Times New Roman" panose="02020603050405020304" pitchFamily="18" charset="0"/>
              </a:rPr>
              <a:t>NOTE: In order to avoid timeliness issues, the Union representative </a:t>
            </a:r>
            <a:r>
              <a:rPr lang="en-US" sz="2400" b="1" u="sng" dirty="0">
                <a:latin typeface="Times New Roman" panose="02020603050405020304" pitchFamily="18" charset="0"/>
                <a:cs typeface="Times New Roman" panose="02020603050405020304" pitchFamily="18" charset="0"/>
              </a:rPr>
              <a:t>should not wait </a:t>
            </a:r>
            <a:r>
              <a:rPr lang="en-US" sz="2400" b="1" dirty="0">
                <a:latin typeface="Times New Roman" panose="02020603050405020304" pitchFamily="18" charset="0"/>
                <a:cs typeface="Times New Roman" panose="02020603050405020304" pitchFamily="18" charset="0"/>
              </a:rPr>
              <a:t>until the last day to appeal the grievance. </a:t>
            </a:r>
            <a:endParaRPr lang="en-US" sz="2400" b="1" spc="-3" dirty="0">
              <a:solidFill>
                <a:srgbClr val="0033CC"/>
              </a:solidFill>
              <a:latin typeface="Times New Roman"/>
              <a:cs typeface="Times New Roman"/>
            </a:endParaRPr>
          </a:p>
        </p:txBody>
      </p:sp>
    </p:spTree>
    <p:extLst>
      <p:ext uri="{BB962C8B-B14F-4D97-AF65-F5344CB8AC3E}">
        <p14:creationId xmlns:p14="http://schemas.microsoft.com/office/powerpoint/2010/main" val="3857890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5"/>
          <p:cNvSpPr txBox="1">
            <a:spLocks noChangeArrowheads="1"/>
          </p:cNvSpPr>
          <p:nvPr/>
        </p:nvSpPr>
        <p:spPr bwMode="auto">
          <a:xfrm>
            <a:off x="457200" y="251207"/>
            <a:ext cx="8305800" cy="6382132"/>
          </a:xfrm>
          <a:prstGeom prst="rect">
            <a:avLst/>
          </a:prstGeom>
          <a:noFill/>
          <a:ln w="9525">
            <a:noFill/>
            <a:miter lim="800000"/>
            <a:headEnd/>
            <a:tailEnd/>
          </a:ln>
          <a:effectLst/>
        </p:spPr>
        <p:txBody>
          <a:bodyPr wrap="square">
            <a:spAutoFit/>
          </a:bodyPr>
          <a:lstStyle/>
          <a:p>
            <a:pPr algn="ctr"/>
            <a:r>
              <a:rPr lang="en-US" sz="3200" b="1" u="sng" dirty="0">
                <a:solidFill>
                  <a:srgbClr val="FF6699"/>
                </a:solidFill>
                <a:latin typeface="Tahoma" charset="0"/>
              </a:rPr>
              <a:t>STEP 2 MEETING</a:t>
            </a:r>
          </a:p>
          <a:p>
            <a:pPr algn="ctr"/>
            <a:endParaRPr lang="en-US" sz="2000"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50" b="1" dirty="0">
                <a:latin typeface="Times New Roman" panose="02020603050405020304" pitchFamily="18" charset="0"/>
                <a:cs typeface="Times New Roman" panose="02020603050405020304" pitchFamily="18" charset="0"/>
              </a:rPr>
              <a:t>When meeting with Management at Step 2:</a:t>
            </a:r>
          </a:p>
          <a:p>
            <a:pPr marL="457200" indent="-457200">
              <a:lnSpc>
                <a:spcPct val="95000"/>
              </a:lnSpc>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Resist making personal attacks.</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Keep it short and stick to the subject matter of the grievance.</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Be clear and concise on the remedy. </a:t>
            </a:r>
          </a:p>
          <a:p>
            <a:pPr marL="457200" indent="-457200">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Number all exhibits in the file, list them  on the Exhibit Sheet, and attach this sheet to the Step 2 Grievance Form.</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50" b="1" dirty="0">
                <a:latin typeface="Times New Roman" panose="02020603050405020304" pitchFamily="18" charset="0"/>
                <a:cs typeface="Times New Roman" panose="02020603050405020304" pitchFamily="18" charset="0"/>
              </a:rPr>
              <a:t>Both parties should sign and date a list of all documents exchanged. Attach this sheet to the Step 2 Grievance Form.</a:t>
            </a:r>
          </a:p>
          <a:p>
            <a:pPr algn="ctr">
              <a:lnSpc>
                <a:spcPct val="95000"/>
              </a:lnSpc>
              <a:buClr>
                <a:srgbClr val="3399FF"/>
              </a:buClr>
            </a:pPr>
            <a:endParaRPr lang="en-US" sz="16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a:p>
            <a:pPr algn="ctr">
              <a:lnSpc>
                <a:spcPct val="95000"/>
              </a:lnSpc>
              <a:buClr>
                <a:srgbClr val="3399FF"/>
              </a:buClr>
            </a:pPr>
            <a:r>
              <a:rPr lang="en-US" sz="23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EXHIBIT SHEET.pdf</a:t>
            </a:r>
            <a:endParaRPr lang="en-US" sz="2300" b="1" dirty="0">
              <a:solidFill>
                <a:srgbClr val="0033CC"/>
              </a:solidFill>
              <a:latin typeface="Times New Roman" panose="02020603050405020304" pitchFamily="18" charset="0"/>
              <a:cs typeface="Times New Roman" panose="02020603050405020304" pitchFamily="18" charset="0"/>
            </a:endParaRPr>
          </a:p>
          <a:p>
            <a:pPr algn="ctr">
              <a:lnSpc>
                <a:spcPct val="95000"/>
              </a:lnSpc>
              <a:buClr>
                <a:srgbClr val="3399FF"/>
              </a:buClr>
            </a:pPr>
            <a:endParaRPr lang="en-US" sz="1000" b="1" dirty="0">
              <a:solidFill>
                <a:srgbClr val="0033CC"/>
              </a:solidFill>
              <a:latin typeface="Times New Roman" panose="02020603050405020304" pitchFamily="18" charset="0"/>
              <a:cs typeface="Times New Roman" panose="02020603050405020304" pitchFamily="18" charset="0"/>
            </a:endParaRPr>
          </a:p>
          <a:p>
            <a:pPr algn="ctr">
              <a:lnSpc>
                <a:spcPct val="95000"/>
              </a:lnSpc>
              <a:buClr>
                <a:srgbClr val="3399FF"/>
              </a:buClr>
            </a:pPr>
            <a:r>
              <a:rPr lang="en-US" sz="2300" b="1" dirty="0">
                <a:solidFill>
                  <a:srgbClr val="0033CC"/>
                </a:solidFill>
                <a:latin typeface="Times New Roman" panose="02020603050405020304" pitchFamily="18" charset="0"/>
                <a:cs typeface="Times New Roman" panose="02020603050405020304" pitchFamily="18" charset="0"/>
                <a:hlinkClick r:id="rId4" action="ppaction://hlinkfile">
                  <a:extLst>
                    <a:ext uri="{A12FA001-AC4F-418D-AE19-62706E023703}">
                      <ahyp:hlinkClr xmlns:ahyp="http://schemas.microsoft.com/office/drawing/2018/hyperlinkcolor" val="tx"/>
                    </a:ext>
                  </a:extLst>
                </a:hlinkClick>
              </a:rPr>
              <a:t>RECEIPT OF DOCUMENTS FORM.pdf</a:t>
            </a:r>
            <a:endParaRPr lang="en-US" sz="23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929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ChangeArrowheads="1"/>
          </p:cNvSpPr>
          <p:nvPr/>
        </p:nvSpPr>
        <p:spPr bwMode="auto">
          <a:xfrm>
            <a:off x="533400" y="152400"/>
            <a:ext cx="7772400" cy="6555641"/>
          </a:xfrm>
          <a:prstGeom prst="rect">
            <a:avLst/>
          </a:prstGeom>
          <a:noFill/>
          <a:ln w="9525">
            <a:noFill/>
            <a:miter lim="800000"/>
            <a:headEnd/>
            <a:tailEnd/>
          </a:ln>
          <a:effectLst/>
        </p:spPr>
        <p:txBody>
          <a:bodyPr wrap="square">
            <a:spAutoFit/>
          </a:bodyPr>
          <a:lstStyle/>
          <a:p>
            <a:pPr algn="ctr" eaLnBrk="1" hangingPunct="1"/>
            <a:endParaRPr lang="en-US" sz="800" b="1" u="sng" dirty="0">
              <a:solidFill>
                <a:srgbClr val="FF6699"/>
              </a:solidFill>
              <a:latin typeface="Tahoma" charset="0"/>
            </a:endParaRPr>
          </a:p>
          <a:p>
            <a:pPr algn="ctr" eaLnBrk="1" hangingPunct="1"/>
            <a:r>
              <a:rPr lang="en-US" sz="3200" b="1" u="sng" dirty="0">
                <a:solidFill>
                  <a:srgbClr val="FF6699"/>
                </a:solidFill>
                <a:latin typeface="Tahoma" charset="0"/>
              </a:rPr>
              <a:t>STEP 2 MEETING CONT’D</a:t>
            </a:r>
          </a:p>
          <a:p>
            <a:pPr eaLnBrk="1" hangingPunct="1"/>
            <a:endParaRPr lang="en-US" sz="2000" b="1" dirty="0">
              <a:solidFill>
                <a:schemeClr val="tx2"/>
              </a:solidFill>
              <a:latin typeface="Tahoma"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Step 2 meeting must be held within </a:t>
            </a:r>
            <a:r>
              <a:rPr lang="en-US" sz="2300" b="1" u="sng" dirty="0">
                <a:latin typeface="Times New Roman" panose="02020603050405020304" pitchFamily="18" charset="0"/>
                <a:cs typeface="Times New Roman" panose="02020603050405020304" pitchFamily="18" charset="0"/>
              </a:rPr>
              <a:t>7 days</a:t>
            </a:r>
            <a:r>
              <a:rPr lang="en-US" sz="2300" b="1" dirty="0">
                <a:latin typeface="Times New Roman" panose="02020603050405020304" pitchFamily="18" charset="0"/>
                <a:cs typeface="Times New Roman" panose="02020603050405020304" pitchFamily="18" charset="0"/>
              </a:rPr>
              <a:t> of receipt of the Step 2 appeal unless the time limits are </a:t>
            </a:r>
            <a:r>
              <a:rPr lang="en-US" sz="2300" b="1" u="sng" dirty="0">
                <a:latin typeface="Times New Roman" panose="02020603050405020304" pitchFamily="18" charset="0"/>
                <a:cs typeface="Times New Roman" panose="02020603050405020304" pitchFamily="18" charset="0"/>
              </a:rPr>
              <a:t>mutually</a:t>
            </a:r>
            <a:r>
              <a:rPr lang="en-US" sz="2300" b="1" dirty="0">
                <a:latin typeface="Times New Roman" panose="02020603050405020304" pitchFamily="18" charset="0"/>
                <a:cs typeface="Times New Roman" panose="02020603050405020304" pitchFamily="18" charset="0"/>
              </a:rPr>
              <a:t> extended.  </a:t>
            </a:r>
          </a:p>
          <a:p>
            <a:pPr marL="457200" indent="-457200" eaLnBrk="1" hangingPunct="1"/>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Union representative at the Step 2 meeting shall fully discuss the Union’s position, including the contractual provisions allegedly violated and the corrective action requested. </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The Union may furnish written statements from witnesses or other individuals who have information pertaining to the grievance. Both parties are required to state in detail the evidence and contract provisions relied upon to support their positions. </a:t>
            </a:r>
          </a:p>
          <a:p>
            <a:pPr marL="457200" indent="-457200">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buClr>
                <a:srgbClr val="3399FF"/>
              </a:buClr>
            </a:pPr>
            <a:r>
              <a:rPr lang="en-US" sz="2300" b="1" dirty="0">
                <a:latin typeface="Times New Roman" panose="02020603050405020304" pitchFamily="18" charset="0"/>
                <a:cs typeface="Times New Roman" panose="02020603050405020304" pitchFamily="18" charset="0"/>
              </a:rPr>
              <a:t>NOTE: See CBA, Article 15, Section 2, Step 2 (c ).</a:t>
            </a:r>
            <a:endParaRPr lang="en-US" sz="2300" b="1" dirty="0">
              <a:latin typeface="Tahoma"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ChangeArrowheads="1"/>
          </p:cNvSpPr>
          <p:nvPr/>
        </p:nvSpPr>
        <p:spPr bwMode="auto">
          <a:xfrm>
            <a:off x="533400" y="228600"/>
            <a:ext cx="7848600" cy="5570756"/>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STEP 2 MEETING CONT’D</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Postal Service is also required to furnish to the </a:t>
            </a:r>
          </a:p>
          <a:p>
            <a:pPr marL="457200" indent="-457200" eaLnBrk="1" hangingPunct="1"/>
            <a:r>
              <a:rPr lang="en-US" sz="2400" b="1" dirty="0">
                <a:latin typeface="Times New Roman" panose="02020603050405020304" pitchFamily="18" charset="0"/>
                <a:cs typeface="Times New Roman" panose="02020603050405020304" pitchFamily="18" charset="0"/>
              </a:rPr>
              <a:t>	Union, if requested, any documents or statements of witnesses as provided for in </a:t>
            </a:r>
            <a:r>
              <a:rPr lang="en-US" sz="2400" b="1" u="sng" dirty="0">
                <a:latin typeface="Times New Roman" panose="02020603050405020304" pitchFamily="18" charset="0"/>
                <a:cs typeface="Times New Roman" panose="02020603050405020304" pitchFamily="18" charset="0"/>
              </a:rPr>
              <a:t>Article 31, Section 3</a:t>
            </a:r>
            <a:r>
              <a:rPr lang="en-US" sz="2400" b="1" dirty="0">
                <a:latin typeface="Times New Roman" panose="02020603050405020304" pitchFamily="18" charset="0"/>
                <a:cs typeface="Times New Roman" panose="02020603050405020304" pitchFamily="18" charset="0"/>
              </a:rPr>
              <a:t> of 	</a:t>
            </a:r>
          </a:p>
          <a:p>
            <a:pPr marL="457200" indent="-457200" eaLnBrk="1" hangingPunct="1"/>
            <a:r>
              <a:rPr lang="en-US" sz="2400" b="1" dirty="0">
                <a:latin typeface="Times New Roman" panose="02020603050405020304" pitchFamily="18" charset="0"/>
                <a:cs typeface="Times New Roman" panose="02020603050405020304" pitchFamily="18" charset="0"/>
              </a:rPr>
              <a:t>	the CBA.</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effectLst/>
                <a:latin typeface="Times New Roman" panose="02020603050405020304" pitchFamily="18" charset="0"/>
                <a:cs typeface="Times New Roman" panose="02020603050405020304" pitchFamily="18" charset="0"/>
              </a:rPr>
              <a:t>In a non-discharge case, the parties can mutually agree to jointly interview witnesses at the Step 2 meeting. In discharge cases, either party may present two witnesses at that</a:t>
            </a:r>
            <a:r>
              <a:rPr lang="en-US" sz="2400" b="1" dirty="0">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meeting, with additional witnesses possible should the parties mutually agree.</a:t>
            </a:r>
          </a:p>
          <a:p>
            <a:pPr marL="457200" indent="-457200">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effectLst/>
                <a:latin typeface="Times New Roman" panose="02020603050405020304" pitchFamily="18" charset="0"/>
                <a:cs typeface="Times New Roman" panose="02020603050405020304" pitchFamily="18" charset="0"/>
              </a:rPr>
              <a:t>Postal witnesses will be on the clock while attending the Step 2 meeting, pursuant to </a:t>
            </a:r>
            <a:r>
              <a:rPr lang="en-US" sz="2400" b="1" u="sng" dirty="0">
                <a:effectLst/>
                <a:latin typeface="Times New Roman" panose="02020603050405020304" pitchFamily="18" charset="0"/>
                <a:cs typeface="Times New Roman" panose="02020603050405020304" pitchFamily="18" charset="0"/>
              </a:rPr>
              <a:t>Article 17.4. </a:t>
            </a:r>
            <a:r>
              <a:rPr lang="en-US" sz="2400" b="1" dirty="0">
                <a:effectLst/>
                <a:latin typeface="Times New Roman" panose="02020603050405020304" pitchFamily="18" charset="0"/>
                <a:cs typeface="Times New Roman" panose="02020603050405020304" pitchFamily="18" charset="0"/>
              </a:rPr>
              <a:t>of the CBA.  </a:t>
            </a:r>
            <a:endParaRPr lang="en-US" sz="2400" b="1" dirty="0">
              <a:solidFill>
                <a:srgbClr val="0033CC"/>
              </a:solidFill>
              <a:latin typeface="Tahoma"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ChangeArrowheads="1"/>
          </p:cNvSpPr>
          <p:nvPr/>
        </p:nvSpPr>
        <p:spPr bwMode="auto">
          <a:xfrm>
            <a:off x="609600" y="0"/>
            <a:ext cx="7620000" cy="6466065"/>
          </a:xfrm>
          <a:prstGeom prst="rect">
            <a:avLst/>
          </a:prstGeom>
          <a:noFill/>
          <a:ln w="9525">
            <a:noFill/>
            <a:miter lim="800000"/>
            <a:headEnd/>
            <a:tailEnd/>
          </a:ln>
          <a:effectLst/>
        </p:spPr>
        <p:txBody>
          <a:bodyPr wrap="square">
            <a:spAutoFit/>
          </a:bodyPr>
          <a:lstStyle/>
          <a:p>
            <a:pPr eaLnBrk="1" hangingPunct="1"/>
            <a:endParaRPr lang="en-US" dirty="0"/>
          </a:p>
          <a:p>
            <a:pPr algn="ctr" eaLnBrk="1" hangingPunct="1"/>
            <a:r>
              <a:rPr lang="en-US" sz="3200" b="1" u="sng" dirty="0">
                <a:solidFill>
                  <a:srgbClr val="FF6699"/>
                </a:solidFill>
                <a:latin typeface="Tahoma" charset="0"/>
              </a:rPr>
              <a:t>STEP 2 DECISION </a:t>
            </a:r>
          </a:p>
          <a:p>
            <a:pPr eaLnBrk="1" hangingPunct="1"/>
            <a:endParaRPr lang="en-US" sz="2000" b="1" dirty="0">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Management must provide the Union representative a written decision within </a:t>
            </a:r>
            <a:r>
              <a:rPr lang="en-US" sz="2400" b="1" u="sng" dirty="0">
                <a:latin typeface="Times New Roman" panose="02020603050405020304" pitchFamily="18" charset="0"/>
                <a:cs typeface="Times New Roman" panose="02020603050405020304" pitchFamily="18" charset="0"/>
              </a:rPr>
              <a:t>10 days</a:t>
            </a:r>
            <a:r>
              <a:rPr lang="en-US" sz="2400" b="1" dirty="0">
                <a:latin typeface="Times New Roman" panose="02020603050405020304" pitchFamily="18" charset="0"/>
                <a:cs typeface="Times New Roman" panose="02020603050405020304" pitchFamily="18" charset="0"/>
              </a:rPr>
              <a:t> of the Step 2 meeting unless time limits are mutually extended.</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The decision shall include: </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lvl="1" indent="-457200">
              <a:buAutoNum type="arabicParenR"/>
            </a:pPr>
            <a:r>
              <a:rPr lang="en-US" sz="2400" b="1" dirty="0">
                <a:latin typeface="Times New Roman" panose="02020603050405020304" pitchFamily="18" charset="0"/>
                <a:cs typeface="Times New Roman" panose="02020603050405020304" pitchFamily="18" charset="0"/>
              </a:rPr>
              <a:t>All relevant facts, </a:t>
            </a:r>
          </a:p>
          <a:p>
            <a:pPr lvl="1" indent="-457200">
              <a:buAutoNum type="arabicParenR"/>
            </a:pPr>
            <a:endParaRPr lang="en-US" sz="2000" b="1" dirty="0">
              <a:latin typeface="Times New Roman" panose="02020603050405020304" pitchFamily="18" charset="0"/>
              <a:cs typeface="Times New Roman" panose="02020603050405020304" pitchFamily="18" charset="0"/>
            </a:endParaRPr>
          </a:p>
          <a:p>
            <a:pPr lvl="1" indent="-457200">
              <a:buAutoNum type="arabicParenR" startAt="2"/>
            </a:pPr>
            <a:r>
              <a:rPr lang="en-US" sz="2400" b="1" dirty="0">
                <a:latin typeface="Times New Roman" panose="02020603050405020304" pitchFamily="18" charset="0"/>
                <a:cs typeface="Times New Roman" panose="02020603050405020304" pitchFamily="18" charset="0"/>
              </a:rPr>
              <a:t>Contract provisions involved, and </a:t>
            </a:r>
          </a:p>
          <a:p>
            <a:pPr lvl="1" indent="-457200">
              <a:buAutoNum type="arabicParenR" startAt="2"/>
            </a:pPr>
            <a:endParaRPr lang="en-US" sz="2000" b="1" dirty="0">
              <a:latin typeface="Times New Roman" panose="02020603050405020304" pitchFamily="18" charset="0"/>
              <a:cs typeface="Times New Roman" panose="02020603050405020304" pitchFamily="18" charset="0"/>
            </a:endParaRPr>
          </a:p>
          <a:p>
            <a:pPr lvl="1" indent="-457200">
              <a:buAutoNum type="arabicParenR" startAt="3"/>
            </a:pPr>
            <a:r>
              <a:rPr lang="en-US" sz="2400" b="1" dirty="0">
                <a:latin typeface="Times New Roman" panose="02020603050405020304" pitchFamily="18" charset="0"/>
                <a:cs typeface="Times New Roman" panose="02020603050405020304" pitchFamily="18" charset="0"/>
              </a:rPr>
              <a:t>Detailed reasons for denial.</a:t>
            </a:r>
          </a:p>
          <a:p>
            <a:pPr marL="0" lvl="1"/>
            <a:endParaRPr lang="en-US" sz="2000" b="1" dirty="0">
              <a:latin typeface="Times New Roman" panose="02020603050405020304" pitchFamily="18" charset="0"/>
              <a:cs typeface="Times New Roman" panose="02020603050405020304" pitchFamily="18" charset="0"/>
            </a:endParaRPr>
          </a:p>
          <a:p>
            <a:pPr marL="0" lvl="1"/>
            <a:r>
              <a:rPr lang="en-US" sz="2400" b="1" dirty="0">
                <a:latin typeface="Times New Roman" panose="02020603050405020304" pitchFamily="18" charset="0"/>
                <a:cs typeface="Times New Roman" panose="02020603050405020304" pitchFamily="18" charset="0"/>
              </a:rPr>
              <a:t>NOTE: See CBA, Article 15, Section 2, Step 2 (f ).</a:t>
            </a:r>
          </a:p>
          <a:p>
            <a:pPr lvl="1">
              <a:lnSpc>
                <a:spcPct val="180000"/>
              </a:lnSpc>
            </a:pP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609600" y="152400"/>
            <a:ext cx="7848600" cy="6671057"/>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CORRECTIONS AND/OR ADDITIONS</a:t>
            </a:r>
          </a:p>
          <a:p>
            <a:pPr eaLnBrk="1" hangingPunct="1"/>
            <a:endParaRPr lang="en-US" sz="2000" b="1" dirty="0">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If the Union representative believes that the facts or contentions set forth in Management’s Step 2 decision is incomplete or inaccurate, he/she may file, within </a:t>
            </a:r>
            <a:r>
              <a:rPr lang="en-US" sz="2400" b="1" u="sng" dirty="0">
                <a:latin typeface="Times New Roman" panose="02020603050405020304" pitchFamily="18" charset="0"/>
                <a:cs typeface="Times New Roman" panose="02020603050405020304" pitchFamily="18" charset="0"/>
              </a:rPr>
              <a:t>10 days </a:t>
            </a:r>
            <a:r>
              <a:rPr lang="en-US" sz="2400" b="1" dirty="0">
                <a:latin typeface="Times New Roman" panose="02020603050405020304" pitchFamily="18" charset="0"/>
                <a:cs typeface="Times New Roman" panose="02020603050405020304" pitchFamily="18" charset="0"/>
              </a:rPr>
              <a:t>of receipt of the Step 2 decision, a written statement setting forth any corrections and additions to Management’s Step 2 decision.  </a:t>
            </a:r>
          </a:p>
          <a:p>
            <a:pPr eaLnBrk="1" hangingPunct="1">
              <a:lnSpc>
                <a:spcPct val="95000"/>
              </a:lnSpc>
              <a:buClr>
                <a:srgbClr val="3399FF"/>
              </a:buClr>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All corrections and additions must be filed with the Management Step 2 representative.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Any incorrect statements that Management made should be addressed.</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Filing corrections and additions </a:t>
            </a:r>
            <a:r>
              <a:rPr lang="en-US" sz="2400" b="1" u="sng" dirty="0">
                <a:latin typeface="Times New Roman" panose="02020603050405020304" pitchFamily="18" charset="0"/>
                <a:cs typeface="Times New Roman" panose="02020603050405020304" pitchFamily="18" charset="0"/>
              </a:rPr>
              <a:t>DOES NOT </a:t>
            </a:r>
            <a:r>
              <a:rPr lang="en-US" sz="2400" b="1" dirty="0">
                <a:latin typeface="Times New Roman" panose="02020603050405020304" pitchFamily="18" charset="0"/>
                <a:cs typeface="Times New Roman" panose="02020603050405020304" pitchFamily="18" charset="0"/>
              </a:rPr>
              <a:t>extend the time limits to file the grievance to the next step. </a:t>
            </a:r>
          </a:p>
          <a:p>
            <a:pPr marL="457200" indent="-457200">
              <a:lnSpc>
                <a:spcPct val="95000"/>
              </a:lnSpc>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pP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647700" y="152400"/>
            <a:ext cx="7848600" cy="4074962"/>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CORRECTIONS AND/OR ADDITIONS</a:t>
            </a:r>
          </a:p>
          <a:p>
            <a:pPr algn="ctr" eaLnBrk="1" hangingPunct="1"/>
            <a:r>
              <a:rPr lang="en-US" sz="3200" b="1" u="sng" dirty="0">
                <a:solidFill>
                  <a:srgbClr val="FF6699"/>
                </a:solidFill>
                <a:latin typeface="Tahoma" charset="0"/>
              </a:rPr>
              <a:t>CONT’D</a:t>
            </a:r>
          </a:p>
          <a:p>
            <a:pPr eaLnBrk="1" hangingPunct="1"/>
            <a:endParaRPr lang="en-US" sz="2000" b="1" dirty="0">
              <a:latin typeface="Tahoma" charset="0"/>
            </a:endParaRPr>
          </a:p>
          <a:p>
            <a:pPr marL="457200" indent="-457200" eaLnBrk="1" hangingPunct="1">
              <a:lnSpc>
                <a:spcPct val="95000"/>
              </a:lnSpc>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 the APWU’s CORRECTIONS AND ADDITIONS FORM to restate the Union arguments that were made at the Step 2 meeting. </a:t>
            </a:r>
          </a:p>
          <a:p>
            <a:pPr marL="457200" indent="-457200" eaLnBrk="1" hangingPunct="1">
              <a:lnSpc>
                <a:spcPct val="95000"/>
              </a:lnSpc>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eaLnBrk="1" hangingPunct="1">
              <a:lnSpc>
                <a:spcPct val="95000"/>
              </a:lnSpc>
              <a:buClr>
                <a:srgbClr val="3399FF"/>
              </a:buClr>
            </a:pPr>
            <a:r>
              <a:rPr lang="en-US" sz="2400" b="1" dirty="0">
                <a:latin typeface="Times New Roman" panose="02020603050405020304" pitchFamily="18" charset="0"/>
                <a:cs typeface="Times New Roman" panose="02020603050405020304" pitchFamily="18" charset="0"/>
              </a:rPr>
              <a:t>NOTE: See JCIM, Article 15.2.Step 2(g), ADDITIONS AND CORRECTIONS. </a:t>
            </a:r>
          </a:p>
          <a:p>
            <a:pPr eaLnBrk="1" hangingPunct="1">
              <a:lnSpc>
                <a:spcPct val="95000"/>
              </a:lnSpc>
              <a:buClr>
                <a:srgbClr val="3399FF"/>
              </a:buClr>
            </a:pPr>
            <a:endParaRPr lang="en-US" sz="2000" b="1" dirty="0">
              <a:solidFill>
                <a:srgbClr val="3FCDE7"/>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a:p>
            <a:pPr algn="ctr" eaLnBrk="1" hangingPunct="1">
              <a:lnSpc>
                <a:spcPct val="95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CORRECTIONS AND ADDITIONS FORM.pdf</a:t>
            </a:r>
            <a:endParaRPr lang="en-US" sz="24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0954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ChangeArrowheads="1"/>
          </p:cNvSpPr>
          <p:nvPr/>
        </p:nvSpPr>
        <p:spPr bwMode="auto">
          <a:xfrm>
            <a:off x="533400" y="228600"/>
            <a:ext cx="7924800" cy="6389441"/>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DIRECT APPEALS TO ARBITRATION</a:t>
            </a:r>
          </a:p>
          <a:p>
            <a:pPr eaLnBrk="1" hangingPunct="1"/>
            <a:endParaRPr lang="en-US" sz="2000" b="1" dirty="0">
              <a:solidFill>
                <a:schemeClr val="tx2"/>
              </a:solidFill>
              <a:latin typeface="Tahoma" charset="0"/>
            </a:endParaRPr>
          </a:p>
          <a:p>
            <a:pPr eaLnBrk="1" hangingPunct="1">
              <a:lnSpc>
                <a:spcPct val="95000"/>
              </a:lnSpc>
              <a:buClr>
                <a:srgbClr val="3399FF"/>
              </a:buClr>
            </a:pPr>
            <a:r>
              <a:rPr lang="en-US" sz="2350" b="1" dirty="0">
                <a:latin typeface="Times New Roman" panose="02020603050405020304" pitchFamily="18" charset="0"/>
                <a:cs typeface="Times New Roman" panose="02020603050405020304" pitchFamily="18" charset="0"/>
              </a:rPr>
              <a:t>A Step 2 decision to deny the grievance may be appealed directly to arbitration for disciplinary grievances or contract grievances which involve the interpretation, application or compliance of a Local Memorandum of Understanding (LMOU). Also, those issues that the parties have mutually agreed to appeal to expedited arbitration.  </a:t>
            </a:r>
          </a:p>
          <a:p>
            <a:pPr marL="457200" indent="-457200" eaLnBrk="1" hangingPunct="1">
              <a:lnSpc>
                <a:spcPct val="95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algn="l">
              <a:lnSpc>
                <a:spcPct val="95000"/>
              </a:lnSpc>
              <a:buClr>
                <a:srgbClr val="3399FF"/>
              </a:buClr>
              <a:buFont typeface="Wingdings" panose="05000000000000000000" pitchFamily="2" charset="2"/>
              <a:buChar char="Ø"/>
            </a:pPr>
            <a:r>
              <a:rPr lang="en-US" sz="2350" b="1" i="0" u="none" strike="noStrike" baseline="0" dirty="0">
                <a:latin typeface="Times New Roman" panose="02020603050405020304" pitchFamily="18" charset="0"/>
              </a:rPr>
              <a:t>The grievances must be appealed to the appropriate Grievance/Arbitration Processing Center.</a:t>
            </a:r>
          </a:p>
          <a:p>
            <a:pPr marL="457200" indent="-457200" algn="l">
              <a:lnSpc>
                <a:spcPct val="95000"/>
              </a:lnSpc>
              <a:buClr>
                <a:srgbClr val="3399FF"/>
              </a:buClr>
              <a:buFont typeface="Wingdings" panose="05000000000000000000" pitchFamily="2" charset="2"/>
              <a:buChar char="Ø"/>
            </a:pPr>
            <a:endParaRPr lang="en-US" b="1" dirty="0">
              <a:latin typeface="Times New Roman" panose="02020603050405020304" pitchFamily="18" charset="0"/>
            </a:endParaRPr>
          </a:p>
          <a:p>
            <a:pPr marL="457200" indent="-457200" algn="l">
              <a:lnSpc>
                <a:spcPct val="95000"/>
              </a:lnSpc>
              <a:buClr>
                <a:srgbClr val="3399FF"/>
              </a:buClr>
              <a:buFont typeface="Wingdings" panose="05000000000000000000" pitchFamily="2" charset="2"/>
              <a:buChar char="Ø"/>
            </a:pPr>
            <a:r>
              <a:rPr lang="en-US" sz="2350" b="1" i="0" u="none" strike="noStrike" baseline="0" dirty="0">
                <a:latin typeface="Times New Roman" panose="02020603050405020304" pitchFamily="18" charset="0"/>
              </a:rPr>
              <a:t>The grievances listed below must be appealed directly to arbitration from Step 2 within </a:t>
            </a:r>
            <a:r>
              <a:rPr lang="en-US" sz="2350" b="1" i="0" u="sng" strike="noStrike" baseline="0" dirty="0">
                <a:latin typeface="Times New Roman" panose="02020603050405020304" pitchFamily="18" charset="0"/>
              </a:rPr>
              <a:t>30 days</a:t>
            </a:r>
            <a:r>
              <a:rPr lang="en-US" sz="2350" b="1" i="0" strike="noStrike" baseline="0" dirty="0">
                <a:latin typeface="Times New Roman" panose="02020603050405020304" pitchFamily="18" charset="0"/>
              </a:rPr>
              <a:t> </a:t>
            </a:r>
            <a:r>
              <a:rPr lang="en-US" sz="2350" b="1" i="0" u="none" strike="noStrike" baseline="0" dirty="0">
                <a:latin typeface="Times New Roman" panose="02020603050405020304" pitchFamily="18" charset="0"/>
              </a:rPr>
              <a:t>after the receipt of the Employer’s Step 2 denial.</a:t>
            </a:r>
          </a:p>
          <a:p>
            <a:pPr marL="457200" indent="-457200" algn="l">
              <a:lnSpc>
                <a:spcPct val="95000"/>
              </a:lnSpc>
              <a:buClr>
                <a:srgbClr val="3399FF"/>
              </a:buClr>
              <a:buFont typeface="Wingdings" panose="05000000000000000000" pitchFamily="2" charset="2"/>
              <a:buChar char="Ø"/>
            </a:pPr>
            <a:endParaRPr lang="en-US" sz="2350" b="1" dirty="0">
              <a:latin typeface="Times New Roman" panose="02020603050405020304" pitchFamily="18" charset="0"/>
            </a:endParaRPr>
          </a:p>
          <a:p>
            <a:pPr algn="l">
              <a:lnSpc>
                <a:spcPct val="95000"/>
              </a:lnSpc>
              <a:buClr>
                <a:srgbClr val="3399FF"/>
              </a:buClr>
            </a:pPr>
            <a:r>
              <a:rPr lang="en-US" sz="2350" b="1" i="0" u="none" strike="noStrike" baseline="0" dirty="0">
                <a:latin typeface="Times New Roman" panose="02020603050405020304" pitchFamily="18" charset="0"/>
              </a:rPr>
              <a:t>NOTE: See JCIM, Article 15.2.Step 3(d), ARBITRATION APPEALS (NOTE), Paragraph 4.</a:t>
            </a:r>
            <a:endParaRPr lang="en-US" sz="2350" b="1" dirty="0">
              <a:latin typeface="Tahoma" charset="0"/>
            </a:endParaRPr>
          </a:p>
        </p:txBody>
      </p:sp>
    </p:spTree>
    <p:extLst>
      <p:ext uri="{BB962C8B-B14F-4D97-AF65-F5344CB8AC3E}">
        <p14:creationId xmlns:p14="http://schemas.microsoft.com/office/powerpoint/2010/main" val="1622233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79B89-8F28-4F49-9D5F-6293BC6AADB4}"/>
              </a:ext>
            </a:extLst>
          </p:cNvPr>
          <p:cNvSpPr txBox="1"/>
          <p:nvPr/>
        </p:nvSpPr>
        <p:spPr>
          <a:xfrm>
            <a:off x="533400" y="243882"/>
            <a:ext cx="7924800" cy="6461769"/>
          </a:xfrm>
          <a:prstGeom prst="rect">
            <a:avLst/>
          </a:prstGeom>
          <a:noFill/>
        </p:spPr>
        <p:txBody>
          <a:bodyPr wrap="square">
            <a:spAutoFit/>
          </a:bodyPr>
          <a:lstStyle/>
          <a:p>
            <a:pPr algn="ctr">
              <a:buClr>
                <a:srgbClr val="3399FF"/>
              </a:buClr>
            </a:pPr>
            <a:r>
              <a:rPr lang="en-US" sz="3000" b="1" u="sng" dirty="0">
                <a:solidFill>
                  <a:srgbClr val="FF6699"/>
                </a:solidFill>
                <a:latin typeface="Tahoma" charset="0"/>
              </a:rPr>
              <a:t>DIRECT APPEALS TO ARBITRATION CONT’D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When mailing the Appeal to Arbitration Form, send it to Management by certified mail, return receipt requested. (Attach both receipts to </a:t>
            </a:r>
            <a:r>
              <a:rPr lang="en-US" sz="2300" b="1" u="sng" dirty="0">
                <a:latin typeface="Times New Roman" panose="02020603050405020304" pitchFamily="18" charset="0"/>
                <a:cs typeface="Times New Roman" panose="02020603050405020304" pitchFamily="18" charset="0"/>
              </a:rPr>
              <a:t>your personal </a:t>
            </a:r>
            <a:r>
              <a:rPr lang="en-US" sz="2300" b="1" dirty="0">
                <a:latin typeface="Times New Roman" panose="02020603050405020304" pitchFamily="18" charset="0"/>
                <a:cs typeface="Times New Roman" panose="02020603050405020304" pitchFamily="18" charset="0"/>
              </a:rPr>
              <a:t> grievance file).</a:t>
            </a:r>
          </a:p>
          <a:p>
            <a:pPr eaLnBrk="1" hangingPunct="1">
              <a:lnSpc>
                <a:spcPct val="90000"/>
              </a:lnSpc>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When using alternative methods, the Direct Appeal to Arbitration must be received on or before the </a:t>
            </a:r>
            <a:r>
              <a:rPr lang="en-US" sz="2300" b="1" u="sng" dirty="0">
                <a:latin typeface="Times New Roman" panose="02020603050405020304" pitchFamily="18" charset="0"/>
                <a:cs typeface="Times New Roman" panose="02020603050405020304" pitchFamily="18" charset="0"/>
              </a:rPr>
              <a:t>thirty day</a:t>
            </a:r>
            <a:r>
              <a:rPr lang="en-US" sz="2300" b="1" dirty="0">
                <a:latin typeface="Times New Roman" panose="02020603050405020304" pitchFamily="18" charset="0"/>
                <a:cs typeface="Times New Roman" panose="02020603050405020304" pitchFamily="18" charset="0"/>
              </a:rPr>
              <a:t>.</a:t>
            </a:r>
          </a:p>
          <a:p>
            <a:pPr eaLnBrk="1" hangingPunct="1">
              <a:lnSpc>
                <a:spcPct val="90000"/>
              </a:lnSpc>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Any local using Electronic Grievance System (EGS) </a:t>
            </a: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	to appeal their cases, the date the Direct Appeal to 	Arbitration is entered into EGS is the date to be 	considered received by Management. </a:t>
            </a:r>
          </a:p>
          <a:p>
            <a:pPr eaLnBrk="1" hangingPunct="1">
              <a:lnSpc>
                <a:spcPct val="90000"/>
              </a:lnSpc>
            </a:pPr>
            <a:endParaRPr lang="en-US" b="1" dirty="0">
              <a:latin typeface="Times New Roman" panose="02020603050405020304" pitchFamily="18" charset="0"/>
              <a:cs typeface="Times New Roman" panose="02020603050405020304" pitchFamily="18" charset="0"/>
            </a:endParaRPr>
          </a:p>
          <a:p>
            <a:pPr>
              <a:lnSpc>
                <a:spcPct val="90000"/>
              </a:lnSpc>
              <a:buClr>
                <a:srgbClr val="3399FF"/>
              </a:buClr>
            </a:pPr>
            <a:r>
              <a:rPr lang="en-US" sz="2300" b="1" dirty="0">
                <a:latin typeface="Times New Roman" panose="02020603050405020304" pitchFamily="18" charset="0"/>
                <a:cs typeface="Times New Roman" panose="02020603050405020304" pitchFamily="18" charset="0"/>
              </a:rPr>
              <a:t>NOTE: In order to avoid timeliness issues, the Union representative </a:t>
            </a:r>
            <a:r>
              <a:rPr lang="en-US" sz="2300" b="1" u="sng" dirty="0">
                <a:latin typeface="Times New Roman" panose="02020603050405020304" pitchFamily="18" charset="0"/>
                <a:cs typeface="Times New Roman" panose="02020603050405020304" pitchFamily="18" charset="0"/>
              </a:rPr>
              <a:t>should not wait</a:t>
            </a:r>
            <a:r>
              <a:rPr lang="en-US" sz="2300" b="1" dirty="0">
                <a:latin typeface="Times New Roman" panose="02020603050405020304" pitchFamily="18" charset="0"/>
                <a:cs typeface="Times New Roman" panose="02020603050405020304" pitchFamily="18" charset="0"/>
              </a:rPr>
              <a:t> until the last day to appeal the grievance.  </a:t>
            </a:r>
          </a:p>
          <a:p>
            <a:pPr>
              <a:lnSpc>
                <a:spcPct val="90000"/>
              </a:lnSpc>
              <a:buClr>
                <a:srgbClr val="3399FF"/>
              </a:buClr>
            </a:pPr>
            <a:endParaRPr lang="en-US" b="1" dirty="0">
              <a:latin typeface="Times New Roman" panose="02020603050405020304" pitchFamily="18" charset="0"/>
              <a:cs typeface="Times New Roman" panose="02020603050405020304" pitchFamily="18" charset="0"/>
            </a:endParaRPr>
          </a:p>
          <a:p>
            <a:pPr algn="ctr">
              <a:lnSpc>
                <a:spcPct val="90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APPEAL TO ARBITRATION FROM STEP 2 FORM.pdf</a:t>
            </a:r>
            <a:endParaRPr lang="en-US" sz="24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41736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ChangeArrowheads="1"/>
          </p:cNvSpPr>
          <p:nvPr/>
        </p:nvSpPr>
        <p:spPr bwMode="auto">
          <a:xfrm>
            <a:off x="609600" y="228600"/>
            <a:ext cx="7848600" cy="6217087"/>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TIMELINESS ISSUE STEP 2</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Management fails to raise the issue of timeliness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at Step 2, or at the step at which the employee or 	Union 	failed to meet the prescribed time limits, whichever is 	later, it waives the right to raise the issue.  </a:t>
            </a:r>
          </a:p>
          <a:p>
            <a:pPr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Management asserts that a grievance was not timely at Step 1, Management must raise the issue at Step 2 (Because Step 2 is “later” than Step 1) or the objection is waived.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In cases where Management fails to </a:t>
            </a:r>
            <a:r>
              <a:rPr lang="en-US" sz="2400" b="1" u="sng" dirty="0">
                <a:latin typeface="Times New Roman" panose="02020603050405020304" pitchFamily="18" charset="0"/>
                <a:cs typeface="Times New Roman" panose="02020603050405020304" pitchFamily="18" charset="0"/>
              </a:rPr>
              <a:t>issue a timely decision</a:t>
            </a:r>
            <a:r>
              <a:rPr lang="en-US" sz="2400" b="1" dirty="0">
                <a:latin typeface="Times New Roman" panose="02020603050405020304" pitchFamily="18" charset="0"/>
                <a:cs typeface="Times New Roman" panose="02020603050405020304" pitchFamily="18" charset="0"/>
              </a:rPr>
              <a:t>, the time limits for appeal to the next step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are counted from the date the decision was due.  </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15.4.B, TIMELINESS.</a:t>
            </a:r>
          </a:p>
        </p:txBody>
      </p:sp>
    </p:spTree>
    <p:extLst>
      <p:ext uri="{BB962C8B-B14F-4D97-AF65-F5344CB8AC3E}">
        <p14:creationId xmlns:p14="http://schemas.microsoft.com/office/powerpoint/2010/main" val="18301021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04800"/>
            <a:ext cx="7848600" cy="6324600"/>
          </a:xfrm>
        </p:spPr>
        <p:txBody>
          <a:bodyPr>
            <a:normAutofit fontScale="25000" lnSpcReduction="20000"/>
          </a:bodyPr>
          <a:lstStyle/>
          <a:p>
            <a:pPr marL="0" indent="0" algn="ctr" eaLnBrk="1" hangingPunct="1">
              <a:buNone/>
            </a:pPr>
            <a:r>
              <a:rPr lang="en-US" sz="12800" b="1" u="sng" dirty="0">
                <a:solidFill>
                  <a:srgbClr val="FF6699"/>
                </a:solidFill>
                <a:latin typeface="Tahoma" charset="0"/>
              </a:rPr>
              <a:t>TIMELINESS ISSUE STEP 2 CONT’D</a:t>
            </a:r>
          </a:p>
          <a:p>
            <a:pPr marL="457200" indent="-457200" eaLnBrk="1" hangingPunct="1">
              <a:lnSpc>
                <a:spcPct val="120000"/>
              </a:lnSpc>
              <a:spcBef>
                <a:spcPts val="0"/>
              </a:spcBef>
              <a:buFont typeface="Wingdings" panose="05000000000000000000" pitchFamily="2" charset="2"/>
              <a:buChar char="Ø"/>
            </a:pPr>
            <a:endParaRPr lang="en-US" sz="8000" b="1" dirty="0">
              <a:latin typeface="Times New Roman" panose="02020603050405020304" pitchFamily="18" charset="0"/>
              <a:cs typeface="Times New Roman" panose="02020603050405020304" pitchFamily="18" charset="0"/>
            </a:endParaRPr>
          </a:p>
          <a:p>
            <a:pPr marL="457200" indent="-457200" eaLnBrk="1" hangingPunct="1">
              <a:lnSpc>
                <a:spcPct val="115000"/>
              </a:lnSpc>
              <a:spcBef>
                <a:spcPts val="0"/>
              </a:spcBef>
              <a:buSzPct val="100000"/>
              <a:buFont typeface="Wingdings" panose="05000000000000000000" pitchFamily="2" charset="2"/>
              <a:buChar char="Ø"/>
            </a:pPr>
            <a:r>
              <a:rPr lang="en-US" sz="9200" b="1" dirty="0">
                <a:latin typeface="Times New Roman" panose="02020603050405020304" pitchFamily="18" charset="0"/>
                <a:cs typeface="Times New Roman" panose="02020603050405020304" pitchFamily="18" charset="0"/>
              </a:rPr>
              <a:t>In cases where Management fails to </a:t>
            </a:r>
            <a:r>
              <a:rPr lang="en-US" sz="9200" b="1" u="sng" dirty="0">
                <a:latin typeface="Times New Roman" panose="02020603050405020304" pitchFamily="18" charset="0"/>
                <a:cs typeface="Times New Roman" panose="02020603050405020304" pitchFamily="18" charset="0"/>
              </a:rPr>
              <a:t>schedule a timely meeting</a:t>
            </a:r>
            <a:r>
              <a:rPr lang="en-US" sz="9200" b="1" dirty="0">
                <a:latin typeface="Times New Roman" panose="02020603050405020304" pitchFamily="18" charset="0"/>
                <a:cs typeface="Times New Roman" panose="02020603050405020304" pitchFamily="18" charset="0"/>
              </a:rPr>
              <a:t>, the time limits for appeal to the next step are counted from the last date a timely meeting could have been scheduled.</a:t>
            </a:r>
          </a:p>
          <a:p>
            <a:pPr marL="457200" indent="-457200" eaLnBrk="1" hangingPunct="1">
              <a:lnSpc>
                <a:spcPct val="115000"/>
              </a:lnSpc>
              <a:spcBef>
                <a:spcPts val="0"/>
              </a:spcBef>
              <a:buSzPct val="100000"/>
              <a:buFont typeface="Wingdings" panose="05000000000000000000" pitchFamily="2" charset="2"/>
              <a:buChar char="Ø"/>
            </a:pPr>
            <a:endParaRPr lang="en-US" sz="7200" b="1" dirty="0">
              <a:latin typeface="Times New Roman" panose="02020603050405020304" pitchFamily="18" charset="0"/>
              <a:cs typeface="Times New Roman" panose="02020603050405020304" pitchFamily="18" charset="0"/>
            </a:endParaRPr>
          </a:p>
          <a:p>
            <a:pPr marL="457200" indent="-457200">
              <a:lnSpc>
                <a:spcPct val="115000"/>
              </a:lnSpc>
              <a:spcBef>
                <a:spcPts val="0"/>
              </a:spcBef>
              <a:buSzPct val="100000"/>
              <a:buFont typeface="Wingdings" panose="05000000000000000000" pitchFamily="2" charset="2"/>
              <a:buChar char="Ø"/>
            </a:pPr>
            <a:r>
              <a:rPr lang="en-US" sz="9200" b="1" dirty="0">
                <a:solidFill>
                  <a:schemeClr val="tx1"/>
                </a:solidFill>
                <a:latin typeface="Times New Roman" panose="02020603050405020304" pitchFamily="18" charset="0"/>
                <a:cs typeface="Times New Roman" panose="02020603050405020304" pitchFamily="18" charset="0"/>
              </a:rPr>
              <a:t>Never refuse to file a grievance simply because you know it is untimely. It’s up to Management to make that claim, no later than at Step 2.</a:t>
            </a:r>
          </a:p>
          <a:p>
            <a:pPr marL="457200" indent="-457200">
              <a:lnSpc>
                <a:spcPct val="115000"/>
              </a:lnSpc>
              <a:spcBef>
                <a:spcPts val="0"/>
              </a:spcBef>
              <a:buFont typeface="Wingdings" panose="05000000000000000000" pitchFamily="2" charset="2"/>
              <a:buChar char="Ø"/>
            </a:pPr>
            <a:endParaRPr lang="en-US" sz="7200" b="1" dirty="0">
              <a:solidFill>
                <a:schemeClr val="tx1"/>
              </a:solidFill>
              <a:latin typeface="Times New Roman" panose="02020603050405020304" pitchFamily="18" charset="0"/>
              <a:cs typeface="Times New Roman" panose="02020603050405020304" pitchFamily="18" charset="0"/>
            </a:endParaRPr>
          </a:p>
          <a:p>
            <a:pPr marL="457200" indent="-457200">
              <a:lnSpc>
                <a:spcPct val="115000"/>
              </a:lnSpc>
              <a:spcBef>
                <a:spcPts val="0"/>
              </a:spcBef>
              <a:buFont typeface="Wingdings" panose="05000000000000000000" pitchFamily="2" charset="2"/>
              <a:buChar char="Ø"/>
            </a:pPr>
            <a:r>
              <a:rPr lang="en-US" sz="9200" b="1" dirty="0">
                <a:solidFill>
                  <a:schemeClr val="tx1"/>
                </a:solidFill>
                <a:latin typeface="Times New Roman" panose="02020603050405020304" pitchFamily="18" charset="0"/>
                <a:cs typeface="Times New Roman" panose="02020603050405020304" pitchFamily="18" charset="0"/>
              </a:rPr>
              <a:t>Ask the grievant to sign and date a statement verifying the date that the Union was contacted to file the grievance. This protects the Union against an Unfair Labor Charge, if there is a timeliness issue raised by Management.</a:t>
            </a:r>
          </a:p>
          <a:p>
            <a:pPr marL="0" indent="0">
              <a:lnSpc>
                <a:spcPct val="115000"/>
              </a:lnSpc>
              <a:spcBef>
                <a:spcPts val="0"/>
              </a:spcBef>
              <a:buNone/>
            </a:pPr>
            <a:endParaRPr lang="en-US" sz="7200" b="1" dirty="0">
              <a:solidFill>
                <a:schemeClr val="tx1"/>
              </a:solidFill>
              <a:latin typeface="Times New Roman" panose="02020603050405020304" pitchFamily="18" charset="0"/>
              <a:cs typeface="Times New Roman" panose="02020603050405020304" pitchFamily="18" charset="0"/>
            </a:endParaRPr>
          </a:p>
          <a:p>
            <a:pPr marL="0" indent="0">
              <a:lnSpc>
                <a:spcPct val="115000"/>
              </a:lnSpc>
              <a:spcBef>
                <a:spcPts val="0"/>
              </a:spcBef>
              <a:buNone/>
            </a:pPr>
            <a:r>
              <a:rPr lang="en-US" sz="9200" b="1" dirty="0">
                <a:solidFill>
                  <a:schemeClr val="tx1"/>
                </a:solidFill>
                <a:latin typeface="Times New Roman" panose="02020603050405020304" pitchFamily="18" charset="0"/>
                <a:cs typeface="Times New Roman" panose="02020603050405020304" pitchFamily="18" charset="0"/>
              </a:rPr>
              <a:t>Note: See JCIM, Article 15.4.C, FAILURE TO SCHEDULE A MEETING/ISSUE A DECISION.</a:t>
            </a:r>
          </a:p>
          <a:p>
            <a:pPr marL="0" indent="0">
              <a:lnSpc>
                <a:spcPct val="120000"/>
              </a:lnSpc>
              <a:spcBef>
                <a:spcPts val="0"/>
              </a:spcBef>
              <a:buNone/>
            </a:pPr>
            <a:br>
              <a:rPr lang="en-US" sz="9600" b="1" dirty="0">
                <a:solidFill>
                  <a:schemeClr val="tx1"/>
                </a:solidFill>
                <a:latin typeface="Times New Roman" panose="02020603050405020304" pitchFamily="18" charset="0"/>
                <a:cs typeface="Times New Roman" panose="02020603050405020304" pitchFamily="18" charset="0"/>
              </a:rPr>
            </a:br>
            <a:endParaRPr lang="en-US" sz="9600" b="1" dirty="0">
              <a:solidFill>
                <a:schemeClr val="tx1"/>
              </a:solidFill>
              <a:latin typeface="Times New Roman" panose="02020603050405020304" pitchFamily="18" charset="0"/>
              <a:cs typeface="Times New Roman" panose="02020603050405020304" pitchFamily="18" charset="0"/>
            </a:endParaRPr>
          </a:p>
          <a:p>
            <a:pPr marL="0" indent="0">
              <a:lnSpc>
                <a:spcPct val="120000"/>
              </a:lnSpc>
              <a:spcBef>
                <a:spcPts val="0"/>
              </a:spcBef>
              <a:buNone/>
            </a:pPr>
            <a:endParaRPr lang="en-US" sz="9600" b="1" dirty="0">
              <a:solidFill>
                <a:schemeClr val="tx1"/>
              </a:solidFill>
              <a:latin typeface="Times New Roman" panose="02020603050405020304" pitchFamily="18" charset="0"/>
              <a:cs typeface="Times New Roman" panose="02020603050405020304" pitchFamily="18" charset="0"/>
            </a:endParaRPr>
          </a:p>
          <a:p>
            <a:pPr marL="0" indent="0">
              <a:lnSpc>
                <a:spcPct val="120000"/>
              </a:lnSpc>
              <a:spcBef>
                <a:spcPts val="0"/>
              </a:spcBef>
              <a:buNone/>
            </a:pPr>
            <a:endParaRPr lang="en-US" sz="9600" b="1" dirty="0">
              <a:solidFill>
                <a:schemeClr val="tx1"/>
              </a:solidFill>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pPr>
            <a:endParaRPr lang="en-US" sz="9600" b="1" dirty="0">
              <a:solidFill>
                <a:schemeClr val="tx1"/>
              </a:solidFill>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pPr>
            <a:endParaRPr lang="en-US" sz="10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710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BF09DB-2349-4ADD-B21E-8B36A6870DAB}"/>
              </a:ext>
            </a:extLst>
          </p:cNvPr>
          <p:cNvSpPr txBox="1"/>
          <p:nvPr/>
        </p:nvSpPr>
        <p:spPr>
          <a:xfrm>
            <a:off x="685800" y="389033"/>
            <a:ext cx="7696200" cy="6018379"/>
          </a:xfrm>
          <a:prstGeom prst="rect">
            <a:avLst/>
          </a:prstGeom>
          <a:noFill/>
        </p:spPr>
        <p:txBody>
          <a:bodyPr wrap="square">
            <a:spAutoFit/>
          </a:bodyPr>
          <a:lstStyle/>
          <a:p>
            <a:pPr algn="ctr">
              <a:buClr>
                <a:srgbClr val="3399FF"/>
              </a:buClr>
            </a:pPr>
            <a:r>
              <a:rPr lang="en-US" sz="3100" b="1" u="sng" dirty="0">
                <a:solidFill>
                  <a:srgbClr val="FF6699"/>
                </a:solidFill>
                <a:latin typeface="Tahoma" charset="0"/>
              </a:rPr>
              <a:t>EXPEDITED GRIEVANCES TO APPEAL </a:t>
            </a:r>
          </a:p>
          <a:p>
            <a:pPr algn="ctr">
              <a:buClr>
                <a:srgbClr val="3399FF"/>
              </a:buClr>
            </a:pPr>
            <a:r>
              <a:rPr lang="en-US" sz="3100" b="1" u="sng" dirty="0">
                <a:solidFill>
                  <a:srgbClr val="FF6699"/>
                </a:solidFill>
                <a:latin typeface="Tahoma" charset="0"/>
              </a:rPr>
              <a:t>DIRECTLY TO ARBITRATION CONT’D</a:t>
            </a:r>
          </a:p>
          <a:p>
            <a:pPr algn="ctr"/>
            <a:endParaRPr lang="en-US" sz="2000" b="0" i="0" u="none" strike="noStrike" baseline="0" dirty="0">
              <a:latin typeface="Times New Roman" panose="02020603050405020304" pitchFamily="18" charset="0"/>
            </a:endParaRPr>
          </a:p>
          <a:p>
            <a:pPr algn="l">
              <a:buClr>
                <a:srgbClr val="3399FF"/>
              </a:buClr>
            </a:pPr>
            <a:r>
              <a:rPr lang="en-US" sz="2400" b="1" i="0" u="none" strike="noStrike" baseline="0" dirty="0">
                <a:latin typeface="Times New Roman" panose="02020603050405020304" pitchFamily="18" charset="0"/>
              </a:rPr>
              <a:t>The grievances listed below can be appealed from Step 2 directly to arbitration.</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Individual Overtime Grievances</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Withholding of Step Increases’ Grievances</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Individual Leave Request</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Requests for Medical Certification</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Letters of Warning and AWOL</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Individual Holiday Scheduling Grievances</a:t>
            </a:r>
          </a:p>
        </p:txBody>
      </p:sp>
    </p:spTree>
    <p:extLst>
      <p:ext uri="{BB962C8B-B14F-4D97-AF65-F5344CB8AC3E}">
        <p14:creationId xmlns:p14="http://schemas.microsoft.com/office/powerpoint/2010/main" val="19107587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8D22E7-EF87-4F47-945F-3BFC8554A2A7}"/>
              </a:ext>
            </a:extLst>
          </p:cNvPr>
          <p:cNvSpPr txBox="1"/>
          <p:nvPr/>
        </p:nvSpPr>
        <p:spPr>
          <a:xfrm>
            <a:off x="685800" y="201192"/>
            <a:ext cx="7848600" cy="6235553"/>
          </a:xfrm>
          <a:prstGeom prst="rect">
            <a:avLst/>
          </a:prstGeom>
          <a:noFill/>
        </p:spPr>
        <p:txBody>
          <a:bodyPr wrap="square">
            <a:spAutoFit/>
          </a:bodyPr>
          <a:lstStyle/>
          <a:p>
            <a:pPr algn="ctr">
              <a:buClr>
                <a:srgbClr val="3399FF"/>
              </a:buClr>
            </a:pPr>
            <a:r>
              <a:rPr lang="en-US" sz="3100" b="1" u="sng" dirty="0">
                <a:solidFill>
                  <a:srgbClr val="FF6699"/>
                </a:solidFill>
                <a:latin typeface="Tahoma" charset="0"/>
              </a:rPr>
              <a:t>EXPEDITED GRIEVANCES TO APPEAL </a:t>
            </a:r>
          </a:p>
          <a:p>
            <a:pPr algn="ctr">
              <a:buClr>
                <a:srgbClr val="3399FF"/>
              </a:buClr>
            </a:pPr>
            <a:r>
              <a:rPr lang="en-US" sz="3100" b="1" u="sng" dirty="0">
                <a:solidFill>
                  <a:srgbClr val="FF6699"/>
                </a:solidFill>
                <a:latin typeface="Tahoma" charset="0"/>
              </a:rPr>
              <a:t>DIRECTLY TO ARBITRATION CONT’D</a:t>
            </a:r>
          </a:p>
          <a:p>
            <a:pPr algn="ctr">
              <a:buClr>
                <a:srgbClr val="3399FF"/>
              </a:buClr>
            </a:pPr>
            <a:endParaRPr lang="en-US" sz="2000" b="1" u="sng" dirty="0">
              <a:solidFill>
                <a:srgbClr val="FF6699"/>
              </a:solidFill>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Suspensions (Except Emergency Suspensions)</a:t>
            </a:r>
            <a:endParaRPr lang="en-US" sz="2400" b="1" dirty="0">
              <a:latin typeface="Times New Roman" panose="02020603050405020304" pitchFamily="18" charset="0"/>
              <a:cs typeface="Times New Roman" panose="02020603050405020304" pitchFamily="18" charset="0"/>
            </a:endParaRP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Article 25, Higher Level Assignments</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Employee Claims (Article 27)</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Letters of Demand of Less than $2,000</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Individual Clerk Craft Seniority Disputes</a:t>
            </a:r>
          </a:p>
          <a:p>
            <a:pPr marL="457200" indent="-457200" algn="l">
              <a:lnSpc>
                <a:spcPct val="180000"/>
              </a:lnSpc>
              <a:buClr>
                <a:srgbClr val="3399FF"/>
              </a:buClr>
              <a:buFont typeface="Wingdings" panose="05000000000000000000" pitchFamily="2" charset="2"/>
              <a:buChar char="Ø"/>
            </a:pPr>
            <a:r>
              <a:rPr lang="en-US" sz="2400" b="1" i="0" strike="noStrike" baseline="0" dirty="0">
                <a:latin typeface="Times New Roman" panose="02020603050405020304" pitchFamily="18" charset="0"/>
              </a:rPr>
              <a:t>Steward Time (Added in the last CBA </a:t>
            </a:r>
            <a:r>
              <a:rPr lang="en-US" sz="2400" b="1" i="0" strike="noStrike" baseline="0">
                <a:latin typeface="Times New Roman" panose="02020603050405020304" pitchFamily="18" charset="0"/>
              </a:rPr>
              <a:t>Memo)</a:t>
            </a:r>
          </a:p>
          <a:p>
            <a:pPr marL="457200" indent="-457200" algn="l">
              <a:lnSpc>
                <a:spcPct val="18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Annual Leave, Sick Leave, Leave Without Pay, </a:t>
            </a:r>
          </a:p>
          <a:p>
            <a:pPr algn="l">
              <a:buClr>
                <a:srgbClr val="3399FF"/>
              </a:buClr>
            </a:pPr>
            <a:r>
              <a:rPr lang="en-US" sz="2400" b="1" dirty="0">
                <a:latin typeface="Times New Roman" panose="02020603050405020304" pitchFamily="18" charset="0"/>
              </a:rPr>
              <a:t>	</a:t>
            </a:r>
            <a:r>
              <a:rPr lang="en-US" sz="2400" b="1" i="0" u="none" strike="noStrike" baseline="0" dirty="0">
                <a:latin typeface="Times New Roman" panose="02020603050405020304" pitchFamily="18" charset="0"/>
              </a:rPr>
              <a:t>Court Leave, and Restricted Sick Leave</a:t>
            </a:r>
            <a:endParaRPr lang="en-US" sz="1100" b="1" i="0" u="sng" strike="noStrike" baseline="0" dirty="0">
              <a:latin typeface="Times New Roman" panose="02020603050405020304" pitchFamily="18" charset="0"/>
            </a:endParaRPr>
          </a:p>
          <a:p>
            <a:pPr marL="457200" indent="-457200" algn="l">
              <a:buClr>
                <a:srgbClr val="3399FF"/>
              </a:buClr>
              <a:buFont typeface="Wingdings" panose="05000000000000000000" pitchFamily="2" charset="2"/>
              <a:buChar char="Ø"/>
            </a:pPr>
            <a:endParaRPr lang="en-US" sz="1000" b="1" i="0" u="none" strike="noStrike" baseline="0" dirty="0">
              <a:latin typeface="TimesNewRomanPSMT"/>
            </a:endParaRPr>
          </a:p>
        </p:txBody>
      </p:sp>
    </p:spTree>
    <p:extLst>
      <p:ext uri="{BB962C8B-B14F-4D97-AF65-F5344CB8AC3E}">
        <p14:creationId xmlns:p14="http://schemas.microsoft.com/office/powerpoint/2010/main" val="3608990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8A3BE5-46B0-41E9-B567-BE58747008C6}"/>
              </a:ext>
            </a:extLst>
          </p:cNvPr>
          <p:cNvSpPr txBox="1"/>
          <p:nvPr/>
        </p:nvSpPr>
        <p:spPr>
          <a:xfrm>
            <a:off x="685800" y="320456"/>
            <a:ext cx="7696200" cy="6217087"/>
          </a:xfrm>
          <a:prstGeom prst="rect">
            <a:avLst/>
          </a:prstGeom>
          <a:noFill/>
        </p:spPr>
        <p:txBody>
          <a:bodyPr wrap="square">
            <a:spAutoFit/>
          </a:bodyPr>
          <a:lstStyle/>
          <a:p>
            <a:pPr algn="ctr">
              <a:buClr>
                <a:srgbClr val="3399FF"/>
              </a:buClr>
            </a:pPr>
            <a:r>
              <a:rPr lang="en-US" sz="3100" b="1" u="sng" dirty="0">
                <a:solidFill>
                  <a:srgbClr val="FF6699"/>
                </a:solidFill>
                <a:latin typeface="Tahoma" charset="0"/>
              </a:rPr>
              <a:t>EXPEDITED GRIEVANCES TO APPEAL </a:t>
            </a:r>
          </a:p>
          <a:p>
            <a:pPr algn="ctr">
              <a:buClr>
                <a:srgbClr val="3399FF"/>
              </a:buClr>
            </a:pPr>
            <a:r>
              <a:rPr lang="en-US" sz="3100" b="1" u="sng" dirty="0">
                <a:solidFill>
                  <a:srgbClr val="FF6699"/>
                </a:solidFill>
                <a:latin typeface="Tahoma" charset="0"/>
              </a:rPr>
              <a:t>DIRECTLY TO ARBITRATION CONT’D</a:t>
            </a:r>
          </a:p>
          <a:p>
            <a:pPr marL="457200" indent="-457200" algn="l">
              <a:buClr>
                <a:srgbClr val="3399FF"/>
              </a:buClr>
              <a:buFont typeface="Wingdings" panose="05000000000000000000" pitchFamily="2" charset="2"/>
              <a:buChar char="Ø"/>
            </a:pPr>
            <a:endParaRPr lang="en-US" sz="2000" b="1" i="0" u="none" strike="noStrike" baseline="0" dirty="0">
              <a:latin typeface="TimesNewRomanPSMT"/>
            </a:endParaRPr>
          </a:p>
          <a:p>
            <a:pPr marL="457200" indent="-457200">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Such other matters as are mutually agreeable at the Area/Regional Level.</a:t>
            </a:r>
          </a:p>
          <a:p>
            <a:pPr marL="457200" indent="-457200" algn="l">
              <a:buClr>
                <a:srgbClr val="3399FF"/>
              </a:buClr>
              <a:buFont typeface="Wingdings" panose="05000000000000000000" pitchFamily="2" charset="2"/>
              <a:buChar char="Ø"/>
            </a:pPr>
            <a:endParaRPr lang="en-US" sz="2000" b="1" dirty="0">
              <a:latin typeface="TimesNewRomanPSMT"/>
            </a:endParaRPr>
          </a:p>
          <a:p>
            <a:pPr marL="457200" indent="-457200" algn="l">
              <a:buClr>
                <a:srgbClr val="3399FF"/>
              </a:buClr>
              <a:buFont typeface="Wingdings" panose="05000000000000000000" pitchFamily="2" charset="2"/>
              <a:buChar char="Ø"/>
            </a:pPr>
            <a:r>
              <a:rPr lang="en-US" sz="2400" b="1" i="0" u="none" strike="noStrike" baseline="0" dirty="0">
                <a:latin typeface="TimesNewRomanPSMT"/>
              </a:rPr>
              <a:t>Either party’s has the right to refer an expedited case to regular arbitration in accordance with </a:t>
            </a:r>
            <a:r>
              <a:rPr lang="en-US" sz="2400" b="1" i="0" u="sng" strike="noStrike" baseline="0" dirty="0">
                <a:latin typeface="TimesNewRomanPSMT"/>
              </a:rPr>
              <a:t>Article 15, Section 5.C,</a:t>
            </a:r>
            <a:r>
              <a:rPr lang="en-US" sz="2400" b="1" i="0" u="none" strike="noStrike" baseline="0" dirty="0">
                <a:latin typeface="TimesNewRomanPSMT"/>
              </a:rPr>
              <a:t> of the CBA.</a:t>
            </a:r>
          </a:p>
          <a:p>
            <a:pPr algn="l">
              <a:buClr>
                <a:srgbClr val="3399FF"/>
              </a:buClr>
            </a:pPr>
            <a:endParaRPr lang="en-US" sz="2000" b="1" dirty="0">
              <a:latin typeface="TimesNewRomanPSMT"/>
            </a:endParaRPr>
          </a:p>
          <a:p>
            <a:pPr algn="l">
              <a:buClr>
                <a:srgbClr val="3399FF"/>
              </a:buClr>
            </a:pPr>
            <a:r>
              <a:rPr lang="en-US" sz="2400" b="1" i="0" u="none" strike="noStrike" baseline="0" dirty="0">
                <a:latin typeface="TimesNewRomanPSMT"/>
              </a:rPr>
              <a:t>NOTE: See JCIM, Article 15.5.C, EXPEDITED ARBITRATION.</a:t>
            </a:r>
            <a:endParaRPr lang="en-US" sz="2400" b="1" dirty="0">
              <a:latin typeface="TimesNewRomanPSMT"/>
              <a:cs typeface="Times New Roman" panose="02020603050405020304" pitchFamily="18" charset="0"/>
            </a:endParaRPr>
          </a:p>
          <a:p>
            <a:pPr marL="457200" indent="-457200" algn="l">
              <a:buClr>
                <a:srgbClr val="3399FF"/>
              </a:buClr>
              <a:buFont typeface="Wingdings" panose="05000000000000000000" pitchFamily="2" charset="2"/>
              <a:buChar char="Ø"/>
            </a:pPr>
            <a:endParaRPr lang="en-US" sz="1800" b="1" dirty="0">
              <a:latin typeface="TimesNewRomanPSMT"/>
              <a:cs typeface="Times New Roman" panose="02020603050405020304" pitchFamily="18" charset="0"/>
            </a:endParaRPr>
          </a:p>
          <a:p>
            <a:pPr marL="457200" indent="-457200" algn="l">
              <a:buClr>
                <a:srgbClr val="3399FF"/>
              </a:buClr>
              <a:buFont typeface="Wingdings" panose="05000000000000000000" pitchFamily="2" charset="2"/>
              <a:buChar char="Ø"/>
            </a:pPr>
            <a:endParaRPr lang="en-US" b="1" dirty="0">
              <a:latin typeface="TimesNewRomanPSMT"/>
              <a:cs typeface="Times New Roman" panose="02020603050405020304" pitchFamily="18" charset="0"/>
            </a:endParaRPr>
          </a:p>
          <a:p>
            <a:pPr marL="457200" indent="-457200" algn="l">
              <a:buClr>
                <a:srgbClr val="3399FF"/>
              </a:buClr>
              <a:buFont typeface="Wingdings" panose="05000000000000000000" pitchFamily="2" charset="2"/>
              <a:buChar char="Ø"/>
            </a:pPr>
            <a:endParaRPr lang="en-US" sz="1800" b="1" dirty="0">
              <a:latin typeface="TimesNewRomanPSMT"/>
              <a:cs typeface="Times New Roman" panose="02020603050405020304" pitchFamily="18" charset="0"/>
            </a:endParaRPr>
          </a:p>
          <a:p>
            <a:pPr marL="457200" indent="-457200" algn="l">
              <a:buClr>
                <a:srgbClr val="3399FF"/>
              </a:buClr>
              <a:buFont typeface="Wingdings" panose="05000000000000000000" pitchFamily="2" charset="2"/>
              <a:buChar char="Ø"/>
            </a:pPr>
            <a:endParaRPr lang="en-US" b="1" dirty="0">
              <a:latin typeface="TimesNewRomanPSMT"/>
              <a:cs typeface="Times New Roman" panose="02020603050405020304" pitchFamily="18" charset="0"/>
            </a:endParaRPr>
          </a:p>
          <a:p>
            <a:pPr algn="l">
              <a:buClr>
                <a:srgbClr val="3399FF"/>
              </a:buClr>
            </a:pPr>
            <a:endParaRPr lang="en-US" b="1" dirty="0">
              <a:latin typeface="TimesNewRomanPSMT"/>
              <a:cs typeface="Times New Roman" panose="02020603050405020304" pitchFamily="18" charset="0"/>
            </a:endParaRPr>
          </a:p>
          <a:p>
            <a:pPr marL="457200" indent="-457200" algn="l">
              <a:buClr>
                <a:srgbClr val="3399FF"/>
              </a:buClr>
              <a:buFont typeface="Wingdings" panose="05000000000000000000" pitchFamily="2" charset="2"/>
              <a:buChar char="Ø"/>
            </a:pPr>
            <a:endParaRPr lang="en-US" sz="1800" b="1" dirty="0">
              <a:latin typeface="TimesNewRomanPSMT"/>
              <a:cs typeface="Times New Roman" panose="02020603050405020304" pitchFamily="18" charset="0"/>
            </a:endParaRPr>
          </a:p>
        </p:txBody>
      </p:sp>
    </p:spTree>
    <p:extLst>
      <p:ext uri="{BB962C8B-B14F-4D97-AF65-F5344CB8AC3E}">
        <p14:creationId xmlns:p14="http://schemas.microsoft.com/office/powerpoint/2010/main" val="2347814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p:cNvSpPr>
            <a:spLocks noGrp="1" noRot="1" noChangeArrowheads="1"/>
          </p:cNvSpPr>
          <p:nvPr>
            <p:ph idx="1"/>
          </p:nvPr>
        </p:nvSpPr>
        <p:spPr>
          <a:xfrm>
            <a:off x="533400" y="304800"/>
            <a:ext cx="7772400" cy="6248400"/>
          </a:xfrm>
        </p:spPr>
        <p:txBody>
          <a:bodyPr>
            <a:normAutofit fontScale="25000" lnSpcReduction="20000"/>
          </a:bodyPr>
          <a:lstStyle/>
          <a:p>
            <a:pPr algn="ctr" eaLnBrk="1" hangingPunct="1">
              <a:lnSpc>
                <a:spcPct val="80000"/>
              </a:lnSpc>
              <a:buFont typeface="Wingdings" pitchFamily="2" charset="2"/>
              <a:buNone/>
              <a:defRPr/>
            </a:pPr>
            <a:r>
              <a:rPr lang="en-US" sz="8000" dirty="0"/>
              <a:t> </a:t>
            </a:r>
            <a:r>
              <a:rPr lang="en-US" sz="12800" b="1" u="sng" dirty="0">
                <a:solidFill>
                  <a:srgbClr val="FF6699"/>
                </a:solidFill>
                <a:latin typeface="Tahoma" panose="020B0604030504040204" pitchFamily="34" charset="0"/>
                <a:ea typeface="Tahoma" panose="020B0604030504040204" pitchFamily="34" charset="0"/>
                <a:cs typeface="Tahoma" panose="020B0604030504040204" pitchFamily="34" charset="0"/>
              </a:rPr>
              <a:t>COPIES TO INCLUDE WITH THE</a:t>
            </a:r>
          </a:p>
          <a:p>
            <a:pPr algn="ctr" eaLnBrk="1" hangingPunct="1">
              <a:lnSpc>
                <a:spcPct val="80000"/>
              </a:lnSpc>
              <a:buFont typeface="Wingdings" pitchFamily="2" charset="2"/>
              <a:buNone/>
              <a:defRPr/>
            </a:pPr>
            <a:r>
              <a:rPr lang="en-US" sz="12800" b="1" dirty="0">
                <a:solidFill>
                  <a:srgbClr val="FF6699"/>
                </a:solidFill>
                <a:latin typeface="Tahoma" panose="020B0604030504040204" pitchFamily="34" charset="0"/>
                <a:ea typeface="Tahoma" panose="020B0604030504040204" pitchFamily="34" charset="0"/>
                <a:cs typeface="Tahoma" panose="020B0604030504040204" pitchFamily="34" charset="0"/>
              </a:rPr>
              <a:t> </a:t>
            </a:r>
            <a:r>
              <a:rPr lang="en-US" sz="12800" b="1" u="sng" dirty="0">
                <a:solidFill>
                  <a:srgbClr val="FF6699"/>
                </a:solidFill>
                <a:latin typeface="Tahoma" panose="020B0604030504040204" pitchFamily="34" charset="0"/>
                <a:ea typeface="Tahoma" panose="020B0604030504040204" pitchFamily="34" charset="0"/>
                <a:cs typeface="Tahoma" panose="020B0604030504040204" pitchFamily="34" charset="0"/>
              </a:rPr>
              <a:t>DIRECT APPEAL TO ARBITRATION</a:t>
            </a:r>
          </a:p>
          <a:p>
            <a:pPr eaLnBrk="1" hangingPunct="1"/>
            <a:endParaRPr lang="en-US" sz="6200" b="1" dirty="0">
              <a:solidFill>
                <a:srgbClr val="FF6699"/>
              </a:solidFill>
              <a:latin typeface="Times New Roman" panose="02020603050405020304" pitchFamily="18" charset="0"/>
              <a:cs typeface="Times New Roman" panose="02020603050405020304" pitchFamily="18" charset="0"/>
            </a:endParaRPr>
          </a:p>
          <a:p>
            <a:pPr marL="0" indent="0" eaLnBrk="1" hangingPunct="1">
              <a:lnSpc>
                <a:spcPct val="120000"/>
              </a:lnSpc>
              <a:spcBef>
                <a:spcPts val="0"/>
              </a:spcBef>
              <a:buClr>
                <a:srgbClr val="3399FF"/>
              </a:buClr>
              <a:buNone/>
            </a:pPr>
            <a:r>
              <a:rPr lang="en-US" sz="9600" b="1" dirty="0">
                <a:latin typeface="Times New Roman" panose="02020603050405020304" pitchFamily="18" charset="0"/>
                <a:cs typeface="Times New Roman" panose="02020603050405020304" pitchFamily="18" charset="0"/>
              </a:rPr>
              <a:t>Include the documents listed below in the grievance file:</a:t>
            </a:r>
          </a:p>
          <a:p>
            <a:pPr marL="0" indent="0" eaLnBrk="1" hangingPunct="1">
              <a:lnSpc>
                <a:spcPct val="120000"/>
              </a:lnSpc>
              <a:spcBef>
                <a:spcPts val="0"/>
              </a:spcBef>
              <a:buClr>
                <a:srgbClr val="3399FF"/>
              </a:buClr>
              <a:buNone/>
            </a:pPr>
            <a:endParaRPr lang="en-US" sz="8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Clr>
                <a:srgbClr val="3399FF"/>
              </a:buClr>
              <a:buFont typeface="Wingdings" panose="05000000000000000000" pitchFamily="2" charset="2"/>
              <a:buChar char="Ø"/>
            </a:pPr>
            <a:r>
              <a:rPr lang="en-US" sz="9600" b="1" dirty="0">
                <a:latin typeface="Times New Roman" panose="02020603050405020304" pitchFamily="18" charset="0"/>
                <a:cs typeface="Times New Roman" panose="02020603050405020304" pitchFamily="18" charset="0"/>
              </a:rPr>
              <a:t>All grievance forms utilized.</a:t>
            </a:r>
          </a:p>
          <a:p>
            <a:pPr marL="457200" indent="-457200" eaLnBrk="1" hangingPunct="1">
              <a:lnSpc>
                <a:spcPct val="120000"/>
              </a:lnSpc>
              <a:spcBef>
                <a:spcPts val="0"/>
              </a:spcBef>
              <a:buClr>
                <a:srgbClr val="3399FF"/>
              </a:buClr>
              <a:buFont typeface="Wingdings" panose="05000000000000000000" pitchFamily="2" charset="2"/>
              <a:buChar char="Ø"/>
            </a:pPr>
            <a:endParaRPr lang="en-US" sz="80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r>
              <a:rPr lang="en-US" sz="9600" b="1" dirty="0">
                <a:latin typeface="Times New Roman" panose="02020603050405020304" pitchFamily="18" charset="0"/>
                <a:cs typeface="Times New Roman" panose="02020603050405020304" pitchFamily="18" charset="0"/>
              </a:rPr>
              <a:t>The Postal Service’s Written Step 2 Denial.</a:t>
            </a:r>
          </a:p>
          <a:p>
            <a:pPr marL="457200" indent="-457200" eaLnBrk="1" hangingPunct="1">
              <a:lnSpc>
                <a:spcPct val="120000"/>
              </a:lnSpc>
              <a:spcBef>
                <a:spcPts val="0"/>
              </a:spcBef>
              <a:buClr>
                <a:srgbClr val="3399FF"/>
              </a:buClr>
              <a:buFont typeface="Wingdings" panose="05000000000000000000" pitchFamily="2" charset="2"/>
              <a:buChar char="Ø"/>
            </a:pPr>
            <a:endParaRPr lang="en-US" sz="80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r>
              <a:rPr lang="en-US" sz="9600" b="1" dirty="0">
                <a:latin typeface="Times New Roman" panose="02020603050405020304" pitchFamily="18" charset="0"/>
                <a:cs typeface="Times New Roman" panose="02020603050405020304" pitchFamily="18" charset="0"/>
              </a:rPr>
              <a:t>The Union’s Corrections or Additions, if submitted to Management.</a:t>
            </a:r>
          </a:p>
          <a:p>
            <a:pPr marL="0" indent="0" eaLnBrk="1" hangingPunct="1">
              <a:lnSpc>
                <a:spcPct val="120000"/>
              </a:lnSpc>
              <a:spcBef>
                <a:spcPts val="0"/>
              </a:spcBef>
              <a:buClr>
                <a:srgbClr val="3399FF"/>
              </a:buClr>
              <a:buNone/>
            </a:pPr>
            <a:endParaRPr lang="en-US" sz="80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r>
              <a:rPr lang="en-US" sz="9600" b="1" dirty="0">
                <a:latin typeface="Times New Roman" panose="02020603050405020304" pitchFamily="18" charset="0"/>
                <a:cs typeface="Times New Roman" panose="02020603050405020304" pitchFamily="18" charset="0"/>
              </a:rPr>
              <a:t>All Exhibits to support the Union’s position.</a:t>
            </a:r>
          </a:p>
          <a:p>
            <a:pPr marL="457200" indent="-457200" eaLnBrk="1" hangingPunct="1">
              <a:lnSpc>
                <a:spcPct val="120000"/>
              </a:lnSpc>
              <a:spcBef>
                <a:spcPts val="0"/>
              </a:spcBef>
              <a:buClr>
                <a:srgbClr val="3399FF"/>
              </a:buClr>
              <a:buFont typeface="Wingdings" panose="05000000000000000000" pitchFamily="2" charset="2"/>
              <a:buChar char="Ø"/>
            </a:pPr>
            <a:endParaRPr lang="en-US" sz="96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r>
              <a:rPr lang="en-US" sz="9600" b="1" dirty="0">
                <a:latin typeface="Times New Roman" panose="02020603050405020304" pitchFamily="18" charset="0"/>
                <a:cs typeface="Times New Roman" panose="02020603050405020304" pitchFamily="18" charset="0"/>
              </a:rPr>
              <a:t>When sending the Direct Appeal to the Union, include the same documents, along with notification that Management did not render a Step 2 decision.</a:t>
            </a:r>
          </a:p>
          <a:p>
            <a:pPr marL="457200" indent="-457200" eaLnBrk="1" hangingPunct="1">
              <a:lnSpc>
                <a:spcPct val="120000"/>
              </a:lnSpc>
              <a:spcBef>
                <a:spcPts val="0"/>
              </a:spcBef>
              <a:buClr>
                <a:srgbClr val="3399FF"/>
              </a:buClr>
              <a:buFont typeface="Wingdings" panose="05000000000000000000" pitchFamily="2" charset="2"/>
              <a:buChar char="Ø"/>
            </a:pPr>
            <a:endParaRPr lang="en-US" sz="96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endParaRPr lang="en-US" sz="8000" b="1" dirty="0">
              <a:latin typeface="Times New Roman" panose="02020603050405020304" pitchFamily="18" charset="0"/>
              <a:cs typeface="Times New Roman" panose="02020603050405020304" pitchFamily="18" charset="0"/>
            </a:endParaRPr>
          </a:p>
          <a:p>
            <a:pPr eaLnBrk="1" hangingPunct="1">
              <a:lnSpc>
                <a:spcPct val="80000"/>
              </a:lnSpc>
              <a:buFont typeface="Wingdings" pitchFamily="2" charset="2"/>
              <a:buNone/>
              <a:defRPr/>
            </a:pPr>
            <a:endParaRPr lang="en-US" sz="2800" dirty="0"/>
          </a:p>
        </p:txBody>
      </p:sp>
    </p:spTree>
    <p:extLst>
      <p:ext uri="{BB962C8B-B14F-4D97-AF65-F5344CB8AC3E}">
        <p14:creationId xmlns:p14="http://schemas.microsoft.com/office/powerpoint/2010/main" val="1404954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p:cNvSpPr>
            <a:spLocks noGrp="1" noRot="1" noChangeArrowheads="1"/>
          </p:cNvSpPr>
          <p:nvPr>
            <p:ph idx="1"/>
          </p:nvPr>
        </p:nvSpPr>
        <p:spPr>
          <a:xfrm>
            <a:off x="457200" y="281609"/>
            <a:ext cx="7772400" cy="5738191"/>
          </a:xfrm>
        </p:spPr>
        <p:txBody>
          <a:bodyPr>
            <a:normAutofit/>
          </a:bodyPr>
          <a:lstStyle/>
          <a:p>
            <a:pPr algn="ctr" eaLnBrk="1" hangingPunct="1">
              <a:lnSpc>
                <a:spcPct val="80000"/>
              </a:lnSpc>
              <a:buFont typeface="Wingdings" pitchFamily="2" charset="2"/>
              <a:buNone/>
              <a:defRPr/>
            </a:pP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COPIES TO INCLUDE WITH THE </a:t>
            </a:r>
            <a:r>
              <a:rPr lang="en-US" sz="3200" b="1" dirty="0">
                <a:solidFill>
                  <a:srgbClr val="FF6699"/>
                </a:solidFill>
                <a:latin typeface="Tahoma" panose="020B0604030504040204" pitchFamily="34" charset="0"/>
                <a:ea typeface="Tahoma" panose="020B0604030504040204" pitchFamily="34" charset="0"/>
                <a:cs typeface="Tahoma" panose="020B0604030504040204" pitchFamily="34" charset="0"/>
              </a:rPr>
              <a:t> </a:t>
            </a: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DIRECT APPEAL TO ARBITRATION</a:t>
            </a:r>
          </a:p>
          <a:p>
            <a:pPr algn="ctr" eaLnBrk="1" hangingPunct="1">
              <a:lnSpc>
                <a:spcPct val="80000"/>
              </a:lnSpc>
              <a:buFont typeface="Wingdings" pitchFamily="2" charset="2"/>
              <a:buNone/>
              <a:defRPr/>
            </a:pPr>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CONT’D</a:t>
            </a:r>
          </a:p>
          <a:p>
            <a:pPr marL="457200" indent="-457200" eaLnBrk="1" hangingPunct="1">
              <a:lnSpc>
                <a:spcPct val="120000"/>
              </a:lnSpc>
              <a:spcBef>
                <a:spcPts val="0"/>
              </a:spcBef>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0" indent="0" eaLnBrk="1" hangingPunct="1">
              <a:spcBef>
                <a:spcPts val="0"/>
              </a:spcBef>
              <a:buClr>
                <a:srgbClr val="3399FF"/>
              </a:buClr>
              <a:buNone/>
            </a:pPr>
            <a:r>
              <a:rPr lang="en-US" sz="2600" b="1" dirty="0">
                <a:latin typeface="Times New Roman" panose="02020603050405020304" pitchFamily="18" charset="0"/>
                <a:cs typeface="Times New Roman" panose="02020603050405020304" pitchFamily="18" charset="0"/>
              </a:rPr>
              <a:t>NOTE: If Management does not render a decision letter at Step 2, avoid missing the time limits. Appeal the grievance directly to arbitration.</a:t>
            </a:r>
          </a:p>
          <a:p>
            <a:pPr marL="0" indent="0" eaLnBrk="1" hangingPunct="1">
              <a:spcBef>
                <a:spcPts val="0"/>
              </a:spcBef>
              <a:buClr>
                <a:srgbClr val="3399FF"/>
              </a:buClr>
              <a:buNone/>
            </a:pPr>
            <a:endParaRPr lang="en-US" sz="2600" b="1" dirty="0">
              <a:latin typeface="Times New Roman" panose="02020603050405020304" pitchFamily="18" charset="0"/>
              <a:cs typeface="Times New Roman" panose="02020603050405020304" pitchFamily="18" charset="0"/>
            </a:endParaRPr>
          </a:p>
          <a:p>
            <a:pPr marL="0" indent="0" eaLnBrk="1" hangingPunct="1">
              <a:spcBef>
                <a:spcPts val="0"/>
              </a:spcBef>
              <a:buClr>
                <a:srgbClr val="3399FF"/>
              </a:buClr>
              <a:buNone/>
            </a:pPr>
            <a:endParaRPr lang="en-US" sz="2600" b="1" dirty="0">
              <a:latin typeface="Times New Roman" panose="02020603050405020304" pitchFamily="18" charset="0"/>
              <a:cs typeface="Times New Roman" panose="02020603050405020304" pitchFamily="18" charset="0"/>
            </a:endParaRPr>
          </a:p>
          <a:p>
            <a:pPr marL="0" indent="0" eaLnBrk="1" hangingPunct="1">
              <a:spcBef>
                <a:spcPts val="0"/>
              </a:spcBef>
              <a:buClr>
                <a:srgbClr val="3399FF"/>
              </a:buClr>
              <a:buNone/>
            </a:pPr>
            <a:endParaRPr lang="en-US" sz="2600" b="1" dirty="0">
              <a:latin typeface="Times New Roman" panose="02020603050405020304" pitchFamily="18" charset="0"/>
              <a:cs typeface="Times New Roman" panose="02020603050405020304" pitchFamily="18" charset="0"/>
            </a:endParaRPr>
          </a:p>
          <a:p>
            <a:pPr marL="0" indent="0" eaLnBrk="1" hangingPunct="1">
              <a:spcBef>
                <a:spcPts val="0"/>
              </a:spcBef>
              <a:buClr>
                <a:srgbClr val="3399FF"/>
              </a:buClr>
              <a:buNone/>
            </a:pPr>
            <a:endParaRPr lang="en-US" sz="26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endParaRPr lang="en-US" sz="2600" b="1" dirty="0">
              <a:latin typeface="Times New Roman" panose="02020603050405020304" pitchFamily="18" charset="0"/>
              <a:cs typeface="Times New Roman" panose="02020603050405020304" pitchFamily="18" charset="0"/>
            </a:endParaRPr>
          </a:p>
          <a:p>
            <a:pPr marL="457200" indent="-457200" eaLnBrk="1" hangingPunct="1">
              <a:lnSpc>
                <a:spcPct val="120000"/>
              </a:lnSpc>
              <a:spcBef>
                <a:spcPts val="0"/>
              </a:spcBef>
              <a:buClr>
                <a:srgbClr val="3399FF"/>
              </a:buClr>
              <a:buFont typeface="Wingdings" panose="05000000000000000000" pitchFamily="2" charset="2"/>
              <a:buChar char="Ø"/>
            </a:pPr>
            <a:endParaRPr lang="en-US" sz="2600" b="1" dirty="0">
              <a:latin typeface="Times New Roman" panose="02020603050405020304" pitchFamily="18" charset="0"/>
              <a:cs typeface="Times New Roman" panose="02020603050405020304" pitchFamily="18" charset="0"/>
            </a:endParaRPr>
          </a:p>
          <a:p>
            <a:pPr eaLnBrk="1" hangingPunct="1">
              <a:lnSpc>
                <a:spcPct val="80000"/>
              </a:lnSpc>
              <a:buFont typeface="Wingdings" pitchFamily="2" charset="2"/>
              <a:buNone/>
              <a:defRPr/>
            </a:pPr>
            <a:endParaRPr lang="en-US" sz="2800" dirty="0"/>
          </a:p>
        </p:txBody>
      </p:sp>
    </p:spTree>
    <p:extLst>
      <p:ext uri="{BB962C8B-B14F-4D97-AF65-F5344CB8AC3E}">
        <p14:creationId xmlns:p14="http://schemas.microsoft.com/office/powerpoint/2010/main" val="1905104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ChangeArrowheads="1"/>
          </p:cNvSpPr>
          <p:nvPr/>
        </p:nvSpPr>
        <p:spPr bwMode="auto">
          <a:xfrm>
            <a:off x="609600" y="249495"/>
            <a:ext cx="7848600" cy="6186309"/>
          </a:xfrm>
          <a:prstGeom prst="rect">
            <a:avLst/>
          </a:prstGeom>
          <a:noFill/>
          <a:ln w="9525">
            <a:noFill/>
            <a:miter lim="800000"/>
            <a:headEnd/>
            <a:tailEnd/>
          </a:ln>
          <a:effectLst/>
        </p:spPr>
        <p:txBody>
          <a:bodyPr wrap="square">
            <a:spAutoFit/>
          </a:bodyPr>
          <a:lstStyle/>
          <a:p>
            <a:pPr algn="ctr" eaLnBrk="1" hangingPunct="1"/>
            <a:r>
              <a:rPr lang="en-US" sz="3000" b="1" u="sng" dirty="0">
                <a:solidFill>
                  <a:srgbClr val="FF6699"/>
                </a:solidFill>
                <a:latin typeface="Tahoma" charset="0"/>
              </a:rPr>
              <a:t>INCORRECTLY  APPEALING </a:t>
            </a:r>
          </a:p>
          <a:p>
            <a:pPr algn="ctr" eaLnBrk="1" hangingPunct="1"/>
            <a:r>
              <a:rPr lang="en-US" sz="3000" b="1" u="sng" dirty="0">
                <a:solidFill>
                  <a:srgbClr val="FF6699"/>
                </a:solidFill>
                <a:latin typeface="Tahoma" charset="0"/>
              </a:rPr>
              <a:t>THE GRIEVANCE </a:t>
            </a:r>
          </a:p>
          <a:p>
            <a:pPr algn="ctr" eaLnBrk="1" hangingPunct="1"/>
            <a:r>
              <a:rPr lang="en-US" sz="3000" b="1" u="sng" dirty="0">
                <a:solidFill>
                  <a:srgbClr val="FF6699"/>
                </a:solidFill>
                <a:latin typeface="Tahoma" charset="0"/>
              </a:rPr>
              <a:t>DIRECTLY TO ARBITRATION</a:t>
            </a:r>
          </a:p>
          <a:p>
            <a:pPr eaLnBrk="1" hangingPunct="1"/>
            <a:endParaRPr lang="en-US" sz="2000" b="1" dirty="0">
              <a:latin typeface="Tahoma"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Where the Union incorrectly appeals a grievance directly to arbitration under Article 15.2 Step 2(h) and that grievance should have been appealed to Step 3, or vice versa, the grievance is not waived as untimely provided the Union can show a timely appeal to Arbitration/Step 3.  </a:t>
            </a:r>
          </a:p>
          <a:p>
            <a:pPr marL="457200" indent="-457200"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the grievance is incorrectly appealed to arbitration, it shall be moved to the Step 3 appeal list.</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incorrectly appealed to Step 3, it shall be moved to</a:t>
            </a:r>
          </a:p>
          <a:p>
            <a:pPr marL="457200" indent="-457200" eaLnBrk="1" hangingPunct="1">
              <a:buClr>
                <a:srgbClr val="3399FF"/>
              </a:buClr>
            </a:pPr>
            <a:r>
              <a:rPr lang="en-US" sz="2400" b="1" dirty="0">
                <a:latin typeface="Times New Roman" panose="02020603050405020304" pitchFamily="18" charset="0"/>
                <a:cs typeface="Times New Roman" panose="02020603050405020304" pitchFamily="18" charset="0"/>
              </a:rPr>
              <a:t>	the arbitration list. </a:t>
            </a:r>
          </a:p>
        </p:txBody>
      </p:sp>
    </p:spTree>
    <p:extLst>
      <p:ext uri="{BB962C8B-B14F-4D97-AF65-F5344CB8AC3E}">
        <p14:creationId xmlns:p14="http://schemas.microsoft.com/office/powerpoint/2010/main" val="17079373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ChangeArrowheads="1"/>
          </p:cNvSpPr>
          <p:nvPr/>
        </p:nvSpPr>
        <p:spPr bwMode="auto">
          <a:xfrm>
            <a:off x="533400" y="457200"/>
            <a:ext cx="7848600" cy="4401205"/>
          </a:xfrm>
          <a:prstGeom prst="rect">
            <a:avLst/>
          </a:prstGeom>
          <a:noFill/>
          <a:ln w="9525">
            <a:noFill/>
            <a:miter lim="800000"/>
            <a:headEnd/>
            <a:tailEnd/>
          </a:ln>
          <a:effectLst/>
        </p:spPr>
        <p:txBody>
          <a:bodyPr wrap="square">
            <a:spAutoFit/>
          </a:bodyPr>
          <a:lstStyle/>
          <a:p>
            <a:pPr algn="ctr" eaLnBrk="1" hangingPunct="1"/>
            <a:r>
              <a:rPr lang="en-US" sz="3000" b="1" u="sng" dirty="0">
                <a:solidFill>
                  <a:srgbClr val="FF6699"/>
                </a:solidFill>
                <a:latin typeface="Tahoma" charset="0"/>
              </a:rPr>
              <a:t>INCORRECTLY  APPEALING </a:t>
            </a:r>
          </a:p>
          <a:p>
            <a:pPr algn="ctr" eaLnBrk="1" hangingPunct="1"/>
            <a:r>
              <a:rPr lang="en-US" sz="3000" b="1" u="sng" dirty="0">
                <a:solidFill>
                  <a:srgbClr val="FF6699"/>
                </a:solidFill>
                <a:latin typeface="Tahoma" charset="0"/>
              </a:rPr>
              <a:t>THE GRIEVANCE </a:t>
            </a:r>
          </a:p>
          <a:p>
            <a:pPr algn="ctr" eaLnBrk="1" hangingPunct="1"/>
            <a:r>
              <a:rPr lang="en-US" sz="3000" b="1" u="sng" dirty="0">
                <a:solidFill>
                  <a:srgbClr val="FF6699"/>
                </a:solidFill>
                <a:latin typeface="Tahoma" charset="0"/>
              </a:rPr>
              <a:t>DIRECTLY TO ARBITRATION</a:t>
            </a:r>
          </a:p>
          <a:p>
            <a:pPr algn="ctr" eaLnBrk="1" hangingPunct="1"/>
            <a:r>
              <a:rPr lang="en-US" sz="3000" b="1" u="sng" dirty="0">
                <a:solidFill>
                  <a:srgbClr val="FF6699"/>
                </a:solidFill>
                <a:latin typeface="Tahoma" charset="0"/>
              </a:rPr>
              <a:t>CONT’D</a:t>
            </a:r>
          </a:p>
          <a:p>
            <a:pPr eaLnBrk="1" hangingPunct="1"/>
            <a:endParaRPr lang="en-US" sz="2000" b="1" dirty="0">
              <a:latin typeface="Tahoma"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a:t>
            </a:r>
            <a:r>
              <a:rPr lang="en-US" sz="2400" b="1" u="sng" dirty="0">
                <a:latin typeface="Times New Roman" panose="02020603050405020304" pitchFamily="18" charset="0"/>
                <a:cs typeface="Times New Roman" panose="02020603050405020304" pitchFamily="18" charset="0"/>
              </a:rPr>
              <a:t>no timely appeal</a:t>
            </a:r>
            <a:r>
              <a:rPr lang="en-US" sz="2400" b="1" dirty="0">
                <a:latin typeface="Times New Roman" panose="02020603050405020304" pitchFamily="18" charset="0"/>
                <a:cs typeface="Times New Roman" panose="02020603050405020304" pitchFamily="18" charset="0"/>
              </a:rPr>
              <a:t> can be established by the Union, then Management retains the right to raise the timeliness issue</a:t>
            </a:r>
            <a:r>
              <a:rPr lang="en-US" sz="2000" b="1" dirty="0">
                <a:latin typeface="Tahoma" charset="0"/>
              </a:rPr>
              <a:t>.</a:t>
            </a:r>
          </a:p>
          <a:p>
            <a:pPr eaLnBrk="1" hangingPunct="1"/>
            <a:endParaRPr lang="en-US" sz="2000" b="1" dirty="0">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NOTE: See JCIM, Article 15.2.Step 2(h), TIMELINESS REGARDING STEP 2(H) APPEALS.</a:t>
            </a:r>
          </a:p>
        </p:txBody>
      </p:sp>
    </p:spTree>
    <p:extLst>
      <p:ext uri="{BB962C8B-B14F-4D97-AF65-F5344CB8AC3E}">
        <p14:creationId xmlns:p14="http://schemas.microsoft.com/office/powerpoint/2010/main" val="3354978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ChangeArrowheads="1"/>
          </p:cNvSpPr>
          <p:nvPr/>
        </p:nvSpPr>
        <p:spPr bwMode="auto">
          <a:xfrm>
            <a:off x="647700" y="228600"/>
            <a:ext cx="7848600" cy="6349430"/>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STEP 3 APPEALS</a:t>
            </a:r>
            <a:r>
              <a:rPr lang="en-US" sz="3200" b="1" dirty="0">
                <a:solidFill>
                  <a:srgbClr val="FF6699"/>
                </a:solidFill>
                <a:latin typeface="Tahoma" charset="0"/>
              </a:rPr>
              <a:t> </a:t>
            </a:r>
          </a:p>
          <a:p>
            <a:pPr eaLnBrk="1" hangingPunct="1"/>
            <a:endParaRPr lang="en-US" sz="2000" b="1" dirty="0">
              <a:solidFill>
                <a:schemeClr val="tx2"/>
              </a:solidFill>
              <a:latin typeface="Tahoma" charset="0"/>
            </a:endParaRPr>
          </a:p>
          <a:p>
            <a:pPr eaLnBrk="1" hangingPunct="1">
              <a:lnSpc>
                <a:spcPct val="90000"/>
              </a:lnSpc>
            </a:pPr>
            <a:r>
              <a:rPr lang="en-US" sz="2300" b="1" dirty="0">
                <a:solidFill>
                  <a:schemeClr val="tx2"/>
                </a:solidFill>
                <a:latin typeface="Times New Roman" panose="02020603050405020304" pitchFamily="18" charset="0"/>
                <a:cs typeface="Times New Roman" panose="02020603050405020304" pitchFamily="18" charset="0"/>
              </a:rPr>
              <a:t>Grievances other than the ones mentioned above, should be appealed from Step 2 to Step 3.</a:t>
            </a:r>
          </a:p>
          <a:p>
            <a:pPr eaLnBrk="1" hangingPunct="1">
              <a:lnSpc>
                <a:spcPct val="90000"/>
              </a:lnSpc>
            </a:pPr>
            <a:endParaRPr lang="en-US" b="1" dirty="0">
              <a:solidFill>
                <a:schemeClr val="tx2"/>
              </a:solidFill>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An appeal to Step 3 must be filed within </a:t>
            </a:r>
            <a:r>
              <a:rPr lang="en-US" sz="2300" b="1" u="sng" dirty="0">
                <a:latin typeface="Times New Roman" panose="02020603050405020304" pitchFamily="18" charset="0"/>
                <a:cs typeface="Times New Roman" panose="02020603050405020304" pitchFamily="18" charset="0"/>
              </a:rPr>
              <a:t>15 days </a:t>
            </a: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	of receipt of the Step 2 decision. When appealing a 	grievance to Step 3 by mail, the appeal must be 	postmarked on or before the </a:t>
            </a:r>
            <a:r>
              <a:rPr lang="en-US" sz="2300" b="1" u="sng" dirty="0">
                <a:latin typeface="Times New Roman" panose="02020603050405020304" pitchFamily="18" charset="0"/>
                <a:cs typeface="Times New Roman" panose="02020603050405020304" pitchFamily="18" charset="0"/>
              </a:rPr>
              <a:t>fifteenth day</a:t>
            </a:r>
            <a:r>
              <a:rPr lang="en-US" sz="2300" b="1" dirty="0">
                <a:latin typeface="Times New Roman" panose="02020603050405020304" pitchFamily="18" charset="0"/>
                <a:cs typeface="Times New Roman" panose="02020603050405020304" pitchFamily="18" charset="0"/>
              </a:rPr>
              <a:t> following </a:t>
            </a: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	the Step 2 decision.  </a:t>
            </a:r>
          </a:p>
          <a:p>
            <a:pPr eaLnBrk="1" hangingPunct="1">
              <a:lnSpc>
                <a:spcPct val="90000"/>
              </a:lnSpc>
              <a:buClr>
                <a:srgbClr val="3399FF"/>
              </a:buClr>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When mailing the Appeal to Step 3 Form, send it to </a:t>
            </a:r>
          </a:p>
          <a:p>
            <a:pPr>
              <a:lnSpc>
                <a:spcPct val="90000"/>
              </a:lnSpc>
              <a:buClr>
                <a:srgbClr val="3399FF"/>
              </a:buClr>
            </a:pPr>
            <a:r>
              <a:rPr lang="en-US" sz="2300" b="1" dirty="0">
                <a:latin typeface="Times New Roman" panose="02020603050405020304" pitchFamily="18" charset="0"/>
                <a:cs typeface="Times New Roman" panose="02020603050405020304" pitchFamily="18" charset="0"/>
              </a:rPr>
              <a:t>	Management by </a:t>
            </a:r>
            <a:r>
              <a:rPr lang="en-US" sz="2300" b="1" u="sng" dirty="0">
                <a:latin typeface="Times New Roman" panose="02020603050405020304" pitchFamily="18" charset="0"/>
                <a:cs typeface="Times New Roman" panose="02020603050405020304" pitchFamily="18" charset="0"/>
              </a:rPr>
              <a:t>certified mail, return receipt </a:t>
            </a:r>
            <a:r>
              <a:rPr lang="en-US" sz="2300" b="1" dirty="0">
                <a:latin typeface="Times New Roman" panose="02020603050405020304" pitchFamily="18" charset="0"/>
                <a:cs typeface="Times New Roman" panose="02020603050405020304" pitchFamily="18" charset="0"/>
              </a:rPr>
              <a:t>	</a:t>
            </a:r>
            <a:r>
              <a:rPr lang="en-US" sz="2300" b="1" u="sng" dirty="0">
                <a:latin typeface="Times New Roman" panose="02020603050405020304" pitchFamily="18" charset="0"/>
                <a:cs typeface="Times New Roman" panose="02020603050405020304" pitchFamily="18" charset="0"/>
              </a:rPr>
              <a:t>requested</a:t>
            </a:r>
            <a:r>
              <a:rPr lang="en-US" sz="2300" b="1" dirty="0">
                <a:latin typeface="Times New Roman" panose="02020603050405020304" pitchFamily="18" charset="0"/>
                <a:cs typeface="Times New Roman" panose="02020603050405020304" pitchFamily="18" charset="0"/>
              </a:rPr>
              <a:t>. (Attach both receipts to </a:t>
            </a:r>
            <a:r>
              <a:rPr lang="en-US" sz="2300" b="1" u="sng" dirty="0">
                <a:latin typeface="Times New Roman" panose="02020603050405020304" pitchFamily="18" charset="0"/>
                <a:cs typeface="Times New Roman" panose="02020603050405020304" pitchFamily="18" charset="0"/>
              </a:rPr>
              <a:t>your personal</a:t>
            </a:r>
            <a:r>
              <a:rPr lang="en-US" sz="2300" b="1" dirty="0">
                <a:latin typeface="Times New Roman" panose="02020603050405020304" pitchFamily="18" charset="0"/>
                <a:cs typeface="Times New Roman" panose="02020603050405020304" pitchFamily="18" charset="0"/>
              </a:rPr>
              <a:t> 	grievance file).</a:t>
            </a:r>
          </a:p>
          <a:p>
            <a:pPr eaLnBrk="1" hangingPunct="1">
              <a:lnSpc>
                <a:spcPct val="90000"/>
              </a:lnSpc>
            </a:pPr>
            <a:endParaRPr lang="en-US" b="1" dirty="0">
              <a:latin typeface="Times New Roman" panose="02020603050405020304" pitchFamily="18" charset="0"/>
              <a:cs typeface="Times New Roman" panose="02020603050405020304" pitchFamily="18" charset="0"/>
            </a:endParaRPr>
          </a:p>
          <a:p>
            <a:pPr marL="457200" indent="-457200" eaLnBrk="1" hangingPunct="1">
              <a:lnSpc>
                <a:spcPct val="90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When using alternative methods, the Step 3 Appeal </a:t>
            </a: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	must be received on or before the </a:t>
            </a:r>
            <a:r>
              <a:rPr lang="en-US" sz="2300" b="1" u="sng" dirty="0">
                <a:latin typeface="Times New Roman" panose="02020603050405020304" pitchFamily="18" charset="0"/>
                <a:cs typeface="Times New Roman" panose="02020603050405020304" pitchFamily="18" charset="0"/>
              </a:rPr>
              <a:t>fifteenth day</a:t>
            </a:r>
            <a:r>
              <a:rPr lang="en-US" sz="2300" b="1" dirty="0">
                <a:latin typeface="Times New Roman" panose="02020603050405020304" pitchFamily="18" charset="0"/>
                <a:cs typeface="Times New Roman" panose="02020603050405020304" pitchFamily="18" charset="0"/>
              </a:rPr>
              <a:t>. </a:t>
            </a:r>
          </a:p>
          <a:p>
            <a:pPr eaLnBrk="1" hangingPunct="1">
              <a:lnSpc>
                <a:spcPct val="90000"/>
              </a:lnSpc>
              <a:buClr>
                <a:srgbClr val="3399FF"/>
              </a:buClr>
            </a:pPr>
            <a:endParaRPr lang="en-US" b="1" dirty="0">
              <a:latin typeface="Times New Roman" panose="02020603050405020304" pitchFamily="18" charset="0"/>
              <a:cs typeface="Times New Roman" panose="02020603050405020304" pitchFamily="18" charset="0"/>
            </a:endParaRPr>
          </a:p>
          <a:p>
            <a:pPr eaLnBrk="1" hangingPunct="1">
              <a:lnSpc>
                <a:spcPct val="90000"/>
              </a:lnSpc>
              <a:buClr>
                <a:srgbClr val="3399FF"/>
              </a:buClr>
            </a:pPr>
            <a:r>
              <a:rPr lang="en-US" sz="2300" b="1" dirty="0">
                <a:latin typeface="Times New Roman" panose="02020603050405020304" pitchFamily="18" charset="0"/>
                <a:cs typeface="Times New Roman" panose="02020603050405020304" pitchFamily="18" charset="0"/>
              </a:rPr>
              <a:t>NOTE: See JCIM, Article 15.2, STEP 3 APPEALS.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609600" y="228600"/>
            <a:ext cx="7924800" cy="5755422"/>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STEP 3 APPEALS </a:t>
            </a:r>
            <a:r>
              <a:rPr lang="en-US" sz="3200" b="1" u="sng" dirty="0">
                <a:solidFill>
                  <a:srgbClr val="FF6699"/>
                </a:solidFill>
                <a:effectLst/>
                <a:latin typeface="Tahoma" charset="0"/>
              </a:rPr>
              <a:t>CONT’D</a:t>
            </a:r>
            <a:endParaRPr lang="en-US" sz="3200" b="1" u="sng" dirty="0">
              <a:solidFill>
                <a:srgbClr val="FF6699"/>
              </a:solidFill>
              <a:latin typeface="Tahoma" charset="0"/>
            </a:endParaRP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Any local using Electronic Grievance System (EGS)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to appeal their cases, the date the Step 3 Appeal is </a:t>
            </a:r>
          </a:p>
          <a:p>
            <a:pPr eaLnBrk="1" hangingPunct="1">
              <a:buClr>
                <a:srgbClr val="3399FF"/>
              </a:buClr>
            </a:pPr>
            <a:r>
              <a:rPr lang="en-US" sz="2400" b="1" dirty="0">
                <a:latin typeface="Times New Roman" panose="02020603050405020304" pitchFamily="18" charset="0"/>
                <a:cs typeface="Times New Roman" panose="02020603050405020304" pitchFamily="18" charset="0"/>
              </a:rPr>
              <a:t>	entered into EGS is the date to be considered 	received 	by Management. </a:t>
            </a:r>
          </a:p>
          <a:p>
            <a:pPr eaLnBrk="1" hangingPunct="1">
              <a:buClr>
                <a:srgbClr val="3399FF"/>
              </a:buClr>
            </a:pPr>
            <a:endParaRPr lang="en-US" sz="2000" b="1" dirty="0">
              <a:latin typeface="Times New Roman" panose="02020603050405020304" pitchFamily="18" charset="0"/>
              <a:cs typeface="Times New Roman" panose="02020603050405020304" pitchFamily="18" charset="0"/>
            </a:endParaRPr>
          </a:p>
          <a:p>
            <a:pPr>
              <a:buClr>
                <a:srgbClr val="3399FF"/>
              </a:buClr>
            </a:pPr>
            <a:r>
              <a:rPr lang="en-US" sz="2400" b="1" dirty="0">
                <a:latin typeface="Times New Roman" panose="02020603050405020304" pitchFamily="18" charset="0"/>
                <a:cs typeface="Times New Roman" panose="02020603050405020304" pitchFamily="18" charset="0"/>
              </a:rPr>
              <a:t>NOTE: In order to avoid timeliness issues, the Union representative </a:t>
            </a:r>
            <a:r>
              <a:rPr lang="en-US" sz="2400" b="1" u="sng" dirty="0">
                <a:latin typeface="Times New Roman" panose="02020603050405020304" pitchFamily="18" charset="0"/>
                <a:cs typeface="Times New Roman" panose="02020603050405020304" pitchFamily="18" charset="0"/>
              </a:rPr>
              <a:t>should not wait </a:t>
            </a:r>
            <a:r>
              <a:rPr lang="en-US" sz="2400" b="1" dirty="0">
                <a:latin typeface="Times New Roman" panose="02020603050405020304" pitchFamily="18" charset="0"/>
                <a:cs typeface="Times New Roman" panose="02020603050405020304" pitchFamily="18" charset="0"/>
              </a:rPr>
              <a:t>until the last day to appeal.</a:t>
            </a:r>
          </a:p>
          <a:p>
            <a:pPr algn="ctr">
              <a:buClr>
                <a:srgbClr val="3399FF"/>
              </a:buClr>
            </a:pPr>
            <a:endParaRPr lang="en-US" sz="8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endParaRPr>
          </a:p>
          <a:p>
            <a:pPr algn="ctr">
              <a:buClr>
                <a:srgbClr val="3399FF"/>
              </a:buClr>
            </a:pPr>
            <a:endParaRPr lang="en-US" sz="20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endParaRPr>
          </a:p>
          <a:p>
            <a:pPr algn="ctr">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STEP 3 GRIEVANCE FORM.pdf</a:t>
            </a:r>
            <a:endParaRPr lang="en-US" sz="2400" b="1" dirty="0">
              <a:solidFill>
                <a:srgbClr val="0033CC"/>
              </a:solidFill>
              <a:latin typeface="Times New Roman" panose="02020603050405020304" pitchFamily="18" charset="0"/>
              <a:cs typeface="Times New Roman" panose="02020603050405020304" pitchFamily="18" charset="0"/>
            </a:endParaRPr>
          </a:p>
          <a:p>
            <a:pPr eaLnBrk="1" hangingPunct="1"/>
            <a:endParaRPr lang="en-US" sz="2400" b="1" dirty="0">
              <a:solidFill>
                <a:srgbClr val="FF6699"/>
              </a:solidFill>
              <a:latin typeface="Times New Roman" panose="02020603050405020304" pitchFamily="18" charset="0"/>
              <a:cs typeface="Times New Roman" panose="02020603050405020304" pitchFamily="18" charset="0"/>
            </a:endParaRPr>
          </a:p>
          <a:p>
            <a:pPr eaLnBrk="1" hangingPunct="1"/>
            <a:endParaRPr lang="en-US" sz="2400" b="1" dirty="0">
              <a:solidFill>
                <a:srgbClr val="FF6699"/>
              </a:solidFill>
              <a:latin typeface="Times New Roman" panose="02020603050405020304" pitchFamily="18" charset="0"/>
              <a:cs typeface="Times New Roman" panose="02020603050405020304" pitchFamily="18" charset="0"/>
            </a:endParaRPr>
          </a:p>
          <a:p>
            <a:pPr eaLnBrk="1" hangingPunct="1"/>
            <a:endParaRPr lang="en-US" sz="2400" b="1" dirty="0">
              <a:solidFill>
                <a:srgbClr val="FF6699"/>
              </a:solidFill>
              <a:latin typeface="Times New Roman" panose="02020603050405020304" pitchFamily="18" charset="0"/>
              <a:cs typeface="Times New Roman" panose="02020603050405020304" pitchFamily="18" charset="0"/>
            </a:endParaRPr>
          </a:p>
          <a:p>
            <a:pPr eaLnBrk="1" hangingPunct="1"/>
            <a:endParaRPr lang="en-US" sz="2600" b="1" dirty="0">
              <a:solidFill>
                <a:srgbClr val="FF66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445E34-1CE6-42A5-B70E-D32B67314310}"/>
              </a:ext>
            </a:extLst>
          </p:cNvPr>
          <p:cNvSpPr txBox="1"/>
          <p:nvPr/>
        </p:nvSpPr>
        <p:spPr>
          <a:xfrm>
            <a:off x="571500" y="212735"/>
            <a:ext cx="8001000" cy="6555641"/>
          </a:xfrm>
          <a:prstGeom prst="rect">
            <a:avLst/>
          </a:prstGeom>
          <a:noFill/>
        </p:spPr>
        <p:txBody>
          <a:bodyPr wrap="square">
            <a:spAutoFit/>
          </a:bodyPr>
          <a:lstStyle/>
          <a:p>
            <a:pPr algn="ctr" eaLnBrk="1" hangingPunct="1"/>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COPIES TO INCLUDE </a:t>
            </a:r>
          </a:p>
          <a:p>
            <a:pPr algn="ctr" eaLnBrk="1" hangingPunct="1"/>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WITH THE STEP 3 APPEAL </a:t>
            </a:r>
          </a:p>
          <a:p>
            <a:pPr eaLnBrk="1" hangingPunct="1"/>
            <a:endParaRPr lang="en-US" sz="2000" b="1" dirty="0">
              <a:solidFill>
                <a:srgbClr val="FF6699"/>
              </a:solidFill>
              <a:latin typeface="Times New Roman" panose="02020603050405020304" pitchFamily="18" charset="0"/>
              <a:cs typeface="Times New Roman" panose="02020603050405020304" pitchFamily="18" charset="0"/>
            </a:endParaRPr>
          </a:p>
          <a:p>
            <a:pPr marL="457200" indent="-457200" eaLnBrk="1" hangingPunct="1"/>
            <a:r>
              <a:rPr lang="en-US" sz="2400" b="1" dirty="0">
                <a:latin typeface="Times New Roman" panose="02020603050405020304" pitchFamily="18" charset="0"/>
                <a:cs typeface="Times New Roman" panose="02020603050405020304" pitchFamily="18" charset="0"/>
              </a:rPr>
              <a:t>Include the documents listed below in the grievance file:</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All grievance forms utilized.</a:t>
            </a:r>
          </a:p>
          <a:p>
            <a:pPr marL="457200" indent="-457200" eaLnBrk="1" hangingPunct="1"/>
            <a:endParaRPr lang="en-US" sz="24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Postal Service’s Written Step 2 Denial.</a:t>
            </a:r>
          </a:p>
          <a:p>
            <a:pPr marL="457200" indent="-457200" eaLnBrk="1" hangingPunct="1"/>
            <a:endParaRPr lang="en-US" sz="24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Union’s Corrections or Additions, if submitted to Management.</a:t>
            </a:r>
          </a:p>
          <a:p>
            <a:pPr marL="457200" indent="-457200" eaLnBrk="1" hangingPunct="1"/>
            <a:endParaRPr lang="en-US" sz="24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All Exhibits to support the Union’s position.</a:t>
            </a:r>
          </a:p>
          <a:p>
            <a:pPr marL="457200" indent="-457200" eaLnBrk="1" hangingPunct="1"/>
            <a:endParaRPr lang="en-US" sz="24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When sending the Direct Appeal to the Union, include the same documents, along with notification that Management did not render a Step 2 decision.</a:t>
            </a:r>
          </a:p>
        </p:txBody>
      </p:sp>
    </p:spTree>
    <p:extLst>
      <p:ext uri="{BB962C8B-B14F-4D97-AF65-F5344CB8AC3E}">
        <p14:creationId xmlns:p14="http://schemas.microsoft.com/office/powerpoint/2010/main" val="9647265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445E34-1CE6-42A5-B70E-D32B67314310}"/>
              </a:ext>
            </a:extLst>
          </p:cNvPr>
          <p:cNvSpPr txBox="1"/>
          <p:nvPr/>
        </p:nvSpPr>
        <p:spPr>
          <a:xfrm>
            <a:off x="571500" y="212735"/>
            <a:ext cx="7581900" cy="4093428"/>
          </a:xfrm>
          <a:prstGeom prst="rect">
            <a:avLst/>
          </a:prstGeom>
          <a:noFill/>
        </p:spPr>
        <p:txBody>
          <a:bodyPr wrap="square">
            <a:spAutoFit/>
          </a:bodyPr>
          <a:lstStyle/>
          <a:p>
            <a:pPr algn="ctr" eaLnBrk="1" hangingPunct="1"/>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COPIES TO INCLUDE </a:t>
            </a:r>
          </a:p>
          <a:p>
            <a:pPr algn="ctr" eaLnBrk="1" hangingPunct="1"/>
            <a:r>
              <a:rPr lang="en-US" sz="3200" b="1" u="sng" dirty="0">
                <a:solidFill>
                  <a:srgbClr val="FF6699"/>
                </a:solidFill>
                <a:latin typeface="Tahoma" panose="020B0604030504040204" pitchFamily="34" charset="0"/>
                <a:ea typeface="Tahoma" panose="020B0604030504040204" pitchFamily="34" charset="0"/>
                <a:cs typeface="Tahoma" panose="020B0604030504040204" pitchFamily="34" charset="0"/>
              </a:rPr>
              <a:t>WITH THE STEP 3 APPEAL CONT’D</a:t>
            </a:r>
          </a:p>
          <a:p>
            <a:pPr eaLnBrk="1" hangingPunct="1"/>
            <a:endParaRPr lang="en-US" sz="2000" b="1" dirty="0">
              <a:solidFill>
                <a:srgbClr val="FF6699"/>
              </a:solidFill>
              <a:latin typeface="Times New Roman" panose="02020603050405020304" pitchFamily="18" charset="0"/>
              <a:cs typeface="Times New Roman" panose="02020603050405020304" pitchFamily="18" charset="0"/>
            </a:endParaRPr>
          </a:p>
          <a:p>
            <a:pPr eaLnBrk="1" hangingPunct="1"/>
            <a:r>
              <a:rPr lang="en-US" sz="2600" b="1" dirty="0">
                <a:latin typeface="Times New Roman" panose="02020603050405020304" pitchFamily="18" charset="0"/>
                <a:cs typeface="Times New Roman" panose="02020603050405020304" pitchFamily="18" charset="0"/>
              </a:rPr>
              <a:t>NOTE: If Management does not render a decision letter at Step 2, avoid missing the time limits. Appeal the grievance directly to Step 3.</a:t>
            </a:r>
          </a:p>
          <a:p>
            <a:pPr eaLnBrk="1" hangingPunct="1"/>
            <a:endParaRPr lang="en-US" sz="2000" b="1" dirty="0">
              <a:latin typeface="Times New Roman" panose="02020603050405020304" pitchFamily="18" charset="0"/>
              <a:cs typeface="Times New Roman" panose="02020603050405020304" pitchFamily="18" charset="0"/>
            </a:endParaRPr>
          </a:p>
          <a:p>
            <a:pPr algn="ctr" eaLnBrk="1" hangingPunct="1"/>
            <a:r>
              <a:rPr lang="en-US" sz="26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ARGUMENTS AND EVIDENCE FORM </a:t>
            </a:r>
          </a:p>
          <a:p>
            <a:pPr algn="ctr" eaLnBrk="1" hangingPunct="1"/>
            <a:r>
              <a:rPr lang="en-US" sz="26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FOR STEP 3 APPEALS </a:t>
            </a:r>
          </a:p>
          <a:p>
            <a:pPr algn="ctr" eaLnBrk="1" hangingPunct="1"/>
            <a:r>
              <a:rPr lang="en-US" sz="26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AND STEP 2 DIRECT APPEALS.pdf</a:t>
            </a:r>
            <a:endParaRPr lang="en-US" sz="26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1391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85800" y="381000"/>
            <a:ext cx="7734300" cy="5570756"/>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VETERAN’S PREFERENCE</a:t>
            </a:r>
          </a:p>
          <a:p>
            <a:pPr eaLnBrk="1" hangingPunct="1"/>
            <a:endParaRPr lang="en-US" sz="2400" b="1" dirty="0">
              <a:solidFill>
                <a:schemeClr val="tx2"/>
              </a:solidFill>
              <a:latin typeface="Tahoma" charset="0"/>
            </a:endParaRPr>
          </a:p>
          <a:p>
            <a:pPr eaLnBrk="1" hangingPunct="1">
              <a:buClr>
                <a:srgbClr val="3399FF"/>
              </a:buClr>
            </a:pPr>
            <a:r>
              <a:rPr lang="en-US" sz="2400" b="1" dirty="0">
                <a:latin typeface="Times New Roman" panose="02020603050405020304" pitchFamily="18" charset="0"/>
                <a:cs typeface="Times New Roman" panose="02020603050405020304" pitchFamily="18" charset="0"/>
              </a:rPr>
              <a:t>Employees with veteran’s preference rights receive both a PROPOSED removal notice and a letter of decision.  </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However, the right of a preference eligible to file a grievance pursuant to </a:t>
            </a:r>
            <a:r>
              <a:rPr lang="en-US" sz="2400" b="1" u="sng" dirty="0">
                <a:latin typeface="Times New Roman" panose="02020603050405020304" pitchFamily="18" charset="0"/>
                <a:cs typeface="Times New Roman" panose="02020603050405020304" pitchFamily="18" charset="0"/>
              </a:rPr>
              <a:t>Article 15 </a:t>
            </a:r>
            <a:r>
              <a:rPr lang="en-US" sz="2400" b="1" dirty="0">
                <a:latin typeface="Times New Roman" panose="02020603050405020304" pitchFamily="18" charset="0"/>
                <a:cs typeface="Times New Roman" panose="02020603050405020304" pitchFamily="18" charset="0"/>
              </a:rPr>
              <a:t>of the CBA applies solely to the proposed removal notice. </a:t>
            </a:r>
          </a:p>
          <a:p>
            <a:pPr marL="457200" indent="-457200" eaLnBrk="1" hangingPunct="1"/>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grievance </a:t>
            </a:r>
            <a:r>
              <a:rPr lang="en-US" sz="2400" b="1" u="sng" dirty="0">
                <a:latin typeface="Times New Roman" panose="02020603050405020304" pitchFamily="18" charset="0"/>
                <a:cs typeface="Times New Roman" panose="02020603050405020304" pitchFamily="18" charset="0"/>
              </a:rPr>
              <a:t>MUST BE</a:t>
            </a:r>
            <a:r>
              <a:rPr lang="en-US" sz="2400" b="1" dirty="0">
                <a:latin typeface="Times New Roman" panose="02020603050405020304" pitchFamily="18" charset="0"/>
                <a:cs typeface="Times New Roman" panose="02020603050405020304" pitchFamily="18" charset="0"/>
              </a:rPr>
              <a:t> filed within </a:t>
            </a:r>
            <a:r>
              <a:rPr lang="en-US" sz="2400" b="1" u="sng" dirty="0">
                <a:latin typeface="Times New Roman" panose="02020603050405020304" pitchFamily="18" charset="0"/>
                <a:cs typeface="Times New Roman" panose="02020603050405020304" pitchFamily="18" charset="0"/>
              </a:rPr>
              <a:t>14 days</a:t>
            </a:r>
            <a:r>
              <a:rPr lang="en-US" sz="2400" b="1" dirty="0">
                <a:latin typeface="Times New Roman" panose="02020603050405020304" pitchFamily="18" charset="0"/>
                <a:cs typeface="Times New Roman" panose="02020603050405020304" pitchFamily="18" charset="0"/>
              </a:rPr>
              <a:t> on the </a:t>
            </a:r>
            <a:r>
              <a:rPr lang="en-US" sz="2400" b="1" u="sng" dirty="0">
                <a:latin typeface="Times New Roman" panose="02020603050405020304" pitchFamily="18" charset="0"/>
                <a:cs typeface="Times New Roman" panose="02020603050405020304" pitchFamily="18" charset="0"/>
              </a:rPr>
              <a:t>Proposed Removal Notice</a:t>
            </a:r>
            <a:r>
              <a:rPr lang="en-US" sz="2400" b="1" dirty="0">
                <a:latin typeface="Times New Roman" panose="02020603050405020304" pitchFamily="18" charset="0"/>
                <a:cs typeface="Times New Roman" panose="02020603050405020304" pitchFamily="18" charset="0"/>
              </a:rPr>
              <a:t>.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 employee may </a:t>
            </a:r>
            <a:r>
              <a:rPr lang="en-US" sz="2400" b="1" u="sng" dirty="0">
                <a:latin typeface="Times New Roman" panose="02020603050405020304" pitchFamily="18" charset="0"/>
                <a:cs typeface="Times New Roman" panose="02020603050405020304" pitchFamily="18" charset="0"/>
              </a:rPr>
              <a:t>NOT FILE</a:t>
            </a:r>
            <a:r>
              <a:rPr lang="en-US" sz="2400" b="1" dirty="0">
                <a:latin typeface="Times New Roman" panose="02020603050405020304" pitchFamily="18" charset="0"/>
                <a:cs typeface="Times New Roman" panose="02020603050405020304" pitchFamily="18" charset="0"/>
              </a:rPr>
              <a:t> a grievance over the letter of decision.</a:t>
            </a:r>
          </a:p>
          <a:p>
            <a:pPr marL="457200" indent="-457200" eaLnBrk="1" hangingPunct="1">
              <a:buClr>
                <a:srgbClr val="3399FF"/>
              </a:buClr>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8931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p:cNvSpPr>
            <a:spLocks noChangeArrowheads="1"/>
          </p:cNvSpPr>
          <p:nvPr/>
        </p:nvSpPr>
        <p:spPr bwMode="auto">
          <a:xfrm>
            <a:off x="609600" y="152400"/>
            <a:ext cx="7696200" cy="6755696"/>
          </a:xfrm>
          <a:prstGeom prst="rect">
            <a:avLst/>
          </a:prstGeom>
          <a:noFill/>
          <a:ln w="9525">
            <a:noFill/>
            <a:miter lim="800000"/>
            <a:headEnd/>
            <a:tailEnd/>
          </a:ln>
          <a:effectLst/>
        </p:spPr>
        <p:txBody>
          <a:bodyPr wrap="square">
            <a:spAutoFit/>
          </a:bodyPr>
          <a:lstStyle/>
          <a:p>
            <a:pPr algn="ctr" eaLnBrk="1" hangingPunct="1"/>
            <a:r>
              <a:rPr lang="en-US" sz="3200" b="1" u="sng" dirty="0">
                <a:solidFill>
                  <a:srgbClr val="FF6699"/>
                </a:solidFill>
                <a:latin typeface="Tahoma" charset="0"/>
              </a:rPr>
              <a:t>ROLE OF OIG AND/OR</a:t>
            </a:r>
          </a:p>
          <a:p>
            <a:pPr algn="ctr" eaLnBrk="1" hangingPunct="1"/>
            <a:r>
              <a:rPr lang="en-US" sz="3200" b="1" u="sng" dirty="0">
                <a:solidFill>
                  <a:srgbClr val="FF6699"/>
                </a:solidFill>
                <a:latin typeface="Tahoma" charset="0"/>
              </a:rPr>
              <a:t>POSTAL INSPECTION SERVICE</a:t>
            </a:r>
          </a:p>
          <a:p>
            <a:pPr eaLnBrk="1" hangingPunct="1"/>
            <a:endParaRPr lang="en-US" sz="2000" b="1" dirty="0">
              <a:solidFill>
                <a:schemeClr val="tx2"/>
              </a:solidFill>
              <a:latin typeface="Tahoma" charset="0"/>
            </a:endParaRPr>
          </a:p>
          <a:p>
            <a:pPr eaLnBrk="1" hangingPunct="1">
              <a:lnSpc>
                <a:spcPct val="95000"/>
              </a:lnSpc>
              <a:buClr>
                <a:srgbClr val="3399FF"/>
              </a:buClr>
            </a:pPr>
            <a:r>
              <a:rPr lang="en-US" sz="2300" b="1" dirty="0">
                <a:latin typeface="Times New Roman" panose="02020603050405020304" pitchFamily="18" charset="0"/>
                <a:cs typeface="Times New Roman" panose="02020603050405020304" pitchFamily="18" charset="0"/>
              </a:rPr>
              <a:t>The OIG and/or Postal Inspection Service has an obligation to comply fully with the letter and spirit of the CBA and may not interfere in the dispute resolution process as it relates to Articles 15 and 16 of the CBA.</a:t>
            </a:r>
          </a:p>
          <a:p>
            <a:pPr marL="457200" indent="-457200" eaLnBrk="1" hangingPunct="1">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00" b="1" dirty="0">
                <a:latin typeface="Times New Roman" panose="02020603050405020304" pitchFamily="18" charset="0"/>
                <a:ea typeface="Tahoma" panose="020B0604030504040204" pitchFamily="34" charset="0"/>
                <a:cs typeface="Times New Roman" panose="02020603050405020304" pitchFamily="18" charset="0"/>
              </a:rPr>
              <a:t>An independent review of the facts by Management is required prior to the issuance of disciplinary action, emergency procedures, indefinite suspensions, enforced leave or administrative actions. </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lnSpc>
                <a:spcPct val="95000"/>
              </a:lnSpc>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Inspectors may not make recommendations, provide opinions, or attempt to influence Management’s decision regarding disciplinary action.</a:t>
            </a:r>
          </a:p>
          <a:p>
            <a:pPr marL="457200" indent="-457200">
              <a:lnSpc>
                <a:spcPct val="95000"/>
              </a:lnSpc>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lnSpc>
                <a:spcPct val="95000"/>
              </a:lnSpc>
              <a:buClr>
                <a:srgbClr val="3399FF"/>
              </a:buClr>
            </a:pPr>
            <a:r>
              <a:rPr lang="en-US" sz="2300" b="1" dirty="0">
                <a:latin typeface="Times New Roman" panose="02020603050405020304" pitchFamily="18" charset="0"/>
                <a:cs typeface="Times New Roman" panose="02020603050405020304" pitchFamily="18" charset="0"/>
              </a:rPr>
              <a:t>NOTE: See JCIM, Article 15.5.C, ROLE OF INSPECTION SERVICE.</a:t>
            </a:r>
            <a:endParaRPr lang="en-US" sz="2300" b="1" dirty="0">
              <a:latin typeface="Tahoma" charset="0"/>
            </a:endParaRPr>
          </a:p>
        </p:txBody>
      </p:sp>
    </p:spTree>
    <p:extLst>
      <p:ext uri="{BB962C8B-B14F-4D97-AF65-F5344CB8AC3E}">
        <p14:creationId xmlns:p14="http://schemas.microsoft.com/office/powerpoint/2010/main" val="3094272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533400" y="152400"/>
            <a:ext cx="7924800" cy="6309420"/>
          </a:xfrm>
          <a:prstGeom prst="rect">
            <a:avLst/>
          </a:prstGeom>
          <a:noFill/>
          <a:ln w="9525">
            <a:noFill/>
            <a:miter lim="800000"/>
            <a:headEnd/>
            <a:tailEnd/>
          </a:ln>
          <a:effectLst/>
        </p:spPr>
        <p:txBody>
          <a:bodyPr wrap="square">
            <a:spAutoFit/>
          </a:bodyPr>
          <a:lstStyle/>
          <a:p>
            <a:pPr algn="ctr" eaLnBrk="1" hangingPunct="1">
              <a:buClr>
                <a:srgbClr val="3399FF"/>
              </a:buClr>
            </a:pPr>
            <a:r>
              <a:rPr lang="en-US" sz="3200" b="1" u="sng" dirty="0">
                <a:solidFill>
                  <a:srgbClr val="FF6699"/>
                </a:solidFill>
                <a:latin typeface="Tahoma" charset="0"/>
              </a:rPr>
              <a:t>WEINGARTEN RIGHTS </a:t>
            </a:r>
          </a:p>
          <a:p>
            <a:pPr marL="285750" indent="-285750" eaLnBrk="1" hangingPunct="1">
              <a:buClr>
                <a:srgbClr val="3399FF"/>
              </a:buClr>
              <a:buFont typeface="Wingdings" panose="05000000000000000000" pitchFamily="2" charset="2"/>
              <a:buChar char="Ø"/>
            </a:pPr>
            <a:endParaRPr lang="en-US" sz="2000" b="1" dirty="0">
              <a:solidFill>
                <a:schemeClr val="tx2"/>
              </a:solidFill>
              <a:latin typeface="Tahoma" charset="0"/>
            </a:endParaRPr>
          </a:p>
          <a:p>
            <a:pPr eaLnBrk="1" hangingPunct="1">
              <a:buClr>
                <a:srgbClr val="3399FF"/>
              </a:buClr>
            </a:pPr>
            <a:r>
              <a:rPr lang="en-US" sz="2300" b="1" dirty="0">
                <a:latin typeface="Times New Roman" panose="02020603050405020304" pitchFamily="18" charset="0"/>
                <a:cs typeface="Times New Roman" panose="02020603050405020304" pitchFamily="18" charset="0"/>
              </a:rPr>
              <a:t>Federal labor law gives employees the right to representation during investigatory interviews where the employee reasonably believes it may lead to discipline. This right originated in NLRB v. J. Weingarten, U.S. Supreme Court 1975, and is commonly called the “Weingarten Rights.”  </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300" b="1" dirty="0">
                <a:latin typeface="Times New Roman" panose="02020603050405020304" pitchFamily="18" charset="0"/>
                <a:cs typeface="Times New Roman" panose="02020603050405020304" pitchFamily="18" charset="0"/>
              </a:rPr>
              <a:t>“Weingarten Rights” only applies to an investigatory interview when Management is searching for facts </a:t>
            </a:r>
          </a:p>
          <a:p>
            <a:pPr eaLnBrk="1" hangingPunct="1">
              <a:buClr>
                <a:srgbClr val="3399FF"/>
              </a:buClr>
            </a:pPr>
            <a:r>
              <a:rPr lang="en-US" sz="2300" b="1" dirty="0">
                <a:latin typeface="Times New Roman" panose="02020603050405020304" pitchFamily="18" charset="0"/>
                <a:cs typeface="Times New Roman" panose="02020603050405020304" pitchFamily="18" charset="0"/>
              </a:rPr>
              <a:t>	relevant to determining an employee’s guilt or deciding 	whether to impose discipline.  </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t>
            </a:r>
            <a:r>
              <a:rPr lang="en-US" sz="2300" b="1" dirty="0">
                <a:latin typeface="Times New Roman" panose="02020603050405020304" pitchFamily="18" charset="0"/>
                <a:cs typeface="Times New Roman" panose="02020603050405020304" pitchFamily="18" charset="0"/>
              </a:rPr>
              <a:t>Weingarten Rights” </a:t>
            </a:r>
            <a:r>
              <a:rPr lang="en-US" sz="2300" b="1" u="sng" dirty="0">
                <a:latin typeface="Times New Roman" panose="02020603050405020304" pitchFamily="18" charset="0"/>
                <a:cs typeface="Times New Roman" panose="02020603050405020304" pitchFamily="18" charset="0"/>
              </a:rPr>
              <a:t>do not apply</a:t>
            </a:r>
            <a:r>
              <a:rPr lang="en-US" sz="2300" b="1" dirty="0">
                <a:latin typeface="Times New Roman" panose="02020603050405020304" pitchFamily="18" charset="0"/>
                <a:cs typeface="Times New Roman" panose="02020603050405020304" pitchFamily="18" charset="0"/>
              </a:rPr>
              <a:t> when Management issues a disciplinary action to an employee (For example, handing an employee a letter of warning).</a:t>
            </a:r>
          </a:p>
          <a:p>
            <a:pPr marL="457200" indent="-457200" eaLnBrk="1" hangingPunct="1">
              <a:buClr>
                <a:srgbClr val="3399FF"/>
              </a:buClr>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eaLnBrk="1" hangingPunct="1">
              <a:buClr>
                <a:srgbClr val="3399FF"/>
              </a:buClr>
            </a:pPr>
            <a:r>
              <a:rPr lang="en-US" sz="2300" b="1" dirty="0">
                <a:latin typeface="Times New Roman" panose="02020603050405020304" pitchFamily="18" charset="0"/>
                <a:cs typeface="Times New Roman" panose="02020603050405020304" pitchFamily="18" charset="0"/>
              </a:rPr>
              <a:t>NOTE: See JCIM, Article 17.4, WEINGARTEN RIGHTS.</a:t>
            </a:r>
          </a:p>
        </p:txBody>
      </p:sp>
    </p:spTree>
    <p:extLst>
      <p:ext uri="{BB962C8B-B14F-4D97-AF65-F5344CB8AC3E}">
        <p14:creationId xmlns:p14="http://schemas.microsoft.com/office/powerpoint/2010/main" val="580823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04800" y="228600"/>
            <a:ext cx="8153400" cy="5878532"/>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WEINGARTEN RIGHTS CONT’D </a:t>
            </a:r>
          </a:p>
          <a:p>
            <a:pPr marL="457200" indent="-457200" eaLnBrk="1" hangingPunct="1">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“Weingarten Rights” apply where an employee reasonably believes that discipline could result from the investigatory interview. Whether or not an employee’s belief is “reasonable” depends on the circumstances of each case. </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Management </a:t>
            </a:r>
            <a:r>
              <a:rPr lang="en-US" sz="2400" b="1" u="sng" dirty="0">
                <a:latin typeface="Times New Roman" panose="02020603050405020304" pitchFamily="18" charset="0"/>
                <a:cs typeface="Times New Roman" panose="02020603050405020304" pitchFamily="18" charset="0"/>
              </a:rPr>
              <a:t>is not required</a:t>
            </a:r>
            <a:r>
              <a:rPr lang="en-US" sz="2400" b="1" dirty="0">
                <a:latin typeface="Times New Roman" panose="02020603050405020304" pitchFamily="18" charset="0"/>
                <a:cs typeface="Times New Roman" panose="02020603050405020304" pitchFamily="18" charset="0"/>
              </a:rPr>
              <a:t> to inform the employee </a:t>
            </a:r>
          </a:p>
          <a:p>
            <a:pPr marL="457200" indent="-457200" eaLnBrk="1" hangingPunct="1">
              <a:buClr>
                <a:srgbClr val="3399FF"/>
              </a:buClr>
            </a:pPr>
            <a:r>
              <a:rPr lang="en-US" sz="2400" b="1" dirty="0">
                <a:latin typeface="Times New Roman" panose="02020603050405020304" pitchFamily="18" charset="0"/>
                <a:cs typeface="Times New Roman" panose="02020603050405020304" pitchFamily="18" charset="0"/>
              </a:rPr>
              <a:t>	of their “Weingarten Rights.” The employee </a:t>
            </a:r>
            <a:r>
              <a:rPr lang="en-US" sz="2400" b="1" u="sng" dirty="0">
                <a:latin typeface="Times New Roman" panose="02020603050405020304" pitchFamily="18" charset="0"/>
                <a:cs typeface="Times New Roman" panose="02020603050405020304" pitchFamily="18" charset="0"/>
              </a:rPr>
              <a:t>must request</a:t>
            </a:r>
            <a:r>
              <a:rPr lang="en-US" sz="2400" b="1" dirty="0">
                <a:latin typeface="Times New Roman" panose="02020603050405020304" pitchFamily="18" charset="0"/>
                <a:cs typeface="Times New Roman" panose="02020603050405020304" pitchFamily="18" charset="0"/>
              </a:rPr>
              <a:t> a steward or Union representation.</a:t>
            </a:r>
          </a:p>
          <a:p>
            <a:pPr marL="457200" indent="-457200" eaLnBrk="1" hangingPunct="1">
              <a:buClr>
                <a:srgbClr val="3399FF"/>
              </a:buClr>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“Weingarten Rights” includes the right to a pre-interview consultation with a steward. Federal Courts have extended this right to pre-meeting consultations to cover Postal Inspection Service interrogations. </a:t>
            </a:r>
          </a:p>
        </p:txBody>
      </p:sp>
    </p:spTree>
    <p:extLst>
      <p:ext uri="{BB962C8B-B14F-4D97-AF65-F5344CB8AC3E}">
        <p14:creationId xmlns:p14="http://schemas.microsoft.com/office/powerpoint/2010/main" val="1601139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533400" y="243512"/>
            <a:ext cx="8001000" cy="6524863"/>
          </a:xfrm>
          <a:prstGeom prst="rect">
            <a:avLst/>
          </a:prstGeom>
          <a:noFill/>
          <a:ln w="9525">
            <a:noFill/>
            <a:miter lim="800000"/>
            <a:headEnd/>
            <a:tailEnd/>
          </a:ln>
          <a:effectLst/>
        </p:spPr>
        <p:txBody>
          <a:bodyPr wrap="square">
            <a:spAutoFit/>
          </a:bodyPr>
          <a:lstStyle/>
          <a:p>
            <a:pPr algn="ctr">
              <a:buClr>
                <a:srgbClr val="3399FF"/>
              </a:buClr>
            </a:pPr>
            <a:r>
              <a:rPr lang="en-US" sz="3200" b="1" u="sng" dirty="0">
                <a:solidFill>
                  <a:srgbClr val="FF6699"/>
                </a:solidFill>
                <a:latin typeface="Tahoma" charset="0"/>
              </a:rPr>
              <a:t>WEINGARTEN RIGHTS CONT’D</a:t>
            </a:r>
          </a:p>
          <a:p>
            <a:pPr algn="ctr">
              <a:buClr>
                <a:srgbClr val="3399FF"/>
              </a:buClr>
            </a:pPr>
            <a:r>
              <a:rPr lang="en-US" sz="2000" b="1" u="sng" dirty="0">
                <a:solidFill>
                  <a:srgbClr val="FF6699"/>
                </a:solidFill>
                <a:latin typeface="Tahoma" charset="0"/>
              </a:rPr>
              <a:t> </a:t>
            </a: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Although </a:t>
            </a:r>
            <a:r>
              <a:rPr lang="en-US" sz="2400" b="1" u="sng" dirty="0">
                <a:latin typeface="Times New Roman" panose="02020603050405020304" pitchFamily="18" charset="0"/>
                <a:cs typeface="Times New Roman" panose="02020603050405020304" pitchFamily="18" charset="0"/>
              </a:rPr>
              <a:t>ELM, Section 665.3</a:t>
            </a:r>
            <a:r>
              <a:rPr lang="en-US" sz="2400" b="1" dirty="0">
                <a:latin typeface="Times New Roman" panose="02020603050405020304" pitchFamily="18" charset="0"/>
                <a:cs typeface="Times New Roman" panose="02020603050405020304" pitchFamily="18" charset="0"/>
              </a:rPr>
              <a:t> requires all postal employees to cooperate during investigations, an employee with “Weingarten Rights” is entitled to have </a:t>
            </a:r>
          </a:p>
          <a:p>
            <a:pPr marL="457200" indent="-457200" eaLnBrk="1" hangingPunct="1">
              <a:buClr>
                <a:srgbClr val="3399FF"/>
              </a:buClr>
            </a:pPr>
            <a:r>
              <a:rPr lang="en-US" sz="2400" b="1" dirty="0">
                <a:latin typeface="Times New Roman" panose="02020603050405020304" pitchFamily="18" charset="0"/>
                <a:cs typeface="Times New Roman" panose="02020603050405020304" pitchFamily="18" charset="0"/>
              </a:rPr>
              <a:t>	a steward present before answering questions.  </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If the employee request a steward and the request is denied, the employee should respond that they </a:t>
            </a:r>
            <a:r>
              <a:rPr lang="en-US" sz="2400" b="1" u="sng" dirty="0">
                <a:latin typeface="Times New Roman" panose="02020603050405020304" pitchFamily="18" charset="0"/>
                <a:cs typeface="Times New Roman" panose="02020603050405020304" pitchFamily="18" charset="0"/>
              </a:rPr>
              <a:t>will not</a:t>
            </a: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answer questions</a:t>
            </a:r>
            <a:r>
              <a:rPr lang="en-US" sz="2400" b="1" dirty="0">
                <a:latin typeface="Times New Roman" panose="02020603050405020304" pitchFamily="18" charset="0"/>
                <a:cs typeface="Times New Roman" panose="02020603050405020304" pitchFamily="18" charset="0"/>
              </a:rPr>
              <a:t> until a steward or an attorney, as appropriate, is provided.</a:t>
            </a:r>
          </a:p>
          <a:p>
            <a:pPr marL="457200" indent="-457200" eaLnBrk="1" hangingPunct="1">
              <a:buClr>
                <a:srgbClr val="3399FF"/>
              </a:buCl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indent="-457200" eaLnBrk="1" hangingPunct="1">
              <a:buClr>
                <a:srgbClr val="3399FF"/>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grievant and the Union representative should both file an Unfair Labor Charge with the National Labor Relations Board.</a:t>
            </a:r>
          </a:p>
          <a:p>
            <a:pPr eaLnBrk="1" hangingPunct="1">
              <a:buClr>
                <a:srgbClr val="3399FF"/>
              </a:buClr>
            </a:pPr>
            <a:endParaRPr lang="en-US" sz="1400" b="1" dirty="0">
              <a:solidFill>
                <a:srgbClr val="3FCDE7"/>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a:p>
            <a:pPr algn="ctr" eaLnBrk="1" hangingPunct="1">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DENIAL OF A STEWARD DURING AN INTERROGATION.pdf</a:t>
            </a:r>
            <a:endParaRPr lang="en-US" sz="24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6990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123E63-1A38-40D7-BDDC-8F308EA61CE3}"/>
              </a:ext>
            </a:extLst>
          </p:cNvPr>
          <p:cNvSpPr txBox="1"/>
          <p:nvPr/>
        </p:nvSpPr>
        <p:spPr>
          <a:xfrm>
            <a:off x="609600" y="381000"/>
            <a:ext cx="7696200" cy="5816977"/>
          </a:xfrm>
          <a:prstGeom prst="rect">
            <a:avLst/>
          </a:prstGeom>
          <a:noFill/>
        </p:spPr>
        <p:txBody>
          <a:bodyPr wrap="square">
            <a:spAutoFit/>
          </a:bodyPr>
          <a:lstStyle/>
          <a:p>
            <a:pPr algn="ctr">
              <a:buClr>
                <a:srgbClr val="3399FF"/>
              </a:buClr>
            </a:pPr>
            <a:r>
              <a:rPr lang="en-US" sz="3200" b="1" u="sng" dirty="0">
                <a:solidFill>
                  <a:srgbClr val="FF6699"/>
                </a:solidFill>
                <a:latin typeface="Tahoma" charset="0"/>
              </a:rPr>
              <a:t>ADVICE TO GIVE TO EMPLOYEES</a:t>
            </a:r>
          </a:p>
          <a:p>
            <a:pPr marL="285750" indent="-285750">
              <a:buClr>
                <a:srgbClr val="3399FF"/>
              </a:buClr>
              <a:buFont typeface="Wingdings" panose="05000000000000000000" pitchFamily="2" charset="2"/>
              <a:buChar char="Ø"/>
            </a:pPr>
            <a:endParaRPr lang="en-US" dirty="0"/>
          </a:p>
          <a:p>
            <a:pPr>
              <a:buClr>
                <a:srgbClr val="3399FF"/>
              </a:buClr>
            </a:pPr>
            <a:r>
              <a:rPr lang="en-US" sz="2400" b="1" dirty="0">
                <a:latin typeface="Times New Roman" panose="02020603050405020304" pitchFamily="18" charset="0"/>
                <a:cs typeface="Times New Roman" panose="02020603050405020304" pitchFamily="18" charset="0"/>
              </a:rPr>
              <a:t>If questioned by an OIG agent(s) or by Postal Inspector(s), even if they believe that they are not guilty of any wrongdoing, employees should:</a:t>
            </a:r>
          </a:p>
          <a:p>
            <a:pPr>
              <a:buClr>
                <a:srgbClr val="3399FF"/>
              </a:buClr>
            </a:pPr>
            <a:r>
              <a:rPr lang="en-US" sz="2400" b="1"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Remain calm and correctly identify yourself.</a:t>
            </a:r>
          </a:p>
          <a:p>
            <a:pPr lvl="1" indent="-457200">
              <a:buClr>
                <a:srgbClr val="3399FF"/>
              </a:buClr>
              <a:buFont typeface="Wingdings" panose="05000000000000000000" pitchFamily="2" charset="2"/>
              <a:buChar char="ü"/>
            </a:pPr>
            <a:endParaRPr lang="en-US" sz="2000"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Request a steward, a Union representative, or an attorney as appropriate and remain silent until you have consulted with them.	</a:t>
            </a:r>
          </a:p>
          <a:p>
            <a:pPr lvl="1" indent="-457200">
              <a:buClr>
                <a:srgbClr val="3399FF"/>
              </a:buClr>
              <a:buFont typeface="Wingdings" panose="05000000000000000000" pitchFamily="2" charset="2"/>
              <a:buChar char="ü"/>
            </a:pPr>
            <a:endParaRPr lang="en-US" sz="2000"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sign any forms waiving your rights.</a:t>
            </a:r>
          </a:p>
          <a:p>
            <a:pPr marL="457200" indent="-457200">
              <a:buClr>
                <a:srgbClr val="3399FF"/>
              </a:buClr>
              <a:buFont typeface="Wingdings" panose="05000000000000000000" pitchFamily="2" charset="2"/>
              <a:buChar char="ü"/>
            </a:pPr>
            <a:endParaRPr lang="en-US" sz="2000"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agree to a polygraph (lie detector) test.</a:t>
            </a:r>
          </a:p>
          <a:p>
            <a:pPr marL="914400" lvl="1" indent="-457200">
              <a:buClr>
                <a:srgbClr val="3399FF"/>
              </a:buClr>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03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8F968-D00C-4C9C-95BC-4558A9CECC6A}"/>
              </a:ext>
            </a:extLst>
          </p:cNvPr>
          <p:cNvSpPr txBox="1"/>
          <p:nvPr/>
        </p:nvSpPr>
        <p:spPr>
          <a:xfrm>
            <a:off x="533400" y="228600"/>
            <a:ext cx="7848600" cy="6678751"/>
          </a:xfrm>
          <a:prstGeom prst="rect">
            <a:avLst/>
          </a:prstGeom>
          <a:noFill/>
        </p:spPr>
        <p:txBody>
          <a:bodyPr wrap="square">
            <a:spAutoFit/>
          </a:bodyPr>
          <a:lstStyle/>
          <a:p>
            <a:pPr lvl="1" algn="ctr">
              <a:buClr>
                <a:srgbClr val="3399FF"/>
              </a:buClr>
            </a:pPr>
            <a:r>
              <a:rPr lang="en-US" sz="3000" b="1" u="sng" dirty="0">
                <a:solidFill>
                  <a:srgbClr val="FF6699"/>
                </a:solidFill>
                <a:latin typeface="Tahoma" charset="0"/>
              </a:rPr>
              <a:t>ADVICE TO GIVE TO EMPLOYEES CONT’D </a:t>
            </a:r>
          </a:p>
          <a:p>
            <a:pPr marL="0" lvl="1">
              <a:buClr>
                <a:srgbClr val="3399FF"/>
              </a:buClr>
            </a:pPr>
            <a:endParaRPr lang="en-US" sz="2000"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write or sign any typewritten statements or make oral remarks without consulting with a steward, a Union representative, or an attorney, as appropriate.</a:t>
            </a:r>
          </a:p>
          <a:p>
            <a:pPr lvl="1" indent="-457200">
              <a:buClr>
                <a:srgbClr val="3399FF"/>
              </a:buClr>
              <a:buFont typeface="Wingdings" panose="05000000000000000000" pitchFamily="2" charset="2"/>
              <a:buChar char="ü"/>
            </a:pPr>
            <a:endParaRPr lang="en-US"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physically resist arrest or search of your person or property.</a:t>
            </a:r>
          </a:p>
          <a:p>
            <a:pPr lvl="1" indent="-457200">
              <a:buClr>
                <a:srgbClr val="3399FF"/>
              </a:buClr>
              <a:buFont typeface="Wingdings" panose="05000000000000000000" pitchFamily="2" charset="2"/>
              <a:buChar char="ü"/>
            </a:pPr>
            <a:endParaRPr lang="en-US"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consent to the search. Request to see a search warrant. If a search warrant is not available, inform the OIG agent(s) or by postal inspector (s) that you </a:t>
            </a:r>
          </a:p>
          <a:p>
            <a:pPr marL="0" lvl="1">
              <a:buClr>
                <a:srgbClr val="3399FF"/>
              </a:buClr>
            </a:pP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DO NOT </a:t>
            </a:r>
            <a:r>
              <a:rPr lang="en-US" sz="2400" b="1" dirty="0">
                <a:latin typeface="Times New Roman" panose="02020603050405020304" pitchFamily="18" charset="0"/>
                <a:cs typeface="Times New Roman" panose="02020603050405020304" pitchFamily="18" charset="0"/>
              </a:rPr>
              <a:t>consent to the search.</a:t>
            </a:r>
          </a:p>
          <a:p>
            <a:pPr marL="0" lvl="1">
              <a:buClr>
                <a:srgbClr val="3399FF"/>
              </a:buClr>
            </a:pPr>
            <a:endParaRPr lang="en-US"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deny or admit to any allegations without consulting with steward, a Union representative, or an attorney, as appropriate.</a:t>
            </a:r>
          </a:p>
        </p:txBody>
      </p:sp>
    </p:spTree>
    <p:extLst>
      <p:ext uri="{BB962C8B-B14F-4D97-AF65-F5344CB8AC3E}">
        <p14:creationId xmlns:p14="http://schemas.microsoft.com/office/powerpoint/2010/main" val="3518117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8F968-D00C-4C9C-95BC-4558A9CECC6A}"/>
              </a:ext>
            </a:extLst>
          </p:cNvPr>
          <p:cNvSpPr txBox="1"/>
          <p:nvPr/>
        </p:nvSpPr>
        <p:spPr>
          <a:xfrm>
            <a:off x="457200" y="381000"/>
            <a:ext cx="8077200" cy="6278642"/>
          </a:xfrm>
          <a:prstGeom prst="rect">
            <a:avLst/>
          </a:prstGeom>
          <a:noFill/>
        </p:spPr>
        <p:txBody>
          <a:bodyPr wrap="square">
            <a:spAutoFit/>
          </a:bodyPr>
          <a:lstStyle/>
          <a:p>
            <a:pPr lvl="1" algn="ctr">
              <a:buClr>
                <a:srgbClr val="3399FF"/>
              </a:buClr>
            </a:pPr>
            <a:r>
              <a:rPr lang="en-US" sz="3200" b="1" u="sng" dirty="0">
                <a:solidFill>
                  <a:srgbClr val="FF6699"/>
                </a:solidFill>
                <a:latin typeface="Tahoma" charset="0"/>
              </a:rPr>
              <a:t>ADVICE TO GIVE TO EMPLOYEES CONT’D </a:t>
            </a:r>
          </a:p>
          <a:p>
            <a:pPr marL="800100" lvl="1" indent="-342900">
              <a:buClr>
                <a:srgbClr val="3399FF"/>
              </a:buClr>
              <a:buFont typeface="Arial" panose="020B0604020202020204" pitchFamily="34" charset="0"/>
              <a:buChar char="•"/>
            </a:pPr>
            <a:endParaRPr lang="en-US" sz="2000" b="1" u="sng"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ASK</a:t>
            </a:r>
            <a:r>
              <a:rPr lang="en-US" sz="2400" b="1" dirty="0">
                <a:latin typeface="Times New Roman" panose="02020603050405020304" pitchFamily="18" charset="0"/>
                <a:cs typeface="Times New Roman" panose="02020603050405020304" pitchFamily="18" charset="0"/>
              </a:rPr>
              <a:t>, “Am I a suspect in a criminal matter?” If the answer is, “Yes,” remain silent until you consult with </a:t>
            </a:r>
          </a:p>
          <a:p>
            <a:pPr lvl="1" indent="-457200">
              <a:buClr>
                <a:srgbClr val="3399FF"/>
              </a:buClr>
              <a:tabLst>
                <a:tab pos="914400" algn="l"/>
              </a:tabLst>
            </a:pPr>
            <a:r>
              <a:rPr lang="en-US" sz="2400" b="1" dirty="0">
                <a:latin typeface="Times New Roman" panose="02020603050405020304" pitchFamily="18" charset="0"/>
                <a:cs typeface="Times New Roman" panose="02020603050405020304" pitchFamily="18" charset="0"/>
              </a:rPr>
              <a:t>	an attorney.</a:t>
            </a:r>
          </a:p>
          <a:p>
            <a:pPr lvl="1" indent="-457200">
              <a:buClr>
                <a:srgbClr val="3399FF"/>
              </a:buClr>
              <a:tabLst>
                <a:tab pos="914400" algn="l"/>
              </a:tabLst>
            </a:pPr>
            <a:endParaRPr lang="en-US"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ü"/>
            </a:pPr>
            <a:r>
              <a:rPr lang="en-US" sz="2400" b="1" i="0" u="none" strike="noStrike" baseline="0" dirty="0">
                <a:latin typeface="Times New Roman" panose="02020603050405020304" pitchFamily="18" charset="0"/>
              </a:rPr>
              <a:t>Beware of the good guy, bad guy routine. one OIG agent or inspector acts as the bad guy, the other as the good guy and tries to con the employee in believing they are trying to help them. Never fall into their trap.</a:t>
            </a:r>
            <a:endParaRPr lang="en-US" sz="2400" b="1" dirty="0">
              <a:latin typeface="Times New Roman" panose="02020603050405020304" pitchFamily="18" charset="0"/>
              <a:cs typeface="Times New Roman" panose="02020603050405020304" pitchFamily="18" charset="0"/>
            </a:endParaRPr>
          </a:p>
          <a:p>
            <a:pPr marL="0" lvl="1">
              <a:buClr>
                <a:srgbClr val="3399FF"/>
              </a:buClr>
            </a:pPr>
            <a:endParaRPr lang="en-US" b="1" dirty="0">
              <a:latin typeface="Times New Roman" panose="02020603050405020304" pitchFamily="18" charset="0"/>
              <a:cs typeface="Times New Roman" panose="02020603050405020304" pitchFamily="18" charset="0"/>
            </a:endParaRPr>
          </a:p>
          <a:p>
            <a:pPr lvl="1" indent="-457200">
              <a:buClr>
                <a:srgbClr val="3399FF"/>
              </a:buClr>
              <a:buFont typeface="Wingdings" panose="05000000000000000000" pitchFamily="2" charset="2"/>
              <a:buChar char="ü"/>
            </a:pPr>
            <a:r>
              <a:rPr lang="en-US" sz="2400" b="1" u="sng" dirty="0">
                <a:latin typeface="Times New Roman" panose="02020603050405020304" pitchFamily="18" charset="0"/>
                <a:cs typeface="Times New Roman" panose="02020603050405020304" pitchFamily="18" charset="0"/>
              </a:rPr>
              <a:t>DO NOT</a:t>
            </a:r>
            <a:r>
              <a:rPr lang="en-US" sz="2400" b="1" dirty="0">
                <a:latin typeface="Times New Roman" panose="02020603050405020304" pitchFamily="18" charset="0"/>
                <a:cs typeface="Times New Roman" panose="02020603050405020304" pitchFamily="18" charset="0"/>
              </a:rPr>
              <a:t> allow anyone to intimidate you. Always refuse to answer questions unless representation is present. </a:t>
            </a:r>
            <a:r>
              <a:rPr lang="en-US" sz="2400" b="1" u="sng" dirty="0">
                <a:latin typeface="Times New Roman" panose="02020603050405020304" pitchFamily="18" charset="0"/>
                <a:cs typeface="Times New Roman" panose="02020603050405020304" pitchFamily="18" charset="0"/>
              </a:rPr>
              <a:t>What you say will definitely be used against you! </a:t>
            </a:r>
          </a:p>
          <a:p>
            <a:pPr marL="0" lvl="1">
              <a:buClr>
                <a:srgbClr val="3399FF"/>
              </a:buClr>
            </a:pPr>
            <a:endParaRPr lang="en-US" b="1" u="sng" dirty="0">
              <a:latin typeface="Times New Roman" panose="02020603050405020304" pitchFamily="18" charset="0"/>
              <a:cs typeface="Times New Roman" panose="02020603050405020304" pitchFamily="18" charset="0"/>
            </a:endParaRPr>
          </a:p>
          <a:p>
            <a:pPr marL="0" lvl="1" algn="ctr">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RIGHTS BEFORE POSTAL INSPECTORS CARDS.pdf</a:t>
            </a:r>
            <a:endParaRPr lang="en-US" sz="24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7653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1B9470-8A96-4FFA-9D43-FCF66878050D}"/>
              </a:ext>
            </a:extLst>
          </p:cNvPr>
          <p:cNvSpPr txBox="1"/>
          <p:nvPr/>
        </p:nvSpPr>
        <p:spPr>
          <a:xfrm>
            <a:off x="685800" y="228600"/>
            <a:ext cx="7772400" cy="6155531"/>
          </a:xfrm>
          <a:prstGeom prst="rect">
            <a:avLst/>
          </a:prstGeom>
          <a:noFill/>
        </p:spPr>
        <p:txBody>
          <a:bodyPr wrap="square">
            <a:spAutoFit/>
          </a:bodyPr>
          <a:lstStyle/>
          <a:p>
            <a:pPr algn="ctr" eaLnBrk="1" hangingPunct="1"/>
            <a:endParaRPr lang="en-US" sz="800" b="1" u="sng" dirty="0">
              <a:solidFill>
                <a:srgbClr val="FF6699"/>
              </a:solidFill>
              <a:latin typeface="Tahoma" charset="0"/>
            </a:endParaRPr>
          </a:p>
          <a:p>
            <a:pPr algn="ctr" eaLnBrk="1" hangingPunct="1"/>
            <a:r>
              <a:rPr lang="en-US" sz="3000" b="1" u="sng" dirty="0">
                <a:solidFill>
                  <a:srgbClr val="FF6699"/>
                </a:solidFill>
                <a:latin typeface="Tahoma" charset="0"/>
              </a:rPr>
              <a:t>ROLE OF THE STEWARD DURING INTERROGATION BY OIG AND/OR </a:t>
            </a:r>
          </a:p>
          <a:p>
            <a:pPr algn="ctr" eaLnBrk="1" hangingPunct="1"/>
            <a:r>
              <a:rPr lang="en-US" sz="3000" b="1" u="sng" dirty="0">
                <a:solidFill>
                  <a:srgbClr val="FF6699"/>
                </a:solidFill>
                <a:latin typeface="Tahoma" charset="0"/>
              </a:rPr>
              <a:t>POSTAL INSPECTION SERVICE</a:t>
            </a:r>
          </a:p>
          <a:p>
            <a:pPr algn="l"/>
            <a:endParaRPr lang="en-US" sz="20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cs typeface="Times New Roman" panose="02020603050405020304" pitchFamily="18" charset="0"/>
              </a:rPr>
              <a:t>Prior to filing the grievance, it is imperative that the steward :</a:t>
            </a:r>
          </a:p>
          <a:p>
            <a:pPr algn="l"/>
            <a:endParaRPr lang="en-US" sz="1400" b="1" i="0" u="none" strike="noStrike" baseline="0"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View all video tapes</a:t>
            </a:r>
          </a:p>
          <a:p>
            <a:pPr marL="457200" indent="-457200" algn="l">
              <a:buClr>
                <a:srgbClr val="3399FF"/>
              </a:buClr>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Listen to all audio tapes</a:t>
            </a:r>
          </a:p>
          <a:p>
            <a:pPr marL="457200" indent="-457200" algn="l">
              <a:buClr>
                <a:srgbClr val="3399FF"/>
              </a:buClr>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Question all witnesses, including confidential informers, officers in charge, managers, supervisors, postmasters, </a:t>
            </a:r>
            <a:r>
              <a:rPr lang="en-US" sz="2400" b="1" i="1" u="none" strike="noStrike" baseline="0" dirty="0">
                <a:latin typeface="Times New Roman" panose="02020603050405020304" pitchFamily="18" charset="0"/>
                <a:cs typeface="Times New Roman" panose="02020603050405020304" pitchFamily="18" charset="0"/>
              </a:rPr>
              <a:t>and postal inspectors </a:t>
            </a:r>
            <a:r>
              <a:rPr lang="en-US" sz="2400" b="1" i="1" dirty="0">
                <a:latin typeface="Times New Roman" panose="02020603050405020304" pitchFamily="18" charset="0"/>
                <a:cs typeface="Times New Roman" panose="02020603050405020304" pitchFamily="18" charset="0"/>
              </a:rPr>
              <a:t>and/</a:t>
            </a:r>
            <a:r>
              <a:rPr lang="en-US" sz="2400" b="1" i="1" u="none" strike="noStrike" baseline="0" dirty="0">
                <a:latin typeface="Times New Roman" panose="02020603050405020304" pitchFamily="18" charset="0"/>
                <a:cs typeface="Times New Roman" panose="02020603050405020304" pitchFamily="18" charset="0"/>
              </a:rPr>
              <a:t>or OIG agents</a:t>
            </a:r>
          </a:p>
          <a:p>
            <a:pPr algn="l">
              <a:buClr>
                <a:srgbClr val="3399FF"/>
              </a:buClr>
            </a:pPr>
            <a:endParaRPr lang="en-US" sz="2000" b="1" i="1" dirty="0">
              <a:latin typeface="Times New Roman" panose="02020603050405020304" pitchFamily="18" charset="0"/>
              <a:cs typeface="Times New Roman" panose="02020603050405020304" pitchFamily="18" charset="0"/>
            </a:endParaRPr>
          </a:p>
          <a:p>
            <a:pPr algn="l">
              <a:buClr>
                <a:srgbClr val="3399FF"/>
              </a:buClr>
            </a:pPr>
            <a:r>
              <a:rPr lang="en-US" sz="2400" b="1" u="none" strike="noStrike" baseline="0" dirty="0">
                <a:latin typeface="Times New Roman" panose="02020603050405020304" pitchFamily="18" charset="0"/>
                <a:cs typeface="Times New Roman" panose="02020603050405020304" pitchFamily="18" charset="0"/>
              </a:rPr>
              <a:t>NOTE: See</a:t>
            </a:r>
            <a:r>
              <a:rPr lang="en-US" sz="2400" b="1" dirty="0">
                <a:latin typeface="Times New Roman" panose="02020603050405020304" pitchFamily="18" charset="0"/>
                <a:cs typeface="Times New Roman" panose="02020603050405020304" pitchFamily="18" charset="0"/>
              </a:rPr>
              <a:t> JCIM, Article 17.3, STEWARD RIGHTS.</a:t>
            </a:r>
          </a:p>
        </p:txBody>
      </p:sp>
    </p:spTree>
    <p:extLst>
      <p:ext uri="{BB962C8B-B14F-4D97-AF65-F5344CB8AC3E}">
        <p14:creationId xmlns:p14="http://schemas.microsoft.com/office/powerpoint/2010/main" val="28687693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8F9AD1-82D3-4C1F-9416-83C8FB4302B0}"/>
              </a:ext>
            </a:extLst>
          </p:cNvPr>
          <p:cNvSpPr txBox="1"/>
          <p:nvPr/>
        </p:nvSpPr>
        <p:spPr>
          <a:xfrm>
            <a:off x="762000" y="228600"/>
            <a:ext cx="7543800" cy="6124754"/>
          </a:xfrm>
          <a:prstGeom prst="rect">
            <a:avLst/>
          </a:prstGeom>
          <a:noFill/>
        </p:spPr>
        <p:txBody>
          <a:bodyPr wrap="square">
            <a:spAutoFit/>
          </a:bodyPr>
          <a:lstStyle/>
          <a:p>
            <a:pPr algn="ctr" eaLnBrk="1" hangingPunct="1"/>
            <a:r>
              <a:rPr lang="en-US" sz="2800" b="1" u="sng" dirty="0">
                <a:solidFill>
                  <a:srgbClr val="FF6699"/>
                </a:solidFill>
                <a:latin typeface="Tahoma" charset="0"/>
              </a:rPr>
              <a:t>ROLE OF THE STEWARD DURING INTERROGATION BY OIG AND/OR </a:t>
            </a:r>
          </a:p>
          <a:p>
            <a:pPr algn="ctr" eaLnBrk="1" hangingPunct="1"/>
            <a:r>
              <a:rPr lang="en-US" sz="2800" b="1" u="sng" dirty="0">
                <a:solidFill>
                  <a:srgbClr val="FF6699"/>
                </a:solidFill>
                <a:latin typeface="Tahoma" charset="0"/>
              </a:rPr>
              <a:t>POSTAL INSPECTION SERVICE CONT’D</a:t>
            </a:r>
          </a:p>
          <a:p>
            <a:pPr algn="l"/>
            <a:endParaRPr lang="en-US" sz="2000" b="1" dirty="0">
              <a:latin typeface="Times New Roman" panose="02020603050405020304" pitchFamily="18" charset="0"/>
            </a:endParaRPr>
          </a:p>
          <a:p>
            <a:pPr algn="l">
              <a:lnSpc>
                <a:spcPct val="90000"/>
              </a:lnSpc>
              <a:buClr>
                <a:srgbClr val="3399FF"/>
              </a:buClr>
            </a:pPr>
            <a:r>
              <a:rPr lang="en-US" sz="2400" b="1" dirty="0">
                <a:latin typeface="Times New Roman" panose="02020603050405020304" pitchFamily="18" charset="0"/>
              </a:rPr>
              <a:t>The Steward Should:</a:t>
            </a:r>
          </a:p>
          <a:p>
            <a:pPr algn="l">
              <a:lnSpc>
                <a:spcPct val="90000"/>
              </a:lnSpc>
              <a:buClr>
                <a:srgbClr val="3399FF"/>
              </a:buClr>
            </a:pPr>
            <a:endParaRPr lang="en-US" sz="2000" b="1" dirty="0">
              <a:latin typeface="Times New Roman" panose="02020603050405020304" pitchFamily="18" charset="0"/>
            </a:endParaRPr>
          </a:p>
          <a:p>
            <a:pPr marL="457200" indent="-457200" algn="l">
              <a:lnSpc>
                <a:spcPct val="9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Interview the employee prior to the interrogation to gather the facts.</a:t>
            </a:r>
          </a:p>
          <a:p>
            <a:pPr marL="457200" indent="-457200" algn="l">
              <a:lnSpc>
                <a:spcPct val="90000"/>
              </a:lnSpc>
              <a:buClr>
                <a:srgbClr val="3399FF"/>
              </a:buClr>
              <a:buFont typeface="Wingdings" panose="05000000000000000000" pitchFamily="2" charset="2"/>
              <a:buChar char="Ø"/>
            </a:pPr>
            <a:endParaRPr lang="en-US" sz="2000" b="1" dirty="0">
              <a:latin typeface="Times New Roman" panose="02020603050405020304" pitchFamily="18" charset="0"/>
            </a:endParaRPr>
          </a:p>
          <a:p>
            <a:pPr marL="457200" indent="-457200">
              <a:lnSpc>
                <a:spcPct val="9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Take detailed notes when questioning the employee during the interrogation,</a:t>
            </a:r>
          </a:p>
          <a:p>
            <a:pPr marL="457200" indent="-457200" algn="l">
              <a:lnSpc>
                <a:spcPct val="90000"/>
              </a:lnSpc>
              <a:buClr>
                <a:srgbClr val="3399FF"/>
              </a:buClr>
              <a:buFont typeface="Wingdings" panose="05000000000000000000" pitchFamily="2" charset="2"/>
              <a:buChar char="Ø"/>
            </a:pPr>
            <a:endParaRPr lang="en-US" sz="2000" b="1" i="0" u="none" strike="noStrike" baseline="0" dirty="0">
              <a:latin typeface="Times New Roman" panose="02020603050405020304" pitchFamily="18" charset="0"/>
            </a:endParaRPr>
          </a:p>
          <a:p>
            <a:pPr marL="457200" indent="-457200" algn="l">
              <a:lnSpc>
                <a:spcPct val="9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Never allow either the Postal Inspection Service or an agent of the OIG to limit their participation to that of a passive observer.</a:t>
            </a:r>
          </a:p>
          <a:p>
            <a:pPr marL="457200" indent="-457200" algn="l">
              <a:lnSpc>
                <a:spcPct val="90000"/>
              </a:lnSpc>
              <a:buClr>
                <a:srgbClr val="3399FF"/>
              </a:buClr>
              <a:buFont typeface="Wingdings" panose="05000000000000000000" pitchFamily="2" charset="2"/>
              <a:buChar char="Ø"/>
            </a:pPr>
            <a:endParaRPr lang="en-US" sz="2000" b="1" i="0" u="none" strike="noStrike" baseline="0" dirty="0">
              <a:latin typeface="Times New Roman" panose="02020603050405020304" pitchFamily="18" charset="0"/>
            </a:endParaRPr>
          </a:p>
          <a:p>
            <a:pPr marL="457200" indent="-457200" algn="l">
              <a:lnSpc>
                <a:spcPct val="90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Assist the employee in articulating an explanation to the questions asked.</a:t>
            </a:r>
          </a:p>
        </p:txBody>
      </p:sp>
    </p:spTree>
    <p:extLst>
      <p:ext uri="{BB962C8B-B14F-4D97-AF65-F5344CB8AC3E}">
        <p14:creationId xmlns:p14="http://schemas.microsoft.com/office/powerpoint/2010/main" val="30229454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9BD622-98D4-40F8-B168-B1F31CF90C00}"/>
              </a:ext>
            </a:extLst>
          </p:cNvPr>
          <p:cNvSpPr txBox="1"/>
          <p:nvPr/>
        </p:nvSpPr>
        <p:spPr>
          <a:xfrm>
            <a:off x="381000" y="304800"/>
            <a:ext cx="7924800" cy="6401753"/>
          </a:xfrm>
          <a:prstGeom prst="rect">
            <a:avLst/>
          </a:prstGeom>
          <a:noFill/>
        </p:spPr>
        <p:txBody>
          <a:bodyPr wrap="square">
            <a:spAutoFit/>
          </a:bodyPr>
          <a:lstStyle/>
          <a:p>
            <a:pPr algn="ctr" eaLnBrk="1" hangingPunct="1"/>
            <a:r>
              <a:rPr lang="en-US" sz="2800" b="1" u="sng" dirty="0">
                <a:solidFill>
                  <a:srgbClr val="FF6699"/>
                </a:solidFill>
                <a:latin typeface="Tahoma" charset="0"/>
              </a:rPr>
              <a:t>ROLE OF THE STEWARD DURING INTERROGATION BY OIG AND/OR </a:t>
            </a:r>
          </a:p>
          <a:p>
            <a:pPr algn="ctr" eaLnBrk="1" hangingPunct="1"/>
            <a:r>
              <a:rPr lang="en-US" sz="2800" b="1" u="sng" dirty="0">
                <a:solidFill>
                  <a:srgbClr val="FF6699"/>
                </a:solidFill>
                <a:latin typeface="Tahoma" charset="0"/>
              </a:rPr>
              <a:t>POSTAL INSPECTION SERVICE CONT’D </a:t>
            </a:r>
          </a:p>
          <a:p>
            <a:pPr marL="457200" indent="-457200" algn="l">
              <a:buClr>
                <a:srgbClr val="3399FF"/>
              </a:buClr>
              <a:buFont typeface="Wingdings" panose="05000000000000000000" pitchFamily="2" charset="2"/>
              <a:buChar char="Ø"/>
            </a:pPr>
            <a:endParaRPr lang="en-US" sz="2000" b="1" i="0" u="none" strike="noStrike" baseline="0" dirty="0">
              <a:latin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Ask the OIG agents or Inspectors whether the employee is under arrest, and/or is the subject of a criminal investigation, and/or is a suspect in a crime. </a:t>
            </a:r>
          </a:p>
          <a:p>
            <a:pPr marL="457200" indent="-457200" algn="l">
              <a:buClr>
                <a:srgbClr val="3399FF"/>
              </a:buClr>
              <a:buFont typeface="Wingdings" panose="05000000000000000000" pitchFamily="2" charset="2"/>
              <a:buChar char="Ø"/>
            </a:pPr>
            <a:endParaRPr lang="en-US" sz="2000" b="1" dirty="0">
              <a:latin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If the answer is “Yes,” request a recess to confer with the employee and advise him/her to stop answering questions and to consult with an attorney.</a:t>
            </a:r>
          </a:p>
          <a:p>
            <a:pPr marL="457200" indent="-457200" algn="l">
              <a:buClr>
                <a:srgbClr val="3399FF"/>
              </a:buClr>
              <a:buFont typeface="Wingdings" panose="05000000000000000000" pitchFamily="2" charset="2"/>
              <a:buChar char="Ø"/>
            </a:pPr>
            <a:endParaRPr lang="en-US" sz="2000" b="1" dirty="0">
              <a:latin typeface="Times New Roman" panose="02020603050405020304" pitchFamily="18" charset="0"/>
            </a:endParaRPr>
          </a:p>
          <a:p>
            <a:pPr marL="457200" indent="-457200" algn="l">
              <a:buClr>
                <a:srgbClr val="3399FF"/>
              </a:buClr>
              <a:buFont typeface="Wingdings" panose="05000000000000000000" pitchFamily="2" charset="2"/>
              <a:buChar char="Ø"/>
            </a:pPr>
            <a:r>
              <a:rPr lang="en-US" sz="2400" b="1" i="0" u="none" strike="noStrike" baseline="0" dirty="0">
                <a:latin typeface="Times New Roman" panose="02020603050405020304" pitchFamily="18" charset="0"/>
              </a:rPr>
              <a:t>Careful attention should be directed to all the evidence gathered and to all procedural errors listed in the notices of disciplinary action. This includes, conflicting dates, times, and/or witness statements.</a:t>
            </a:r>
          </a:p>
          <a:p>
            <a:pPr marL="457200" indent="-457200" algn="l">
              <a:buClr>
                <a:srgbClr val="3399FF"/>
              </a:buClr>
              <a:buFont typeface="Wingdings" panose="05000000000000000000" pitchFamily="2" charset="2"/>
              <a:buChar char="Ø"/>
            </a:pPr>
            <a:endParaRPr lang="en-US" sz="18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8662326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1B9470-8A96-4FFA-9D43-FCF66878050D}"/>
              </a:ext>
            </a:extLst>
          </p:cNvPr>
          <p:cNvSpPr txBox="1"/>
          <p:nvPr/>
        </p:nvSpPr>
        <p:spPr>
          <a:xfrm>
            <a:off x="685800" y="228600"/>
            <a:ext cx="7924800" cy="6617196"/>
          </a:xfrm>
          <a:prstGeom prst="rect">
            <a:avLst/>
          </a:prstGeom>
          <a:noFill/>
        </p:spPr>
        <p:txBody>
          <a:bodyPr wrap="square">
            <a:spAutoFit/>
          </a:bodyPr>
          <a:lstStyle/>
          <a:p>
            <a:pPr algn="ctr" eaLnBrk="1" hangingPunct="1"/>
            <a:endParaRPr lang="en-US" sz="800" b="1" u="sng" dirty="0">
              <a:solidFill>
                <a:srgbClr val="FF6699"/>
              </a:solidFill>
              <a:latin typeface="Tahoma" charset="0"/>
            </a:endParaRPr>
          </a:p>
          <a:p>
            <a:pPr algn="ctr" eaLnBrk="1" hangingPunct="1"/>
            <a:r>
              <a:rPr lang="en-US" sz="3000" b="1" u="sng" dirty="0">
                <a:solidFill>
                  <a:srgbClr val="FF6699"/>
                </a:solidFill>
                <a:latin typeface="Tahoma" charset="0"/>
              </a:rPr>
              <a:t>WHEN ASKED QUESTIIONS ABOUT YOUR INTERVIEW WITH THE GRIEVANT</a:t>
            </a:r>
          </a:p>
          <a:p>
            <a:pPr algn="l"/>
            <a:endParaRPr lang="en-US" sz="2000" b="0" i="0" u="none" strike="noStrike" baseline="0" dirty="0">
              <a:latin typeface="Times New Roman" panose="02020603050405020304" pitchFamily="18" charset="0"/>
            </a:endParaRPr>
          </a:p>
          <a:p>
            <a:pPr algn="l">
              <a:buClr>
                <a:srgbClr val="3399FF"/>
              </a:buClr>
            </a:pPr>
            <a:r>
              <a:rPr lang="en-US" sz="2300" b="1" dirty="0">
                <a:latin typeface="Times New Roman" panose="02020603050405020304" pitchFamily="18" charset="0"/>
                <a:cs typeface="Times New Roman" panose="02020603050405020304" pitchFamily="18" charset="0"/>
              </a:rPr>
              <a:t>S</a:t>
            </a:r>
            <a:r>
              <a:rPr lang="en-US" sz="2300" b="1" i="0" u="none" strike="noStrike" baseline="0" dirty="0">
                <a:latin typeface="Times New Roman" panose="02020603050405020304" pitchFamily="18" charset="0"/>
                <a:cs typeface="Times New Roman" panose="02020603050405020304" pitchFamily="18" charset="0"/>
              </a:rPr>
              <a:t>tewards or Union representatives </a:t>
            </a:r>
            <a:r>
              <a:rPr lang="en-US" sz="2300" b="1" i="0" u="sng" strike="noStrike" baseline="0" dirty="0">
                <a:latin typeface="Times New Roman" panose="02020603050405020304" pitchFamily="18" charset="0"/>
                <a:cs typeface="Times New Roman" panose="02020603050405020304" pitchFamily="18" charset="0"/>
              </a:rPr>
              <a:t>MAY NOT </a:t>
            </a:r>
            <a:r>
              <a:rPr lang="en-US" sz="2300" b="1" i="0" u="none" strike="noStrike" baseline="0" dirty="0">
                <a:latin typeface="Times New Roman" panose="02020603050405020304" pitchFamily="18" charset="0"/>
                <a:cs typeface="Times New Roman" panose="02020603050405020304" pitchFamily="18" charset="0"/>
              </a:rPr>
              <a:t>lawfully be asked by the USPS to give testimony against individuals based upon information obtained in the performance of their duties as stewards.</a:t>
            </a:r>
          </a:p>
          <a:p>
            <a:pPr marL="457200" indent="-457200" algn="l">
              <a:buClr>
                <a:srgbClr val="3399FF"/>
              </a:buClr>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lgn="l">
              <a:buClr>
                <a:srgbClr val="3399FF"/>
              </a:buClr>
              <a:buFont typeface="Wingdings" panose="05000000000000000000" pitchFamily="2" charset="2"/>
              <a:buChar char="Ø"/>
            </a:pPr>
            <a:r>
              <a:rPr lang="en-US" sz="2300" b="1" i="0" u="none" strike="noStrike" baseline="0" dirty="0">
                <a:latin typeface="Times New Roman" panose="02020603050405020304" pitchFamily="18" charset="0"/>
                <a:cs typeface="Times New Roman" panose="02020603050405020304" pitchFamily="18" charset="0"/>
              </a:rPr>
              <a:t>This law also applies to the OIG and Postal Inspection Service, when attempting to question stewards or Union representatives about the grievant and/or information obtained.</a:t>
            </a:r>
          </a:p>
          <a:p>
            <a:pPr marL="457200" indent="-457200" algn="l">
              <a:buClr>
                <a:srgbClr val="3399FF"/>
              </a:buClr>
            </a:pPr>
            <a:endParaRPr lang="en-US" sz="2000" b="1" dirty="0">
              <a:latin typeface="Times New Roman" panose="02020603050405020304" pitchFamily="18" charset="0"/>
              <a:cs typeface="Times New Roman" panose="02020603050405020304" pitchFamily="18" charset="0"/>
            </a:endParaRPr>
          </a:p>
          <a:p>
            <a:pPr marL="457200" indent="-457200">
              <a:buClr>
                <a:srgbClr val="3399FF"/>
              </a:buClr>
              <a:buFont typeface="Wingdings" panose="05000000000000000000" pitchFamily="2" charset="2"/>
              <a:buChar char="Ø"/>
            </a:pPr>
            <a:r>
              <a:rPr lang="en-US" sz="2300" b="1" dirty="0">
                <a:latin typeface="Times New Roman" panose="02020603050405020304" pitchFamily="18" charset="0"/>
              </a:rPr>
              <a:t>This law </a:t>
            </a:r>
            <a:r>
              <a:rPr lang="en-US" sz="2300" b="1" u="sng" dirty="0">
                <a:latin typeface="Times New Roman" panose="02020603050405020304" pitchFamily="18" charset="0"/>
              </a:rPr>
              <a:t>DOES NOT</a:t>
            </a:r>
            <a:r>
              <a:rPr lang="en-US" sz="2300" b="1" dirty="0">
                <a:latin typeface="Times New Roman" panose="02020603050405020304" pitchFamily="18" charset="0"/>
              </a:rPr>
              <a:t> apply if the steward or Union representative is </a:t>
            </a:r>
            <a:r>
              <a:rPr lang="en-US" sz="2300" b="1" u="sng" dirty="0">
                <a:latin typeface="Times New Roman" panose="02020603050405020304" pitchFamily="18" charset="0"/>
              </a:rPr>
              <a:t>asked to testify in court</a:t>
            </a:r>
            <a:r>
              <a:rPr lang="en-US" sz="2300" b="1" dirty="0">
                <a:latin typeface="Times New Roman" panose="02020603050405020304" pitchFamily="18" charset="0"/>
              </a:rPr>
              <a:t>.</a:t>
            </a:r>
            <a:endParaRPr lang="en-US" sz="2300" b="1" i="0" u="none" strike="noStrike" baseline="0" dirty="0">
              <a:latin typeface="Times New Roman" panose="02020603050405020304" pitchFamily="18" charset="0"/>
            </a:endParaRPr>
          </a:p>
          <a:p>
            <a:pPr marL="457200" indent="-457200" algn="l">
              <a:buClr>
                <a:srgbClr val="3399FF"/>
              </a:buClr>
            </a:pPr>
            <a:endParaRPr lang="en-US" sz="2000" b="1" i="0" u="none" strike="noStrike" baseline="0" dirty="0">
              <a:latin typeface="Times New Roman" panose="02020603050405020304" pitchFamily="18" charset="0"/>
              <a:cs typeface="Times New Roman" panose="02020603050405020304" pitchFamily="18" charset="0"/>
            </a:endParaRPr>
          </a:p>
          <a:p>
            <a:pPr algn="l">
              <a:buClr>
                <a:srgbClr val="3399FF"/>
              </a:buClr>
            </a:pPr>
            <a:r>
              <a:rPr lang="en-US" sz="2300" b="1" i="0" u="none" strike="noStrike" baseline="0" dirty="0">
                <a:latin typeface="Times New Roman" panose="02020603050405020304" pitchFamily="18" charset="0"/>
                <a:cs typeface="Times New Roman" panose="02020603050405020304" pitchFamily="18" charset="0"/>
              </a:rPr>
              <a:t>NOTE: (See National Labor Relations Board, Cook Paint &amp; Varnish Co., 258 NLRB 1230 (1981).</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2241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1B9470-8A96-4FFA-9D43-FCF66878050D}"/>
              </a:ext>
            </a:extLst>
          </p:cNvPr>
          <p:cNvSpPr txBox="1"/>
          <p:nvPr/>
        </p:nvSpPr>
        <p:spPr>
          <a:xfrm>
            <a:off x="457200" y="6096"/>
            <a:ext cx="8077200" cy="7016151"/>
          </a:xfrm>
          <a:prstGeom prst="rect">
            <a:avLst/>
          </a:prstGeom>
          <a:noFill/>
        </p:spPr>
        <p:txBody>
          <a:bodyPr wrap="square">
            <a:spAutoFit/>
          </a:bodyPr>
          <a:lstStyle/>
          <a:p>
            <a:pPr algn="ctr" eaLnBrk="1" hangingPunct="1"/>
            <a:endParaRPr lang="en-US" sz="800" b="1" u="sng" dirty="0">
              <a:solidFill>
                <a:srgbClr val="FF6699"/>
              </a:solidFill>
              <a:latin typeface="Tahoma" charset="0"/>
            </a:endParaRPr>
          </a:p>
          <a:p>
            <a:pPr algn="ctr" eaLnBrk="1" hangingPunct="1"/>
            <a:r>
              <a:rPr lang="en-US" sz="3000" b="1" u="sng" dirty="0">
                <a:solidFill>
                  <a:srgbClr val="FF6699"/>
                </a:solidFill>
                <a:latin typeface="Tahoma" charset="0"/>
              </a:rPr>
              <a:t>WHEN ASKED QUESTIIONS ABOUT YOUR INTERVIEW WITH THE GRIEVANT </a:t>
            </a:r>
            <a:r>
              <a:rPr lang="en-US" sz="2800" b="1" u="sng" dirty="0">
                <a:solidFill>
                  <a:srgbClr val="FF6699"/>
                </a:solidFill>
                <a:latin typeface="Tahoma" charset="0"/>
              </a:rPr>
              <a:t>CONT’D</a:t>
            </a:r>
            <a:endParaRPr lang="en-US" sz="3000" b="1" u="sng" dirty="0">
              <a:solidFill>
                <a:srgbClr val="FF6699"/>
              </a:solidFill>
              <a:latin typeface="Tahoma" charset="0"/>
            </a:endParaRPr>
          </a:p>
          <a:p>
            <a:pPr algn="l"/>
            <a:endParaRPr lang="en-US" sz="2000" b="0" i="0" u="none" strike="noStrike" baseline="0" dirty="0">
              <a:latin typeface="Times New Roman" panose="02020603050405020304" pitchFamily="18" charset="0"/>
            </a:endParaRPr>
          </a:p>
          <a:p>
            <a:pPr marL="457200" indent="-457200" algn="l">
              <a:lnSpc>
                <a:spcPct val="95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When interviewing the grievant and if he/she admits to committing a crime, such as stealing money, </a:t>
            </a:r>
            <a:r>
              <a:rPr lang="en-US" sz="2400" b="1" i="0" u="sng" strike="noStrike" baseline="0" dirty="0">
                <a:latin typeface="Times New Roman" panose="02020603050405020304" pitchFamily="18" charset="0"/>
                <a:cs typeface="Times New Roman" panose="02020603050405020304" pitchFamily="18" charset="0"/>
              </a:rPr>
              <a:t>IMMEDIATELY STOP the interview and advise the grievant to consult with an attorney</a:t>
            </a:r>
            <a:r>
              <a:rPr lang="en-US" sz="2400" b="1" i="0" u="none" strike="noStrike" baseline="0" dirty="0">
                <a:latin typeface="Times New Roman" panose="02020603050405020304" pitchFamily="18" charset="0"/>
                <a:cs typeface="Times New Roman" panose="02020603050405020304" pitchFamily="18" charset="0"/>
              </a:rPr>
              <a:t>.</a:t>
            </a:r>
          </a:p>
          <a:p>
            <a:pPr marL="457200" indent="-457200" algn="l">
              <a:lnSpc>
                <a:spcPct val="95000"/>
              </a:lnSpc>
            </a:pPr>
            <a:endParaRPr lang="en-US" sz="2000" b="1" dirty="0">
              <a:latin typeface="Times New Roman" panose="02020603050405020304" pitchFamily="18" charset="0"/>
              <a:cs typeface="Times New Roman" panose="02020603050405020304" pitchFamily="18" charset="0"/>
            </a:endParaRPr>
          </a:p>
          <a:p>
            <a:pPr marL="457200" indent="-457200" algn="l">
              <a:lnSpc>
                <a:spcPct val="95000"/>
              </a:lnSpc>
              <a:buClr>
                <a:srgbClr val="3399FF"/>
              </a:buClr>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If asked to testify or questioned about their interview with the grievant, the steward </a:t>
            </a:r>
            <a:r>
              <a:rPr lang="en-US" sz="2350" b="1" i="0" u="none" strike="noStrike" baseline="0" dirty="0">
                <a:latin typeface="Times New Roman" panose="02020603050405020304" pitchFamily="18" charset="0"/>
                <a:cs typeface="Times New Roman" panose="02020603050405020304" pitchFamily="18" charset="0"/>
              </a:rPr>
              <a:t>or Union representative should send this sample letter. </a:t>
            </a:r>
          </a:p>
          <a:p>
            <a:pPr algn="ctr">
              <a:lnSpc>
                <a:spcPct val="95000"/>
              </a:lnSpc>
              <a:buClr>
                <a:srgbClr val="3399FF"/>
              </a:buClr>
            </a:pPr>
            <a:endParaRPr lang="en-US" sz="20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endParaRPr>
          </a:p>
          <a:p>
            <a:pPr algn="ctr">
              <a:lnSpc>
                <a:spcPct val="95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STEWARDS RIGHT TO REFUSE </a:t>
            </a:r>
          </a:p>
          <a:p>
            <a:pPr algn="ctr">
              <a:lnSpc>
                <a:spcPct val="95000"/>
              </a:lnSpc>
              <a:buClr>
                <a:srgbClr val="3399FF"/>
              </a:buClr>
            </a:pPr>
            <a:r>
              <a:rPr lang="en-US" sz="24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TO DISCLOSE INFORMATION.pdf</a:t>
            </a:r>
            <a:endParaRPr lang="en-US" sz="2400" b="1" dirty="0">
              <a:solidFill>
                <a:srgbClr val="0033CC"/>
              </a:solidFill>
              <a:latin typeface="Times New Roman" panose="02020603050405020304" pitchFamily="18" charset="0"/>
              <a:cs typeface="Times New Roman" panose="02020603050405020304" pitchFamily="18" charset="0"/>
            </a:endParaRPr>
          </a:p>
          <a:p>
            <a:pPr algn="ctr">
              <a:lnSpc>
                <a:spcPct val="95000"/>
              </a:lnSpc>
              <a:buClr>
                <a:srgbClr val="3399FF"/>
              </a:buClr>
            </a:pPr>
            <a:endParaRPr lang="en-US" sz="2000" b="1" dirty="0">
              <a:solidFill>
                <a:srgbClr val="0033CC"/>
              </a:solidFill>
              <a:latin typeface="Times New Roman" panose="02020603050405020304" pitchFamily="18" charset="0"/>
              <a:cs typeface="Times New Roman" panose="02020603050405020304" pitchFamily="18" charset="0"/>
            </a:endParaRPr>
          </a:p>
          <a:p>
            <a:pPr>
              <a:lnSpc>
                <a:spcPct val="95000"/>
              </a:lnSpc>
              <a:buClr>
                <a:srgbClr val="3399FF"/>
              </a:buClr>
            </a:pPr>
            <a:r>
              <a:rPr lang="en-US" sz="2400" b="1" dirty="0">
                <a:latin typeface="Times New Roman" panose="02020603050405020304" pitchFamily="18" charset="0"/>
                <a:cs typeface="Times New Roman" panose="02020603050405020304" pitchFamily="18" charset="0"/>
              </a:rPr>
              <a:t>NOTE: The steward or Union representative should continue with the filing of the grievance.</a:t>
            </a:r>
          </a:p>
          <a:p>
            <a:pPr>
              <a:lnSpc>
                <a:spcPct val="95000"/>
              </a:lnSpc>
              <a:buClr>
                <a:srgbClr val="3399FF"/>
              </a:buClr>
            </a:pPr>
            <a:endParaRPr lang="en-US" sz="24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7181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1" name="Rectangle 3"/>
          <p:cNvSpPr>
            <a:spLocks noGrp="1" noRot="1" noChangeArrowheads="1"/>
          </p:cNvSpPr>
          <p:nvPr>
            <p:ph idx="1"/>
          </p:nvPr>
        </p:nvSpPr>
        <p:spPr>
          <a:xfrm>
            <a:off x="685800" y="1600200"/>
            <a:ext cx="7924800" cy="4530725"/>
          </a:xfrm>
        </p:spPr>
        <p:txBody>
          <a:bodyPr>
            <a:normAutofit/>
          </a:bodyPr>
          <a:lstStyle/>
          <a:p>
            <a:pPr marL="0" indent="0" algn="ctr" eaLnBrk="1" hangingPunct="1">
              <a:lnSpc>
                <a:spcPct val="90000"/>
              </a:lnSpc>
              <a:buNone/>
              <a:defRPr/>
            </a:pPr>
            <a:r>
              <a:rPr lang="en-US" sz="6600" b="1" dirty="0">
                <a:solidFill>
                  <a:srgbClr val="FF6699"/>
                </a:solidFill>
                <a:latin typeface="Tahoma" charset="0"/>
              </a:rPr>
              <a:t>Proper Documentation</a:t>
            </a:r>
          </a:p>
          <a:p>
            <a:pPr marL="0" indent="0" algn="ctr" eaLnBrk="1" hangingPunct="1">
              <a:lnSpc>
                <a:spcPct val="90000"/>
              </a:lnSpc>
              <a:buNone/>
              <a:defRPr/>
            </a:pPr>
            <a:r>
              <a:rPr lang="en-US" sz="6600" b="1" dirty="0">
                <a:solidFill>
                  <a:srgbClr val="FF6699"/>
                </a:solidFill>
                <a:latin typeface="Tahoma" charset="0"/>
              </a:rPr>
              <a:t>Needed for the Grievance File</a:t>
            </a:r>
          </a:p>
          <a:p>
            <a:pPr marL="0" indent="0" algn="just" eaLnBrk="1" hangingPunct="1">
              <a:lnSpc>
                <a:spcPct val="90000"/>
              </a:lnSpc>
              <a:buNone/>
              <a:defRPr/>
            </a:pPr>
            <a:endParaRPr lang="en-US" sz="2400" dirty="0"/>
          </a:p>
        </p:txBody>
      </p:sp>
    </p:spTree>
    <p:extLst>
      <p:ext uri="{BB962C8B-B14F-4D97-AF65-F5344CB8AC3E}">
        <p14:creationId xmlns:p14="http://schemas.microsoft.com/office/powerpoint/2010/main" val="35977164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BD52-08AE-4E0F-8FC0-10B7790903F3}"/>
              </a:ext>
            </a:extLst>
          </p:cNvPr>
          <p:cNvSpPr>
            <a:spLocks noGrp="1"/>
          </p:cNvSpPr>
          <p:nvPr>
            <p:ph type="title"/>
          </p:nvPr>
        </p:nvSpPr>
        <p:spPr>
          <a:xfrm>
            <a:off x="609599" y="228600"/>
            <a:ext cx="7543801" cy="1066800"/>
          </a:xfrm>
        </p:spPr>
        <p:txBody>
          <a:bodyPr>
            <a:noAutofit/>
          </a:bodyPr>
          <a:lstStyle/>
          <a:p>
            <a:pPr algn="ctr"/>
            <a:r>
              <a:rPr lang="en-US" sz="3200" b="1" u="sng" dirty="0">
                <a:solidFill>
                  <a:srgbClr val="FF6699"/>
                </a:solidFill>
                <a:latin typeface="Tahoma" charset="0"/>
              </a:rPr>
              <a:t>DOCUMENTATION NEEDED </a:t>
            </a:r>
            <a:br>
              <a:rPr lang="en-US" sz="3200" b="1" u="sng" dirty="0">
                <a:solidFill>
                  <a:srgbClr val="FF6699"/>
                </a:solidFill>
                <a:latin typeface="Tahoma" charset="0"/>
              </a:rPr>
            </a:br>
            <a:r>
              <a:rPr lang="en-US" sz="3200" b="1" u="sng" dirty="0">
                <a:solidFill>
                  <a:srgbClr val="FF6699"/>
                </a:solidFill>
                <a:latin typeface="Tahoma" charset="0"/>
              </a:rPr>
              <a:t>FOR GRIEVANCES</a:t>
            </a:r>
            <a:endParaRPr lang="en-US" sz="3200" u="sng" dirty="0"/>
          </a:p>
        </p:txBody>
      </p:sp>
      <p:sp>
        <p:nvSpPr>
          <p:cNvPr id="3" name="Content Placeholder 2">
            <a:extLst>
              <a:ext uri="{FF2B5EF4-FFF2-40B4-BE49-F238E27FC236}">
                <a16:creationId xmlns:a16="http://schemas.microsoft.com/office/drawing/2014/main" id="{90B52F59-17F2-41A2-B78E-9D77A1E25479}"/>
              </a:ext>
            </a:extLst>
          </p:cNvPr>
          <p:cNvSpPr>
            <a:spLocks noGrp="1"/>
          </p:cNvSpPr>
          <p:nvPr>
            <p:ph idx="1"/>
          </p:nvPr>
        </p:nvSpPr>
        <p:spPr>
          <a:xfrm>
            <a:off x="609598" y="1447800"/>
            <a:ext cx="8001002" cy="5181600"/>
          </a:xfrm>
        </p:spPr>
        <p:txBody>
          <a:bodyPr>
            <a:normAutofit/>
          </a:bodyPr>
          <a:lstStyle/>
          <a:p>
            <a:pPr marL="0" indent="0" algn="l">
              <a:spcBef>
                <a:spcPts val="0"/>
              </a:spcBef>
              <a:buNone/>
            </a:pPr>
            <a:r>
              <a:rPr lang="en-US" sz="2400" b="1" i="0" u="none" strike="noStrike" baseline="0" dirty="0">
                <a:latin typeface="Times New Roman" panose="02020603050405020304" pitchFamily="18" charset="0"/>
                <a:cs typeface="Times New Roman" panose="02020603050405020304" pitchFamily="18" charset="0"/>
              </a:rPr>
              <a:t>Basic documentation needed to file grievances:</a:t>
            </a:r>
          </a:p>
          <a:p>
            <a:pPr marL="457200" indent="-457200" algn="l">
              <a:spcBef>
                <a:spcPts val="0"/>
              </a:spcBef>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Steward’s notes from the interview with the supervisor.</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Steward’s notes from the interview with the grievant.</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Notice of the discipline, if discipline was issued.</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The grievant’s statement, </a:t>
            </a:r>
            <a:r>
              <a:rPr lang="en-US" sz="2400" b="1" i="0" u="sng" strike="noStrike" baseline="0" dirty="0">
                <a:latin typeface="Times New Roman" panose="02020603050405020304" pitchFamily="18" charset="0"/>
                <a:cs typeface="Times New Roman" panose="02020603050405020304" pitchFamily="18" charset="0"/>
              </a:rPr>
              <a:t>this is a must</a:t>
            </a:r>
            <a:r>
              <a:rPr lang="en-US" sz="2400" b="1" i="0" u="none" strike="noStrike" baseline="0" dirty="0">
                <a:latin typeface="Times New Roman" panose="02020603050405020304" pitchFamily="18" charset="0"/>
                <a:cs typeface="Times New Roman" panose="02020603050405020304" pitchFamily="18" charset="0"/>
              </a:rPr>
              <a:t>.</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Witness statement(s), if applicable.</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PS Forms 3971 and/or 3972 of grievant, if the grievant is being disciplined due to absentees.</a:t>
            </a:r>
          </a:p>
          <a:p>
            <a:pPr marL="457200" indent="-457200" algn="l">
              <a:spcBef>
                <a:spcPts val="0"/>
              </a:spcBef>
              <a:buFont typeface="Wingdings" panose="05000000000000000000" pitchFamily="2" charset="2"/>
              <a:buChar char="Ø"/>
            </a:pPr>
            <a:endParaRPr lang="en-US"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endParaRPr lang="en-US" sz="24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endParaRPr lang="en-US" sz="1500" b="1" i="0" u="none" strike="noStrike" baseline="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4961093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8AA93-8F05-433F-95C8-F51A88087565}"/>
              </a:ext>
            </a:extLst>
          </p:cNvPr>
          <p:cNvSpPr>
            <a:spLocks noGrp="1"/>
          </p:cNvSpPr>
          <p:nvPr>
            <p:ph type="title"/>
          </p:nvPr>
        </p:nvSpPr>
        <p:spPr>
          <a:xfrm>
            <a:off x="609599" y="152400"/>
            <a:ext cx="7620001" cy="1219200"/>
          </a:xfrm>
        </p:spPr>
        <p:txBody>
          <a:bodyPr>
            <a:normAutofit/>
          </a:bodyPr>
          <a:lstStyle/>
          <a:p>
            <a:pPr algn="ctr"/>
            <a:r>
              <a:rPr lang="en-US" sz="3200" b="1" u="sng" dirty="0">
                <a:solidFill>
                  <a:srgbClr val="FF6699"/>
                </a:solidFill>
                <a:latin typeface="Tahoma" charset="0"/>
              </a:rPr>
              <a:t>DOCUMENTATION NEEDED </a:t>
            </a:r>
            <a:br>
              <a:rPr lang="en-US" sz="3200" b="1" u="sng" dirty="0">
                <a:solidFill>
                  <a:srgbClr val="FF6699"/>
                </a:solidFill>
                <a:latin typeface="Tahoma" charset="0"/>
              </a:rPr>
            </a:br>
            <a:r>
              <a:rPr lang="en-US" sz="3200" b="1" u="sng" dirty="0">
                <a:solidFill>
                  <a:srgbClr val="FF6699"/>
                </a:solidFill>
                <a:latin typeface="Tahoma" charset="0"/>
              </a:rPr>
              <a:t>FOR GRIEVANCES CONT’D</a:t>
            </a:r>
            <a:endParaRPr lang="en-US" sz="3200" u="sng" dirty="0"/>
          </a:p>
        </p:txBody>
      </p:sp>
      <p:sp>
        <p:nvSpPr>
          <p:cNvPr id="3" name="Content Placeholder 2">
            <a:extLst>
              <a:ext uri="{FF2B5EF4-FFF2-40B4-BE49-F238E27FC236}">
                <a16:creationId xmlns:a16="http://schemas.microsoft.com/office/drawing/2014/main" id="{E34EB60F-B9A2-4B97-8EA2-377748C26053}"/>
              </a:ext>
            </a:extLst>
          </p:cNvPr>
          <p:cNvSpPr>
            <a:spLocks noGrp="1"/>
          </p:cNvSpPr>
          <p:nvPr>
            <p:ph idx="1"/>
          </p:nvPr>
        </p:nvSpPr>
        <p:spPr>
          <a:xfrm>
            <a:off x="609598" y="1371600"/>
            <a:ext cx="7696201" cy="5334000"/>
          </a:xfrm>
        </p:spPr>
        <p:txBody>
          <a:bodyPr>
            <a:normAutofit/>
          </a:bodyPr>
          <a:lstStyle/>
          <a:p>
            <a:pPr marL="457200" indent="-457200">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PS Forms 3971 and/or 3972 of other employees, if disparity is claimed.</a:t>
            </a:r>
          </a:p>
          <a:p>
            <a:pPr marL="457200" indent="-457200">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Call-in records for other employees, if disparity is raised as an argument.</a:t>
            </a:r>
          </a:p>
          <a:p>
            <a:pPr marL="457200" indent="-457200">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Confirmation call-in number if Interactive Voice Recognition, (IVR) system was used to report the absence.</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Notes of any interviews conducted by either the Union or Management.</a:t>
            </a:r>
          </a:p>
          <a:p>
            <a:pPr marL="457200" indent="-457200" algn="l">
              <a:spcBef>
                <a:spcPts val="0"/>
              </a:spcBef>
              <a:buFont typeface="Wingdings" panose="05000000000000000000" pitchFamily="2" charset="2"/>
              <a:buChar char="Ø"/>
            </a:pPr>
            <a:endParaRPr lang="en-US" sz="2000" b="1" i="0" u="none" strike="noStrike" baseline="0" dirty="0">
              <a:latin typeface="Times New Roman" panose="02020603050405020304" pitchFamily="18" charset="0"/>
              <a:cs typeface="Times New Roman" panose="02020603050405020304" pitchFamily="18" charset="0"/>
            </a:endParaRPr>
          </a:p>
          <a:p>
            <a:pPr marL="457200" indent="-457200" algn="l">
              <a:spcBef>
                <a:spcPts val="0"/>
              </a:spcBef>
              <a:buFont typeface="Wingdings" panose="05000000000000000000" pitchFamily="2" charset="2"/>
              <a:buChar char="Ø"/>
            </a:pPr>
            <a:r>
              <a:rPr lang="en-US" sz="2400" b="1" i="0" u="none" strike="noStrike" baseline="0" dirty="0">
                <a:latin typeface="Times New Roman" panose="02020603050405020304" pitchFamily="18" charset="0"/>
                <a:cs typeface="Times New Roman" panose="02020603050405020304" pitchFamily="18" charset="0"/>
              </a:rPr>
              <a:t>Steward’s statement of the facts and contentions of the case.</a:t>
            </a:r>
          </a:p>
          <a:p>
            <a:pPr marL="0" indent="0" algn="l">
              <a:lnSpc>
                <a:spcPct val="110000"/>
              </a:lnSpc>
              <a:spcBef>
                <a:spcPts val="0"/>
              </a:spcBef>
              <a:buNone/>
            </a:pPr>
            <a:endParaRPr lang="en-US" sz="2600" b="1" dirty="0">
              <a:latin typeface="Times New Roman" panose="02020603050405020304" pitchFamily="18" charset="0"/>
              <a:cs typeface="Times New Roman" panose="02020603050405020304" pitchFamily="18" charset="0"/>
            </a:endParaRPr>
          </a:p>
          <a:p>
            <a:pPr marL="457200" indent="-457200" algn="l">
              <a:lnSpc>
                <a:spcPct val="110000"/>
              </a:lnSpc>
              <a:spcBef>
                <a:spcPts val="0"/>
              </a:spcBef>
              <a:buFont typeface="Wingdings" panose="05000000000000000000" pitchFamily="2" charset="2"/>
              <a:buChar char="Ø"/>
            </a:pPr>
            <a:endParaRPr lang="en-US" sz="2600" b="1" i="0" u="none" strike="noStrike" baseline="0" dirty="0">
              <a:latin typeface="Times New Roman" panose="02020603050405020304" pitchFamily="18" charset="0"/>
              <a:cs typeface="Times New Roman" panose="02020603050405020304" pitchFamily="18" charset="0"/>
            </a:endParaRPr>
          </a:p>
          <a:p>
            <a:pPr marL="457200" indent="-457200" algn="l">
              <a:lnSpc>
                <a:spcPct val="110000"/>
              </a:lnSpc>
              <a:spcBef>
                <a:spcPts val="0"/>
              </a:spcBef>
              <a:buFont typeface="Wingdings" panose="05000000000000000000" pitchFamily="2" charset="2"/>
              <a:buChar char="Ø"/>
            </a:pPr>
            <a:endParaRPr lang="en-US" sz="2600" b="1" dirty="0">
              <a:latin typeface="Times New Roman" panose="02020603050405020304" pitchFamily="18" charset="0"/>
              <a:cs typeface="Times New Roman" panose="02020603050405020304" pitchFamily="18" charset="0"/>
            </a:endParaRPr>
          </a:p>
          <a:p>
            <a:pPr marL="457200" indent="-457200" algn="l">
              <a:lnSpc>
                <a:spcPct val="110000"/>
              </a:lnSpc>
              <a:spcBef>
                <a:spcPts val="0"/>
              </a:spcBef>
              <a:buFont typeface="Wingdings" panose="05000000000000000000" pitchFamily="2" charset="2"/>
              <a:buChar char="Ø"/>
            </a:pPr>
            <a:endParaRPr lang="en-US" sz="26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728460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B5BF-1DD8-4F86-BBC3-417DE91DB108}"/>
              </a:ext>
            </a:extLst>
          </p:cNvPr>
          <p:cNvSpPr>
            <a:spLocks noGrp="1"/>
          </p:cNvSpPr>
          <p:nvPr>
            <p:ph type="title"/>
          </p:nvPr>
        </p:nvSpPr>
        <p:spPr>
          <a:xfrm>
            <a:off x="609600" y="228600"/>
            <a:ext cx="8001000" cy="838200"/>
          </a:xfrm>
        </p:spPr>
        <p:txBody>
          <a:bodyPr>
            <a:normAutofit/>
          </a:bodyPr>
          <a:lstStyle/>
          <a:p>
            <a:pPr algn="ctr"/>
            <a:r>
              <a:rPr lang="en-US" sz="3200" b="1" u="sng" dirty="0">
                <a:solidFill>
                  <a:srgbClr val="FF6699"/>
                </a:solidFill>
                <a:latin typeface="Tahoma" charset="0"/>
              </a:rPr>
              <a:t>WITNESS STATEMENTS</a:t>
            </a:r>
            <a:endParaRPr lang="en-US" sz="3200" b="1" u="sng"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B0A63355-3C53-4546-8D71-BA1A5CC6F5EF}"/>
              </a:ext>
            </a:extLst>
          </p:cNvPr>
          <p:cNvSpPr>
            <a:spLocks noGrp="1"/>
          </p:cNvSpPr>
          <p:nvPr>
            <p:ph idx="1"/>
          </p:nvPr>
        </p:nvSpPr>
        <p:spPr>
          <a:xfrm>
            <a:off x="762000" y="1066800"/>
            <a:ext cx="7467600" cy="5410200"/>
          </a:xfrm>
        </p:spPr>
        <p:txBody>
          <a:bodyPr>
            <a:normAutofit/>
          </a:bodyPr>
          <a:lstStyle/>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When interviewing witnesses, it’s always best to use the APWU Witness Statement Form. This assures getting the name printed and signed by the witness, along with necessary information to contact the witness for possible appearance in arbitration.</a:t>
            </a:r>
          </a:p>
          <a:p>
            <a:pPr marL="457200" indent="-457200">
              <a:spcBef>
                <a:spcPts val="0"/>
              </a:spcBef>
              <a:buFont typeface="Wingdings" panose="05000000000000000000" pitchFamily="2" charset="2"/>
              <a:buChar char="Ø"/>
              <a:defRPr/>
            </a:pPr>
            <a:endParaRPr lang="en-US"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Knowing the Postal facility and hours of work for the witness helps the arbitration advocate contact the witness on short notice.</a:t>
            </a:r>
          </a:p>
          <a:p>
            <a:pPr marL="457200" indent="-457200">
              <a:spcBef>
                <a:spcPts val="0"/>
              </a:spcBef>
              <a:buFont typeface="Wingdings" panose="05000000000000000000" pitchFamily="2" charset="2"/>
              <a:buChar char="Ø"/>
              <a:defRPr/>
            </a:pPr>
            <a:endParaRPr lang="en-US"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Submit statements </a:t>
            </a:r>
            <a:r>
              <a:rPr lang="en-US" sz="2400" b="1" u="sng" dirty="0">
                <a:latin typeface="Times New Roman" panose="02020603050405020304" pitchFamily="18" charset="0"/>
                <a:cs typeface="Times New Roman" panose="02020603050405020304" pitchFamily="18" charset="0"/>
              </a:rPr>
              <a:t>One Sided</a:t>
            </a:r>
            <a:r>
              <a:rPr lang="en-US" sz="2400" b="1" dirty="0">
                <a:latin typeface="Times New Roman" panose="02020603050405020304" pitchFamily="18" charset="0"/>
                <a:cs typeface="Times New Roman" panose="02020603050405020304" pitchFamily="18" charset="0"/>
              </a:rPr>
              <a:t>, number pages (Page 1 of 5 , Page 2 of 5, Page 3 of 5), etc. </a:t>
            </a:r>
          </a:p>
          <a:p>
            <a:pPr marL="457200" indent="-457200">
              <a:spcBef>
                <a:spcPts val="0"/>
              </a:spcBef>
              <a:buFont typeface="Wingdings" panose="05000000000000000000" pitchFamily="2" charset="2"/>
              <a:buChar char="Ø"/>
              <a:defRPr/>
            </a:pPr>
            <a:endParaRPr lang="en-US" b="1" dirty="0">
              <a:latin typeface="Times New Roman" panose="02020603050405020304" pitchFamily="18" charset="0"/>
              <a:cs typeface="Times New Roman" panose="02020603050405020304" pitchFamily="18" charset="0"/>
            </a:endParaRPr>
          </a:p>
          <a:p>
            <a:pPr marL="0" indent="0" algn="ctr">
              <a:spcBef>
                <a:spcPts val="0"/>
              </a:spcBef>
              <a:buNone/>
              <a:defRPr/>
            </a:pPr>
            <a:r>
              <a:rPr lang="en-US" sz="24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GRIEVANT OR WITNESS STATEMENT FORM.pdf</a:t>
            </a:r>
            <a:endParaRPr lang="en-US" sz="2400" b="1" dirty="0">
              <a:solidFill>
                <a:srgbClr val="0033CC"/>
              </a:solidFill>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endParaRPr lang="en-US" sz="2400" b="1"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0357872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CFD64-EE5E-497D-89E3-F91426DE44BF}"/>
              </a:ext>
            </a:extLst>
          </p:cNvPr>
          <p:cNvSpPr>
            <a:spLocks noGrp="1"/>
          </p:cNvSpPr>
          <p:nvPr>
            <p:ph type="title"/>
          </p:nvPr>
        </p:nvSpPr>
        <p:spPr>
          <a:xfrm>
            <a:off x="609598" y="280416"/>
            <a:ext cx="7772402" cy="990600"/>
          </a:xfrm>
        </p:spPr>
        <p:txBody>
          <a:bodyPr>
            <a:normAutofit fontScale="90000"/>
          </a:bodyPr>
          <a:lstStyle/>
          <a:p>
            <a:pPr algn="ctr"/>
            <a:r>
              <a:rPr lang="en-US" sz="3200" b="1" u="sng" dirty="0">
                <a:solidFill>
                  <a:srgbClr val="FF6699"/>
                </a:solidFill>
                <a:latin typeface="Tahoma" charset="0"/>
              </a:rPr>
              <a:t>HOW TO GET ACCURATE </a:t>
            </a:r>
            <a:br>
              <a:rPr lang="en-US" sz="3200" b="1" u="sng" dirty="0">
                <a:solidFill>
                  <a:srgbClr val="FF6699"/>
                </a:solidFill>
                <a:latin typeface="Tahoma" charset="0"/>
              </a:rPr>
            </a:br>
            <a:r>
              <a:rPr lang="en-US" sz="3200" b="1" u="sng" dirty="0">
                <a:solidFill>
                  <a:srgbClr val="FF6699"/>
                </a:solidFill>
                <a:latin typeface="Tahoma" charset="0"/>
              </a:rPr>
              <a:t>WITNESS STATEMENTS</a:t>
            </a:r>
            <a:endParaRPr lang="en-US" sz="3200" b="1" u="sng"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46F8EB5A-2D78-4472-9FF1-1A9CB27B8BC0}"/>
              </a:ext>
            </a:extLst>
          </p:cNvPr>
          <p:cNvSpPr>
            <a:spLocks noGrp="1"/>
          </p:cNvSpPr>
          <p:nvPr>
            <p:ph idx="1"/>
          </p:nvPr>
        </p:nvSpPr>
        <p:spPr>
          <a:xfrm>
            <a:off x="609598" y="1447800"/>
            <a:ext cx="7772400" cy="5334000"/>
          </a:xfrm>
        </p:spPr>
        <p:txBody>
          <a:bodyPr>
            <a:normAutofit/>
          </a:bodyPr>
          <a:lstStyle/>
          <a:p>
            <a:pPr marL="0" indent="0">
              <a:spcBef>
                <a:spcPts val="0"/>
              </a:spcBef>
              <a:buNone/>
            </a:pPr>
            <a:r>
              <a:rPr lang="en-US" sz="2400" b="1" dirty="0">
                <a:latin typeface="Times New Roman" panose="02020603050405020304" pitchFamily="18" charset="0"/>
                <a:cs typeface="Times New Roman" panose="02020603050405020304" pitchFamily="18" charset="0"/>
              </a:rPr>
              <a:t>When filing the grievance, it is important to get accurate witness statements:</a:t>
            </a:r>
          </a:p>
          <a:p>
            <a:pPr marL="0" indent="0">
              <a:spcBef>
                <a:spcPts val="0"/>
              </a:spcBef>
              <a:buNone/>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Interview the witness first.  </a:t>
            </a:r>
            <a:r>
              <a:rPr lang="en-US" sz="2400" b="1" u="sng" dirty="0">
                <a:latin typeface="Times New Roman" panose="02020603050405020304" pitchFamily="18" charset="0"/>
                <a:cs typeface="Times New Roman" panose="02020603050405020304" pitchFamily="18" charset="0"/>
              </a:rPr>
              <a:t>Don’t coach</a:t>
            </a:r>
            <a:r>
              <a:rPr lang="en-US" sz="2400" b="1" dirty="0">
                <a:latin typeface="Times New Roman" panose="02020603050405020304" pitchFamily="18" charset="0"/>
                <a:cs typeface="Times New Roman" panose="02020603050405020304" pitchFamily="18" charset="0"/>
              </a:rPr>
              <a:t>, but review </a:t>
            </a:r>
          </a:p>
          <a:p>
            <a:pPr marL="0" indent="0">
              <a:spcBef>
                <a:spcPts val="0"/>
              </a:spcBef>
              <a:buNone/>
            </a:pPr>
            <a:r>
              <a:rPr lang="en-US" sz="2400" b="1" dirty="0">
                <a:latin typeface="Times New Roman" panose="02020603050405020304" pitchFamily="18" charset="0"/>
                <a:cs typeface="Times New Roman" panose="02020603050405020304" pitchFamily="18" charset="0"/>
              </a:rPr>
              <a:t>	the statement before accepting it as the final draft.</a:t>
            </a:r>
          </a:p>
          <a:p>
            <a:pPr marL="457200" indent="-457200">
              <a:spcBef>
                <a:spcPts val="0"/>
              </a:spcBef>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Listen and take notes. Remind the witness of what they originally told you and have them include it in the statement.</a:t>
            </a:r>
          </a:p>
          <a:p>
            <a:pPr marL="457200" indent="-457200">
              <a:spcBef>
                <a:spcPts val="0"/>
              </a:spcBef>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Ask the witness to print and sign their name and to include a telephone number where he/she can be reached. </a:t>
            </a:r>
          </a:p>
          <a:p>
            <a:pPr marL="0" indent="0" algn="ctr">
              <a:spcBef>
                <a:spcPts val="0"/>
              </a:spcBef>
              <a:buNone/>
            </a:pPr>
            <a:endParaRPr lang="en-US" sz="1900" b="1" dirty="0">
              <a:solidFill>
                <a:srgbClr val="0033CC"/>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0" indent="0" algn="ctr">
              <a:spcBef>
                <a:spcPts val="0"/>
              </a:spcBef>
              <a:buNone/>
            </a:pPr>
            <a:endParaRPr lang="en-US" sz="2600" b="1" dirty="0">
              <a:solidFill>
                <a:srgbClr val="0033CC"/>
              </a:solidFill>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dirty="0"/>
          </a:p>
        </p:txBody>
      </p:sp>
    </p:spTree>
    <p:extLst>
      <p:ext uri="{BB962C8B-B14F-4D97-AF65-F5344CB8AC3E}">
        <p14:creationId xmlns:p14="http://schemas.microsoft.com/office/powerpoint/2010/main" val="8001353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BA82-9E68-4F6C-89E1-0DDEE75DCEF5}"/>
              </a:ext>
            </a:extLst>
          </p:cNvPr>
          <p:cNvSpPr>
            <a:spLocks noGrp="1"/>
          </p:cNvSpPr>
          <p:nvPr>
            <p:ph type="title"/>
          </p:nvPr>
        </p:nvSpPr>
        <p:spPr>
          <a:xfrm>
            <a:off x="609599" y="152400"/>
            <a:ext cx="7848601" cy="1066800"/>
          </a:xfrm>
        </p:spPr>
        <p:txBody>
          <a:bodyPr>
            <a:normAutofit fontScale="90000"/>
          </a:bodyPr>
          <a:lstStyle/>
          <a:p>
            <a:pPr algn="ctr"/>
            <a:r>
              <a:rPr lang="en-US" sz="3200" b="1" u="sng" dirty="0">
                <a:solidFill>
                  <a:srgbClr val="FF6699"/>
                </a:solidFill>
                <a:latin typeface="Tahoma" charset="0"/>
              </a:rPr>
              <a:t>REQUESTING PROPER REMEDIES</a:t>
            </a:r>
            <a:br>
              <a:rPr lang="en-US" sz="3200" b="1" u="sng" dirty="0">
                <a:solidFill>
                  <a:srgbClr val="FF6699"/>
                </a:solidFill>
                <a:latin typeface="Tahoma" charset="0"/>
              </a:rPr>
            </a:br>
            <a:r>
              <a:rPr lang="en-US" sz="3200" b="1" u="sng" dirty="0">
                <a:solidFill>
                  <a:srgbClr val="FF6699"/>
                </a:solidFill>
                <a:latin typeface="Tahoma" charset="0"/>
              </a:rPr>
              <a:t>AT STEP ONE AND STEP TWO</a:t>
            </a:r>
            <a:br>
              <a:rPr lang="en-US" sz="3200" b="1" u="sng" dirty="0">
                <a:solidFill>
                  <a:srgbClr val="FF6699"/>
                </a:solidFill>
                <a:latin typeface="Tahoma" charset="0"/>
              </a:rPr>
            </a:br>
            <a:endParaRPr lang="en-US" sz="3200" dirty="0">
              <a:solidFill>
                <a:srgbClr val="3399FF"/>
              </a:solidFill>
            </a:endParaRPr>
          </a:p>
        </p:txBody>
      </p:sp>
      <p:sp>
        <p:nvSpPr>
          <p:cNvPr id="3" name="Content Placeholder 2">
            <a:extLst>
              <a:ext uri="{FF2B5EF4-FFF2-40B4-BE49-F238E27FC236}">
                <a16:creationId xmlns:a16="http://schemas.microsoft.com/office/drawing/2014/main" id="{6EB1DC0D-DBC9-4669-8B5B-279A0F6925AD}"/>
              </a:ext>
            </a:extLst>
          </p:cNvPr>
          <p:cNvSpPr>
            <a:spLocks noGrp="1"/>
          </p:cNvSpPr>
          <p:nvPr>
            <p:ph idx="1"/>
          </p:nvPr>
        </p:nvSpPr>
        <p:spPr>
          <a:xfrm>
            <a:off x="609598" y="1219200"/>
            <a:ext cx="7848601" cy="5486400"/>
          </a:xfrm>
        </p:spPr>
        <p:txBody>
          <a:bodyPr>
            <a:normAutofit fontScale="77500" lnSpcReduction="20000"/>
          </a:bodyPr>
          <a:lstStyle/>
          <a:p>
            <a:pPr marL="457200" indent="-457200">
              <a:lnSpc>
                <a:spcPct val="120000"/>
              </a:lnSpc>
              <a:spcBef>
                <a:spcPts val="0"/>
              </a:spcBef>
              <a:buFont typeface="Wingdings" panose="05000000000000000000" pitchFamily="2" charset="2"/>
              <a:buChar char="Ø"/>
              <a:defRPr/>
            </a:pPr>
            <a:endParaRPr lang="en-US" sz="1500" b="1" dirty="0">
              <a:latin typeface="Times New Roman" panose="02020603050405020304" pitchFamily="18" charset="0"/>
              <a:cs typeface="Times New Roman" panose="02020603050405020304" pitchFamily="18" charset="0"/>
            </a:endParaRPr>
          </a:p>
          <a:p>
            <a:pPr marL="0" indent="0">
              <a:lnSpc>
                <a:spcPct val="120000"/>
              </a:lnSpc>
              <a:spcBef>
                <a:spcPts val="0"/>
              </a:spcBef>
              <a:buNone/>
              <a:defRPr/>
            </a:pPr>
            <a:r>
              <a:rPr lang="en-US" sz="3100" b="1" dirty="0">
                <a:latin typeface="Times New Roman" panose="02020603050405020304" pitchFamily="18" charset="0"/>
                <a:cs typeface="Times New Roman" panose="02020603050405020304" pitchFamily="18" charset="0"/>
              </a:rPr>
              <a:t>Previous offers made by Management to settle should never be cited in the grievance. But, can be passed on to the Union advocate to show a pattern.</a:t>
            </a:r>
          </a:p>
          <a:p>
            <a:pPr marL="457200" indent="-457200">
              <a:lnSpc>
                <a:spcPct val="120000"/>
              </a:lnSpc>
              <a:spcBef>
                <a:spcPts val="0"/>
              </a:spcBef>
              <a:buFont typeface="Wingdings" panose="05000000000000000000" pitchFamily="2" charset="2"/>
              <a:buChar char="Ø"/>
              <a:defRPr/>
            </a:pPr>
            <a:endParaRPr lang="en-US" sz="26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defRPr/>
            </a:pPr>
            <a:r>
              <a:rPr lang="en-US" sz="3100" b="1" dirty="0">
                <a:latin typeface="Times New Roman" panose="02020603050405020304" pitchFamily="18" charset="0"/>
                <a:cs typeface="Times New Roman" panose="02020603050405020304" pitchFamily="18" charset="0"/>
              </a:rPr>
              <a:t>When requesting a remedy for an Overtime Opportunity Missed grievance, </a:t>
            </a:r>
            <a:r>
              <a:rPr lang="en-US" sz="3100" b="1" u="sng" dirty="0">
                <a:latin typeface="Times New Roman" panose="02020603050405020304" pitchFamily="18" charset="0"/>
                <a:cs typeface="Times New Roman" panose="02020603050405020304" pitchFamily="18" charset="0"/>
              </a:rPr>
              <a:t>don’t simply say</a:t>
            </a:r>
            <a:r>
              <a:rPr lang="en-US" sz="3100" b="1" dirty="0">
                <a:latin typeface="Times New Roman" panose="02020603050405020304" pitchFamily="18" charset="0"/>
                <a:cs typeface="Times New Roman" panose="02020603050405020304" pitchFamily="18" charset="0"/>
              </a:rPr>
              <a:t>, “Make the appropriate Overtime Desired List employees whole in every way,” or pay the appropriate employee for the missed Holiday Opportunity, etc.  </a:t>
            </a:r>
          </a:p>
          <a:p>
            <a:pPr marL="457200" indent="-457200">
              <a:lnSpc>
                <a:spcPct val="120000"/>
              </a:lnSpc>
              <a:spcBef>
                <a:spcPts val="0"/>
              </a:spcBef>
              <a:buFont typeface="Wingdings" panose="05000000000000000000" pitchFamily="2" charset="2"/>
              <a:buChar char="Ø"/>
              <a:defRPr/>
            </a:pPr>
            <a:endParaRPr lang="en-US" sz="26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defRPr/>
            </a:pPr>
            <a:r>
              <a:rPr lang="en-US" sz="3100" b="1" dirty="0">
                <a:latin typeface="Times New Roman" panose="02020603050405020304" pitchFamily="18" charset="0"/>
                <a:cs typeface="Times New Roman" panose="02020603050405020304" pitchFamily="18" charset="0"/>
              </a:rPr>
              <a:t>Identify who should be paid, use the employees EIN numbers and state the number of hours to be paid to each employee.</a:t>
            </a:r>
          </a:p>
          <a:p>
            <a:pPr marL="457200" indent="-457200">
              <a:lnSpc>
                <a:spcPct val="120000"/>
              </a:lnSpc>
              <a:spcBef>
                <a:spcPts val="0"/>
              </a:spcBef>
              <a:buFont typeface="Wingdings" panose="05000000000000000000" pitchFamily="2" charset="2"/>
              <a:buChar char="Ø"/>
              <a:defRPr/>
            </a:pPr>
            <a:endParaRPr lang="en-US" sz="3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7555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BA82-9E68-4F6C-89E1-0DDEE75DCEF5}"/>
              </a:ext>
            </a:extLst>
          </p:cNvPr>
          <p:cNvSpPr>
            <a:spLocks noGrp="1"/>
          </p:cNvSpPr>
          <p:nvPr>
            <p:ph type="title"/>
          </p:nvPr>
        </p:nvSpPr>
        <p:spPr>
          <a:xfrm>
            <a:off x="609599" y="152400"/>
            <a:ext cx="7848601" cy="1066800"/>
          </a:xfrm>
        </p:spPr>
        <p:txBody>
          <a:bodyPr>
            <a:normAutofit fontScale="90000"/>
          </a:bodyPr>
          <a:lstStyle/>
          <a:p>
            <a:pPr algn="ctr"/>
            <a:r>
              <a:rPr lang="en-US" sz="3200" b="1" u="sng" dirty="0">
                <a:solidFill>
                  <a:srgbClr val="FF6699"/>
                </a:solidFill>
                <a:latin typeface="Tahoma" charset="0"/>
              </a:rPr>
              <a:t>REQUESTING PROPER REMEDIES</a:t>
            </a:r>
            <a:br>
              <a:rPr lang="en-US" sz="3200" b="1" u="sng" dirty="0">
                <a:solidFill>
                  <a:srgbClr val="FF6699"/>
                </a:solidFill>
                <a:latin typeface="Tahoma" charset="0"/>
              </a:rPr>
            </a:br>
            <a:r>
              <a:rPr lang="en-US" sz="3200" b="1" u="sng" dirty="0">
                <a:solidFill>
                  <a:srgbClr val="FF6699"/>
                </a:solidFill>
                <a:latin typeface="Tahoma" charset="0"/>
              </a:rPr>
              <a:t>AT STEP ONE AND STEP TWO CONT’D</a:t>
            </a:r>
            <a:br>
              <a:rPr lang="en-US" sz="3200" b="1" u="sng" dirty="0">
                <a:solidFill>
                  <a:srgbClr val="FF6699"/>
                </a:solidFill>
                <a:latin typeface="Tahoma" charset="0"/>
              </a:rPr>
            </a:br>
            <a:endParaRPr lang="en-US" sz="3200" dirty="0">
              <a:solidFill>
                <a:srgbClr val="3399FF"/>
              </a:solidFill>
            </a:endParaRPr>
          </a:p>
        </p:txBody>
      </p:sp>
      <p:sp>
        <p:nvSpPr>
          <p:cNvPr id="3" name="Content Placeholder 2">
            <a:extLst>
              <a:ext uri="{FF2B5EF4-FFF2-40B4-BE49-F238E27FC236}">
                <a16:creationId xmlns:a16="http://schemas.microsoft.com/office/drawing/2014/main" id="{6EB1DC0D-DBC9-4669-8B5B-279A0F6925AD}"/>
              </a:ext>
            </a:extLst>
          </p:cNvPr>
          <p:cNvSpPr>
            <a:spLocks noGrp="1"/>
          </p:cNvSpPr>
          <p:nvPr>
            <p:ph idx="1"/>
          </p:nvPr>
        </p:nvSpPr>
        <p:spPr>
          <a:xfrm>
            <a:off x="609599" y="1066800"/>
            <a:ext cx="7696200" cy="5638800"/>
          </a:xfrm>
        </p:spPr>
        <p:txBody>
          <a:bodyPr>
            <a:normAutofit/>
          </a:bodyPr>
          <a:lstStyle/>
          <a:p>
            <a:pPr marL="457200" indent="-457200">
              <a:lnSpc>
                <a:spcPct val="120000"/>
              </a:lnSpc>
              <a:spcBef>
                <a:spcPts val="0"/>
              </a:spcBef>
              <a:buFont typeface="Wingdings" panose="05000000000000000000" pitchFamily="2" charset="2"/>
              <a:buChar char="Ø"/>
              <a:defRPr/>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Explain pages of clock rings, number the pages and tell why the clock rings are relevant to the case. </a:t>
            </a:r>
          </a:p>
          <a:p>
            <a:pPr marL="457200" indent="-457200">
              <a:spcBef>
                <a:spcPts val="0"/>
              </a:spcBef>
              <a:buFont typeface="Wingdings" panose="05000000000000000000" pitchFamily="2" charset="2"/>
              <a:buChar char="Ø"/>
              <a:defRPr/>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Never use highlighter that will not be seen on copied forms or post-it notes that cover up important information. </a:t>
            </a:r>
            <a:r>
              <a:rPr lang="en-US" sz="2400" b="1" u="sng" dirty="0">
                <a:latin typeface="Times New Roman" panose="02020603050405020304" pitchFamily="18" charset="0"/>
                <a:cs typeface="Times New Roman" panose="02020603050405020304" pitchFamily="18" charset="0"/>
              </a:rPr>
              <a:t>USE YELLOW HIGHLIGHTERS ONLY</a:t>
            </a:r>
            <a:r>
              <a:rPr lang="en-US" sz="2400" b="1" dirty="0">
                <a:latin typeface="Times New Roman" panose="02020603050405020304" pitchFamily="18" charset="0"/>
                <a:cs typeface="Times New Roman" panose="02020603050405020304" pitchFamily="18" charset="0"/>
              </a:rPr>
              <a:t>.</a:t>
            </a:r>
          </a:p>
          <a:p>
            <a:pPr marL="457200" indent="-457200">
              <a:spcBef>
                <a:spcPts val="0"/>
              </a:spcBef>
              <a:buFont typeface="Wingdings" panose="05000000000000000000" pitchFamily="2" charset="2"/>
              <a:buChar char="Ø"/>
              <a:defRPr/>
            </a:pPr>
            <a:endParaRPr lang="en-US" sz="2000" b="1" dirty="0">
              <a:latin typeface="Times New Roman" panose="02020603050405020304" pitchFamily="18" charset="0"/>
              <a:cs typeface="Times New Roman" panose="02020603050405020304" pitchFamily="18" charset="0"/>
            </a:endParaRPr>
          </a:p>
          <a:p>
            <a:pPr marL="457200" indent="-457200">
              <a:spcBef>
                <a:spcPts val="0"/>
              </a:spcBef>
              <a:buFont typeface="Wingdings" panose="05000000000000000000" pitchFamily="2" charset="2"/>
              <a:buChar char="Ø"/>
              <a:defRPr/>
            </a:pPr>
            <a:r>
              <a:rPr lang="en-US" sz="2400" b="1" dirty="0">
                <a:latin typeface="Times New Roman" panose="02020603050405020304" pitchFamily="18" charset="0"/>
                <a:cs typeface="Times New Roman" panose="02020603050405020304" pitchFamily="18" charset="0"/>
              </a:rPr>
              <a:t>When filing the grievance at the local level, </a:t>
            </a:r>
            <a:r>
              <a:rPr lang="en-US" sz="2400" b="1" u="sng" dirty="0">
                <a:latin typeface="Times New Roman" panose="02020603050405020304" pitchFamily="18" charset="0"/>
                <a:cs typeface="Times New Roman" panose="02020603050405020304" pitchFamily="18" charset="0"/>
              </a:rPr>
              <a:t>NEVER ASK</a:t>
            </a:r>
            <a:r>
              <a:rPr lang="en-US" sz="2400" b="1" dirty="0">
                <a:latin typeface="Times New Roman" panose="02020603050405020304" pitchFamily="18" charset="0"/>
                <a:cs typeface="Times New Roman" panose="02020603050405020304" pitchFamily="18" charset="0"/>
              </a:rPr>
              <a:t> that the 14 day suspension be downgraded to a 7 day suspension. The National advocate may be able to secure a better remedy.</a:t>
            </a:r>
          </a:p>
          <a:p>
            <a:pPr marL="457200" indent="-457200">
              <a:lnSpc>
                <a:spcPct val="120000"/>
              </a:lnSpc>
              <a:spcBef>
                <a:spcPts val="0"/>
              </a:spcBef>
              <a:buFont typeface="Wingdings" panose="05000000000000000000" pitchFamily="2" charset="2"/>
              <a:buChar char="Ø"/>
              <a:defRPr/>
            </a:pPr>
            <a:endParaRPr lang="en-US" sz="20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defRPr/>
            </a:pPr>
            <a:endParaRPr lang="en-US" sz="3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97911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193B9-4227-40C2-884E-E9864569DEB6}"/>
              </a:ext>
            </a:extLst>
          </p:cNvPr>
          <p:cNvSpPr>
            <a:spLocks noGrp="1"/>
          </p:cNvSpPr>
          <p:nvPr>
            <p:ph type="title"/>
          </p:nvPr>
        </p:nvSpPr>
        <p:spPr>
          <a:xfrm>
            <a:off x="609599" y="152400"/>
            <a:ext cx="7543801" cy="1143000"/>
          </a:xfrm>
        </p:spPr>
        <p:txBody>
          <a:bodyPr>
            <a:normAutofit/>
          </a:bodyPr>
          <a:lstStyle/>
          <a:p>
            <a:pPr algn="ctr"/>
            <a:r>
              <a:rPr lang="en-US" sz="3000" b="1" u="sng" dirty="0">
                <a:solidFill>
                  <a:srgbClr val="FF6699"/>
                </a:solidFill>
                <a:latin typeface="Tahoma" charset="0"/>
              </a:rPr>
              <a:t>REQUESTING PROPER REMEDIES</a:t>
            </a:r>
            <a:br>
              <a:rPr lang="en-US" sz="3000" b="1" u="sng" dirty="0">
                <a:solidFill>
                  <a:srgbClr val="FF6699"/>
                </a:solidFill>
                <a:latin typeface="Tahoma" charset="0"/>
              </a:rPr>
            </a:br>
            <a:r>
              <a:rPr lang="en-US" sz="3000" b="1" u="sng" dirty="0">
                <a:solidFill>
                  <a:srgbClr val="FF6699"/>
                </a:solidFill>
                <a:latin typeface="Tahoma" charset="0"/>
              </a:rPr>
              <a:t>AT STEP ONE AND STEP TWO CONT’D</a:t>
            </a:r>
            <a:endParaRPr lang="en-US" sz="3000" dirty="0">
              <a:solidFill>
                <a:srgbClr val="3399FF"/>
              </a:solidFill>
            </a:endParaRPr>
          </a:p>
        </p:txBody>
      </p:sp>
      <p:sp>
        <p:nvSpPr>
          <p:cNvPr id="3" name="Content Placeholder 2">
            <a:extLst>
              <a:ext uri="{FF2B5EF4-FFF2-40B4-BE49-F238E27FC236}">
                <a16:creationId xmlns:a16="http://schemas.microsoft.com/office/drawing/2014/main" id="{2E5A7ABF-9314-41BE-A298-75BDD29F4D3B}"/>
              </a:ext>
            </a:extLst>
          </p:cNvPr>
          <p:cNvSpPr>
            <a:spLocks noGrp="1"/>
          </p:cNvSpPr>
          <p:nvPr>
            <p:ph idx="1"/>
          </p:nvPr>
        </p:nvSpPr>
        <p:spPr>
          <a:xfrm>
            <a:off x="419099" y="1295400"/>
            <a:ext cx="7924799" cy="5410200"/>
          </a:xfrm>
        </p:spPr>
        <p:txBody>
          <a:bodyPr>
            <a:normAutofit fontScale="62500" lnSpcReduction="20000"/>
          </a:bodyPr>
          <a:lstStyle/>
          <a:p>
            <a:pPr marL="0" indent="0">
              <a:lnSpc>
                <a:spcPct val="120000"/>
              </a:lnSpc>
              <a:spcBef>
                <a:spcPts val="0"/>
              </a:spcBef>
              <a:buNone/>
              <a:defRPr/>
            </a:pPr>
            <a:r>
              <a:rPr lang="en-US" sz="3400" b="1" dirty="0">
                <a:latin typeface="Times New Roman" panose="02020603050405020304" pitchFamily="18" charset="0"/>
                <a:cs typeface="Times New Roman" panose="02020603050405020304" pitchFamily="18" charset="0"/>
              </a:rPr>
              <a:t>If a resolution is not reached, in the remedy ask:</a:t>
            </a:r>
          </a:p>
          <a:p>
            <a:pPr marL="457200" indent="-457200">
              <a:lnSpc>
                <a:spcPct val="120000"/>
              </a:lnSpc>
              <a:spcBef>
                <a:spcPts val="0"/>
              </a:spcBef>
              <a:buFont typeface="Wingdings" panose="05000000000000000000" pitchFamily="2" charset="2"/>
              <a:buChar char="Ø"/>
              <a:defRPr/>
            </a:pPr>
            <a:endParaRPr lang="en-US" sz="22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defRPr/>
            </a:pPr>
            <a:r>
              <a:rPr lang="en-US" sz="3300" b="1" dirty="0">
                <a:latin typeface="Times New Roman" panose="02020603050405020304" pitchFamily="18" charset="0"/>
                <a:cs typeface="Times New Roman" panose="02020603050405020304" pitchFamily="18" charset="0"/>
              </a:rPr>
              <a:t>That the employee be returned to duty and that the letter of discipline be rescinded and removed from the employee’s records and from all files.</a:t>
            </a:r>
          </a:p>
          <a:p>
            <a:pPr marL="457200" indent="-457200">
              <a:lnSpc>
                <a:spcPct val="120000"/>
              </a:lnSpc>
              <a:spcBef>
                <a:spcPts val="0"/>
              </a:spcBef>
              <a:buFont typeface="Wingdings" panose="05000000000000000000" pitchFamily="2" charset="2"/>
              <a:buChar char="Ø"/>
              <a:defRPr/>
            </a:pPr>
            <a:endParaRPr lang="en-US" sz="2900" b="1" dirty="0">
              <a:latin typeface="Times New Roman" panose="02020603050405020304" pitchFamily="18" charset="0"/>
              <a:cs typeface="Times New Roman" panose="02020603050405020304" pitchFamily="18" charset="0"/>
            </a:endParaRPr>
          </a:p>
          <a:p>
            <a:pPr marL="457200" indent="-457200">
              <a:lnSpc>
                <a:spcPct val="120000"/>
              </a:lnSpc>
              <a:spcBef>
                <a:spcPts val="0"/>
              </a:spcBef>
              <a:buFont typeface="Wingdings" panose="05000000000000000000" pitchFamily="2" charset="2"/>
              <a:buChar char="Ø"/>
              <a:defRPr/>
            </a:pPr>
            <a:r>
              <a:rPr lang="en-US" sz="3300" b="1" dirty="0">
                <a:latin typeface="Times New Roman" panose="02020603050405020304" pitchFamily="18" charset="0"/>
                <a:cs typeface="Times New Roman" panose="02020603050405020304" pitchFamily="18" charset="0"/>
              </a:rPr>
              <a:t>That the employee be “Made Whole” in every way to include, but not limited to: All lost wages and benefits, applicable premiums, missed overtime or holiday opportunities and applicable interest. Also, that all back-pay hours, including those hours paid in a lump sum, be considered work hours for the purposes of eligibility under the Family and Medical Leave Act.</a:t>
            </a:r>
          </a:p>
          <a:p>
            <a:pPr marL="457200" indent="-457200">
              <a:lnSpc>
                <a:spcPct val="120000"/>
              </a:lnSpc>
              <a:spcBef>
                <a:spcPts val="0"/>
              </a:spcBef>
              <a:buFont typeface="Wingdings" panose="05000000000000000000" pitchFamily="2" charset="2"/>
              <a:buChar char="Ø"/>
              <a:defRPr/>
            </a:pPr>
            <a:endParaRPr lang="en-US" sz="2900" b="1" dirty="0">
              <a:latin typeface="Times New Roman" panose="02020603050405020304" pitchFamily="18" charset="0"/>
              <a:cs typeface="Times New Roman" panose="02020603050405020304" pitchFamily="18" charset="0"/>
            </a:endParaRPr>
          </a:p>
          <a:p>
            <a:pPr marL="0" indent="0">
              <a:lnSpc>
                <a:spcPct val="120000"/>
              </a:lnSpc>
              <a:spcBef>
                <a:spcPts val="0"/>
              </a:spcBef>
              <a:buNone/>
              <a:defRPr/>
            </a:pPr>
            <a:r>
              <a:rPr lang="en-US" sz="3800" b="1" dirty="0">
                <a:latin typeface="Times New Roman" panose="02020603050405020304" pitchFamily="18" charset="0"/>
                <a:cs typeface="Times New Roman" panose="02020603050405020304" pitchFamily="18" charset="0"/>
              </a:rPr>
              <a:t>NOTE: </a:t>
            </a:r>
            <a:r>
              <a:rPr lang="en-US" sz="3800" b="1" u="sng" dirty="0">
                <a:solidFill>
                  <a:srgbClr val="0033CC"/>
                </a:solidFill>
                <a:latin typeface="Times New Roman" panose="02020603050405020304" pitchFamily="18" charset="0"/>
                <a:cs typeface="Times New Roman" panose="02020603050405020304" pitchFamily="18" charset="0"/>
              </a:rPr>
              <a:t>Always include in the remedy that management Case and Desist their actions</a:t>
            </a:r>
            <a:r>
              <a:rPr lang="en-US" sz="3800" b="1" dirty="0">
                <a:solidFill>
                  <a:srgbClr val="0033CC"/>
                </a:solidFill>
                <a:latin typeface="Times New Roman" panose="02020603050405020304" pitchFamily="18" charset="0"/>
                <a:cs typeface="Times New Roman" panose="02020603050405020304" pitchFamily="18" charset="0"/>
              </a:rPr>
              <a:t>.</a:t>
            </a:r>
            <a:endParaRPr lang="en-US" sz="3800" dirty="0">
              <a:solidFill>
                <a:srgbClr val="0033CC"/>
              </a:solidFill>
            </a:endParaRPr>
          </a:p>
        </p:txBody>
      </p:sp>
    </p:spTree>
    <p:extLst>
      <p:ext uri="{BB962C8B-B14F-4D97-AF65-F5344CB8AC3E}">
        <p14:creationId xmlns:p14="http://schemas.microsoft.com/office/powerpoint/2010/main" val="25100470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114C1-6651-423A-B14E-0FD0F334D475}"/>
              </a:ext>
            </a:extLst>
          </p:cNvPr>
          <p:cNvSpPr>
            <a:spLocks noGrp="1"/>
          </p:cNvSpPr>
          <p:nvPr>
            <p:ph type="title"/>
          </p:nvPr>
        </p:nvSpPr>
        <p:spPr>
          <a:xfrm>
            <a:off x="609599" y="228600"/>
            <a:ext cx="7696201" cy="1295400"/>
          </a:xfrm>
        </p:spPr>
        <p:txBody>
          <a:bodyPr>
            <a:normAutofit fontScale="90000"/>
          </a:bodyPr>
          <a:lstStyle/>
          <a:p>
            <a:pPr algn="ctr"/>
            <a:r>
              <a:rPr lang="en-US" sz="3000" b="1" u="sng" dirty="0">
                <a:solidFill>
                  <a:srgbClr val="FF6699"/>
                </a:solidFill>
                <a:latin typeface="Tahoma" charset="0"/>
              </a:rPr>
              <a:t>DOCUMENTATION NEEDED </a:t>
            </a:r>
            <a:br>
              <a:rPr lang="en-US" sz="3000" b="1" u="sng" dirty="0">
                <a:solidFill>
                  <a:srgbClr val="FF6699"/>
                </a:solidFill>
                <a:latin typeface="Tahoma" charset="0"/>
              </a:rPr>
            </a:br>
            <a:r>
              <a:rPr lang="en-US" sz="3000" b="1" u="sng" dirty="0">
                <a:solidFill>
                  <a:srgbClr val="FF6699"/>
                </a:solidFill>
                <a:latin typeface="Tahoma" charset="0"/>
              </a:rPr>
              <a:t>FOR GRIEVANCES AND </a:t>
            </a:r>
            <a:br>
              <a:rPr lang="en-US" sz="3000" b="1" u="sng" dirty="0">
                <a:solidFill>
                  <a:srgbClr val="FF6699"/>
                </a:solidFill>
                <a:latin typeface="Tahoma" charset="0"/>
              </a:rPr>
            </a:br>
            <a:r>
              <a:rPr lang="en-US" sz="3000" b="1" u="sng" dirty="0">
                <a:solidFill>
                  <a:srgbClr val="FF6699"/>
                </a:solidFill>
                <a:latin typeface="Tahoma" charset="0"/>
              </a:rPr>
              <a:t>REQUESTING THE PROPER REMEDY</a:t>
            </a:r>
            <a:endParaRPr lang="en-US" sz="3000" dirty="0"/>
          </a:p>
        </p:txBody>
      </p:sp>
      <p:sp>
        <p:nvSpPr>
          <p:cNvPr id="3" name="Content Placeholder 2">
            <a:extLst>
              <a:ext uri="{FF2B5EF4-FFF2-40B4-BE49-F238E27FC236}">
                <a16:creationId xmlns:a16="http://schemas.microsoft.com/office/drawing/2014/main" id="{1E6E11C8-3695-4B20-9440-DEDB85B4BDB0}"/>
              </a:ext>
            </a:extLst>
          </p:cNvPr>
          <p:cNvSpPr>
            <a:spLocks noGrp="1"/>
          </p:cNvSpPr>
          <p:nvPr>
            <p:ph idx="1"/>
          </p:nvPr>
        </p:nvSpPr>
        <p:spPr>
          <a:xfrm>
            <a:off x="609598" y="1752600"/>
            <a:ext cx="7848601" cy="4953000"/>
          </a:xfrm>
        </p:spPr>
        <p:txBody>
          <a:bodyPr>
            <a:normAutofit fontScale="92500" lnSpcReduction="20000"/>
          </a:bodyPr>
          <a:lstStyle/>
          <a:p>
            <a:pPr marL="0" indent="0" algn="ctr">
              <a:lnSpc>
                <a:spcPct val="110000"/>
              </a:lnSpc>
              <a:spcBef>
                <a:spcPts val="0"/>
              </a:spcBef>
              <a:buNone/>
            </a:pPr>
            <a:r>
              <a:rPr lang="en-US" sz="2600" b="1" dirty="0">
                <a:latin typeface="Times New Roman" panose="02020603050405020304" pitchFamily="18" charset="0"/>
                <a:cs typeface="Times New Roman" panose="02020603050405020304" pitchFamily="18" charset="0"/>
              </a:rPr>
              <a:t>Documentation needed for many grievances, the Proper Remedy to Request and </a:t>
            </a:r>
            <a:r>
              <a:rPr lang="en-US" sz="2600" b="1" i="0" u="none" strike="noStrike" baseline="0" dirty="0">
                <a:latin typeface="Times New Roman" panose="02020603050405020304" pitchFamily="18" charset="0"/>
              </a:rPr>
              <a:t>Tips for the Steward can be found in the </a:t>
            </a:r>
            <a:r>
              <a:rPr lang="en-US" sz="2600" b="1" i="0" u="sng" strike="noStrike" baseline="0" dirty="0">
                <a:latin typeface="Times New Roman" panose="02020603050405020304" pitchFamily="18" charset="0"/>
              </a:rPr>
              <a:t>Shop Steward’s Training Manual</a:t>
            </a:r>
            <a:r>
              <a:rPr lang="en-US" sz="2600" b="1" i="0" strike="noStrike" baseline="0" dirty="0">
                <a:latin typeface="Times New Roman" panose="02020603050405020304" pitchFamily="18" charset="0"/>
              </a:rPr>
              <a:t> </a:t>
            </a:r>
            <a:r>
              <a:rPr lang="en-US" sz="2600" b="1" i="0" u="none" strike="noStrike" baseline="0" dirty="0">
                <a:latin typeface="Times New Roman" panose="02020603050405020304" pitchFamily="18" charset="0"/>
              </a:rPr>
              <a:t>which can be downloaded from the APWU Website at </a:t>
            </a:r>
            <a:r>
              <a:rPr lang="en-US" sz="2600" b="1" dirty="0">
                <a:solidFill>
                  <a:srgbClr val="FF6699"/>
                </a:solidFill>
                <a:latin typeface="Times New Roman" panose="02020603050405020304" pitchFamily="18" charset="0"/>
                <a:hlinkClick r:id="rId2">
                  <a:extLst>
                    <a:ext uri="{A12FA001-AC4F-418D-AE19-62706E023703}">
                      <ahyp:hlinkClr xmlns:ahyp="http://schemas.microsoft.com/office/drawing/2018/hyperlinkcolor" val="tx"/>
                    </a:ext>
                  </a:extLst>
                </a:hlinkClick>
              </a:rPr>
              <a:t>www.apwu.org</a:t>
            </a:r>
            <a:r>
              <a:rPr lang="en-US" sz="2600" b="1" dirty="0">
                <a:solidFill>
                  <a:schemeClr val="tx1"/>
                </a:solidFill>
                <a:latin typeface="Times New Roman" panose="02020603050405020304" pitchFamily="18" charset="0"/>
              </a:rPr>
              <a:t>.</a:t>
            </a:r>
            <a:r>
              <a:rPr lang="en-US" sz="2600" b="1" dirty="0">
                <a:solidFill>
                  <a:srgbClr val="FF6699"/>
                </a:solidFill>
                <a:latin typeface="Times New Roman" panose="02020603050405020304" pitchFamily="18" charset="0"/>
              </a:rPr>
              <a:t> </a:t>
            </a:r>
            <a:r>
              <a:rPr lang="en-US" sz="2600" b="1" i="0" u="none" strike="noStrike" baseline="0" dirty="0">
                <a:latin typeface="Times New Roman" panose="02020603050405020304" pitchFamily="18" charset="0"/>
              </a:rPr>
              <a:t>Go to the top of the page, (See Our Union, go to Departments and click on </a:t>
            </a:r>
          </a:p>
          <a:p>
            <a:pPr marL="0" indent="0" algn="ctr">
              <a:lnSpc>
                <a:spcPct val="110000"/>
              </a:lnSpc>
              <a:spcBef>
                <a:spcPts val="0"/>
              </a:spcBef>
              <a:buNone/>
            </a:pPr>
            <a:r>
              <a:rPr lang="en-US" sz="2600" b="1" i="0" u="none" strike="noStrike" baseline="0" dirty="0">
                <a:latin typeface="Times New Roman" panose="02020603050405020304" pitchFamily="18" charset="0"/>
              </a:rPr>
              <a:t>Research and Education). Scroll down and under the Director’s photo, see Quick Links and click on </a:t>
            </a:r>
          </a:p>
          <a:p>
            <a:pPr marL="0" indent="0" algn="ctr">
              <a:lnSpc>
                <a:spcPct val="110000"/>
              </a:lnSpc>
              <a:spcBef>
                <a:spcPts val="0"/>
              </a:spcBef>
              <a:buNone/>
            </a:pPr>
            <a:r>
              <a:rPr lang="en-US" sz="2600" b="1" i="0" u="none" strike="noStrike" baseline="0" dirty="0">
                <a:latin typeface="Times New Roman" panose="02020603050405020304" pitchFamily="18" charset="0"/>
              </a:rPr>
              <a:t>Shop Steward’s Training Manual. </a:t>
            </a:r>
          </a:p>
          <a:p>
            <a:pPr marL="0" indent="0" algn="ctr">
              <a:lnSpc>
                <a:spcPct val="110000"/>
              </a:lnSpc>
              <a:spcBef>
                <a:spcPts val="0"/>
              </a:spcBef>
              <a:buNone/>
            </a:pPr>
            <a:r>
              <a:rPr lang="en-US" sz="2600" b="1" i="0" u="none" strike="noStrike" baseline="0" dirty="0">
                <a:latin typeface="Times New Roman" panose="02020603050405020304" pitchFamily="18" charset="0"/>
              </a:rPr>
              <a:t>Download it your computer. </a:t>
            </a:r>
          </a:p>
          <a:p>
            <a:pPr marL="0" indent="0" algn="ctr">
              <a:lnSpc>
                <a:spcPct val="110000"/>
              </a:lnSpc>
              <a:spcBef>
                <a:spcPts val="0"/>
              </a:spcBef>
              <a:buNone/>
            </a:pPr>
            <a:r>
              <a:rPr lang="en-US" sz="2600" b="1" dirty="0">
                <a:latin typeface="Times New Roman" panose="02020603050405020304" pitchFamily="18" charset="0"/>
              </a:rPr>
              <a:t>The manual is also i</a:t>
            </a:r>
            <a:r>
              <a:rPr lang="en-US" sz="2600" b="1" i="0" u="none" strike="noStrike" baseline="0" dirty="0">
                <a:latin typeface="Times New Roman" panose="02020603050405020304" pitchFamily="18" charset="0"/>
              </a:rPr>
              <a:t>ncluded on the</a:t>
            </a:r>
          </a:p>
          <a:p>
            <a:pPr marL="0" indent="0" algn="ctr">
              <a:lnSpc>
                <a:spcPct val="110000"/>
              </a:lnSpc>
              <a:spcBef>
                <a:spcPts val="0"/>
              </a:spcBef>
              <a:buNone/>
            </a:pPr>
            <a:r>
              <a:rPr lang="en-US" sz="2600" b="1" i="0" u="sng" strike="noStrike" baseline="0" dirty="0">
                <a:latin typeface="Times New Roman" panose="02020603050405020304" pitchFamily="18" charset="0"/>
              </a:rPr>
              <a:t>Steward’s Training Flash Drive</a:t>
            </a:r>
            <a:r>
              <a:rPr lang="en-US" sz="2600" b="1" i="0" u="none" strike="noStrike" baseline="0" dirty="0">
                <a:latin typeface="Times New Roman" panose="02020603050405020304" pitchFamily="18" charset="0"/>
              </a:rPr>
              <a:t>.</a:t>
            </a:r>
          </a:p>
          <a:p>
            <a:pPr marL="0" indent="0" algn="ctr">
              <a:lnSpc>
                <a:spcPct val="110000"/>
              </a:lnSpc>
              <a:spcBef>
                <a:spcPts val="0"/>
              </a:spcBef>
              <a:buNone/>
            </a:pPr>
            <a:endParaRPr lang="en-US" sz="1300" b="1" i="0" u="none" strike="noStrike" baseline="0" dirty="0">
              <a:latin typeface="Times New Roman" panose="02020603050405020304" pitchFamily="18" charset="0"/>
            </a:endParaRPr>
          </a:p>
          <a:p>
            <a:pPr marL="0" indent="0" algn="ctr">
              <a:lnSpc>
                <a:spcPct val="110000"/>
              </a:lnSpc>
              <a:spcBef>
                <a:spcPts val="0"/>
              </a:spcBef>
              <a:buNone/>
            </a:pPr>
            <a:r>
              <a:rPr lang="en-US" sz="2500" b="1" dirty="0">
                <a:solidFill>
                  <a:srgbClr val="0033CC"/>
                </a:solidFill>
                <a:latin typeface="Times New Roman" panose="02020603050405020304" pitchFamily="18" charset="0"/>
                <a:cs typeface="Times New Roman" panose="02020603050405020304" pitchFamily="18" charset="0"/>
                <a:hlinkClick r:id="rId3" action="ppaction://hlinkfile">
                  <a:extLst>
                    <a:ext uri="{A12FA001-AC4F-418D-AE19-62706E023703}">
                      <ahyp:hlinkClr xmlns:ahyp="http://schemas.microsoft.com/office/drawing/2018/hyperlinkcolor" val="tx"/>
                    </a:ext>
                  </a:extLst>
                </a:hlinkClick>
              </a:rPr>
              <a:t>SHOP STEWARD’S TRAINING MANUAL.pdf</a:t>
            </a:r>
            <a:endParaRPr lang="en-US" sz="2500" b="1" dirty="0">
              <a:solidFill>
                <a:srgbClr val="0033CC"/>
              </a:solidFill>
              <a:latin typeface="Times New Roman" panose="02020603050405020304" pitchFamily="18" charset="0"/>
              <a:cs typeface="Times New Roman" panose="02020603050405020304" pitchFamily="18" charset="0"/>
              <a:hlinkClick r:id="rId4" action="ppaction://hlinkfile">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2739478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228600"/>
            <a:ext cx="8001000" cy="6140912"/>
          </a:xfrm>
          <a:prstGeom prst="rect">
            <a:avLst/>
          </a:prstGeom>
        </p:spPr>
        <p:txBody>
          <a:bodyPr vert="horz" wrap="square" lIns="0" tIns="0" rIns="0" bIns="0" rtlCol="0">
            <a:spAutoFit/>
          </a:bodyPr>
          <a:lstStyle/>
          <a:p>
            <a:pPr algn="ctr">
              <a:lnSpc>
                <a:spcPct val="100000"/>
              </a:lnSpc>
            </a:pPr>
            <a:endParaRPr lang="en-US" sz="205" b="1" u="heavy" spc="-3" dirty="0">
              <a:latin typeface="Times New Roman"/>
              <a:cs typeface="Times New Roman"/>
            </a:endParaRPr>
          </a:p>
          <a:p>
            <a:pPr algn="ctr">
              <a:lnSpc>
                <a:spcPct val="100000"/>
              </a:lnSpc>
            </a:pPr>
            <a:r>
              <a:rPr lang="en-US" sz="3200" b="1" u="sng" spc="-3" dirty="0">
                <a:solidFill>
                  <a:srgbClr val="FF6699"/>
                </a:solidFill>
                <a:latin typeface="Tahoma" panose="020B0604030504040204" pitchFamily="34" charset="0"/>
                <a:ea typeface="Tahoma" panose="020B0604030504040204" pitchFamily="34" charset="0"/>
                <a:cs typeface="Tahoma" panose="020B0604030504040204" pitchFamily="34" charset="0"/>
              </a:rPr>
              <a:t>FILLABLE GRIEVANCE FORMS</a:t>
            </a:r>
          </a:p>
          <a:p>
            <a:pPr algn="ctr">
              <a:lnSpc>
                <a:spcPct val="100000"/>
              </a:lnSpc>
            </a:pPr>
            <a:endParaRPr lang="en-US" sz="1600" b="1" u="heavy" spc="-3" dirty="0">
              <a:solidFill>
                <a:srgbClr val="FF6699"/>
              </a:solidFill>
              <a:latin typeface="Tahoma" panose="020B0604030504040204" pitchFamily="34" charset="0"/>
              <a:ea typeface="Tahoma" panose="020B0604030504040204" pitchFamily="34" charset="0"/>
              <a:cs typeface="Tahoma" panose="020B0604030504040204" pitchFamily="34" charset="0"/>
            </a:endParaRPr>
          </a:p>
          <a:p>
            <a:pPr algn="ctr"/>
            <a:r>
              <a:rPr lang="en-US" sz="2400" b="1" dirty="0">
                <a:solidFill>
                  <a:srgbClr val="000000"/>
                </a:solidFill>
                <a:latin typeface="Times New Roman" panose="02020603050405020304" pitchFamily="18" charset="0"/>
              </a:rPr>
              <a:t>‘Fillable Grievance Appeal Forms’ from: Step 1, 2 and 3, Direct Appeal to Arbitration from Step 2,  Request for Information, Grievant or Witness Statements and Report of Security Problem or Poor Financial Practice can be downloaded from the APWU Website.</a:t>
            </a:r>
          </a:p>
          <a:p>
            <a:pPr algn="ctr"/>
            <a:endParaRPr lang="en-US" sz="1600" b="1" dirty="0">
              <a:solidFill>
                <a:srgbClr val="000000"/>
              </a:solidFill>
              <a:latin typeface="Times New Roman" panose="02020603050405020304" pitchFamily="18" charset="0"/>
            </a:endParaRPr>
          </a:p>
          <a:p>
            <a:pPr algn="ctr"/>
            <a:r>
              <a:rPr lang="en-US" sz="2800" b="1" u="sng" dirty="0">
                <a:solidFill>
                  <a:srgbClr val="FF6699"/>
                </a:solidFill>
                <a:latin typeface="Tahoma" panose="020B0604030504040204" pitchFamily="34" charset="0"/>
                <a:ea typeface="Tahoma" panose="020B0604030504040204" pitchFamily="34" charset="0"/>
                <a:cs typeface="Tahoma" panose="020B0604030504040204" pitchFamily="34" charset="0"/>
              </a:rPr>
              <a:t>DOWNLOADING </a:t>
            </a:r>
            <a:r>
              <a:rPr lang="en-US" sz="2800" b="1" u="sng" spc="-3" dirty="0">
                <a:solidFill>
                  <a:srgbClr val="FF6699"/>
                </a:solidFill>
                <a:latin typeface="Tahoma" panose="020B0604030504040204" pitchFamily="34" charset="0"/>
                <a:ea typeface="Tahoma" panose="020B0604030504040204" pitchFamily="34" charset="0"/>
                <a:cs typeface="Tahoma" panose="020B0604030504040204" pitchFamily="34" charset="0"/>
              </a:rPr>
              <a:t>GRIEVANCE FORMS</a:t>
            </a:r>
          </a:p>
          <a:p>
            <a:pPr algn="ctr"/>
            <a:endParaRPr lang="en-US" sz="1600" b="1" u="sng" dirty="0">
              <a:solidFill>
                <a:srgbClr val="FF6699"/>
              </a:solidFill>
              <a:latin typeface="Times New Roman" panose="02020603050405020304" pitchFamily="18" charset="0"/>
            </a:endParaRPr>
          </a:p>
          <a:p>
            <a:pPr algn="ctr"/>
            <a:r>
              <a:rPr lang="en-US" sz="2400" b="1" dirty="0">
                <a:solidFill>
                  <a:srgbClr val="000000"/>
                </a:solidFill>
                <a:latin typeface="Times New Roman" panose="02020603050405020304" pitchFamily="18" charset="0"/>
              </a:rPr>
              <a:t>Download grievance forms by going to </a:t>
            </a:r>
            <a:r>
              <a:rPr lang="en-US" sz="2400" b="1" dirty="0">
                <a:solidFill>
                  <a:srgbClr val="FF6699"/>
                </a:solidFill>
                <a:latin typeface="Times New Roman" panose="02020603050405020304" pitchFamily="18" charset="0"/>
                <a:hlinkClick r:id="rId3">
                  <a:extLst>
                    <a:ext uri="{A12FA001-AC4F-418D-AE19-62706E023703}">
                      <ahyp:hlinkClr xmlns:ahyp="http://schemas.microsoft.com/office/drawing/2018/hyperlinkcolor" val="tx"/>
                    </a:ext>
                  </a:extLst>
                </a:hlinkClick>
              </a:rPr>
              <a:t>www.apwu.org</a:t>
            </a:r>
            <a:r>
              <a:rPr lang="en-US" sz="2400" b="1" dirty="0">
                <a:latin typeface="Times New Roman" panose="02020603050405020304" pitchFamily="18" charset="0"/>
              </a:rPr>
              <a:t>.</a:t>
            </a:r>
          </a:p>
          <a:p>
            <a:pPr algn="ctr"/>
            <a:r>
              <a:rPr lang="en-US" sz="2400" b="1" dirty="0">
                <a:solidFill>
                  <a:srgbClr val="000000"/>
                </a:solidFill>
                <a:latin typeface="Times New Roman" panose="02020603050405020304" pitchFamily="18" charset="0"/>
              </a:rPr>
              <a:t>Go to the top of the page, (See Our Union, go to Departments and click on Industrial Relations).  In the middle of the page, in gold, click on LOAD MORE. Click on the Grievance Procedure Box and scroll down to Grievance Forms. Use the down arrow to select the appropriate APWU ‘Fillable’ Grievance Form(s) and download it your computer</a:t>
            </a:r>
            <a:r>
              <a:rPr lang="en-US" sz="2500" b="1" dirty="0">
                <a:solidFill>
                  <a:srgbClr val="000000"/>
                </a:solidFill>
                <a:latin typeface="Times New Roman" panose="02020603050405020304" pitchFamily="18" charset="0"/>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9BDA3-4850-457E-A4C8-11A2AEA11EC9}"/>
              </a:ext>
            </a:extLst>
          </p:cNvPr>
          <p:cNvSpPr>
            <a:spLocks noGrp="1"/>
          </p:cNvSpPr>
          <p:nvPr>
            <p:ph type="title"/>
          </p:nvPr>
        </p:nvSpPr>
        <p:spPr>
          <a:xfrm>
            <a:off x="609599" y="304800"/>
            <a:ext cx="8001001" cy="838200"/>
          </a:xfrm>
        </p:spPr>
        <p:txBody>
          <a:bodyPr>
            <a:normAutofit fontScale="90000"/>
          </a:bodyPr>
          <a:lstStyle/>
          <a:p>
            <a:pPr algn="ctr"/>
            <a:r>
              <a:rPr lang="en-US" sz="4200" b="1" u="sng" dirty="0">
                <a:solidFill>
                  <a:srgbClr val="FF6699"/>
                </a:solidFill>
                <a:latin typeface="Tahoma" charset="0"/>
              </a:rPr>
              <a:t>Steward’s Training Flash Drive </a:t>
            </a:r>
            <a:br>
              <a:rPr lang="en-US" sz="3600" b="1" u="sng" dirty="0">
                <a:solidFill>
                  <a:srgbClr val="FF6699"/>
                </a:solidFill>
                <a:latin typeface="Tahoma" charset="0"/>
              </a:rPr>
            </a:br>
            <a:endParaRPr lang="en-US" dirty="0"/>
          </a:p>
        </p:txBody>
      </p:sp>
      <p:sp>
        <p:nvSpPr>
          <p:cNvPr id="3" name="Content Placeholder 2">
            <a:extLst>
              <a:ext uri="{FF2B5EF4-FFF2-40B4-BE49-F238E27FC236}">
                <a16:creationId xmlns:a16="http://schemas.microsoft.com/office/drawing/2014/main" id="{21100264-4393-47D3-8E66-B53992F83F25}"/>
              </a:ext>
            </a:extLst>
          </p:cNvPr>
          <p:cNvSpPr>
            <a:spLocks noGrp="1"/>
          </p:cNvSpPr>
          <p:nvPr>
            <p:ph idx="1"/>
          </p:nvPr>
        </p:nvSpPr>
        <p:spPr>
          <a:xfrm>
            <a:off x="609599" y="1219200"/>
            <a:ext cx="7696202" cy="5410200"/>
          </a:xfrm>
        </p:spPr>
        <p:txBody>
          <a:bodyPr>
            <a:normAutofit fontScale="92500" lnSpcReduction="10000"/>
          </a:bodyPr>
          <a:lstStyle/>
          <a:p>
            <a:pPr marL="0" indent="0" algn="ctr">
              <a:spcBef>
                <a:spcPts val="0"/>
              </a:spcBef>
              <a:buNone/>
            </a:pPr>
            <a:r>
              <a:rPr lang="en-US" sz="2800" b="1" dirty="0">
                <a:latin typeface="Times New Roman" panose="02020603050405020304" pitchFamily="18" charset="0"/>
              </a:rPr>
              <a:t>The </a:t>
            </a:r>
            <a:r>
              <a:rPr lang="en-US" sz="2800" b="1" u="sng" dirty="0">
                <a:latin typeface="Times New Roman" panose="02020603050405020304" pitchFamily="18" charset="0"/>
              </a:rPr>
              <a:t>Steward’s Training Flash Drive </a:t>
            </a:r>
          </a:p>
          <a:p>
            <a:pPr marL="0" indent="0" algn="ctr">
              <a:spcBef>
                <a:spcPts val="0"/>
              </a:spcBef>
              <a:buNone/>
            </a:pPr>
            <a:r>
              <a:rPr lang="en-US" sz="2800" b="1" dirty="0">
                <a:latin typeface="Times New Roman" panose="02020603050405020304" pitchFamily="18" charset="0"/>
              </a:rPr>
              <a:t>is an essential tool for the steward. It contains, the Steward’s Training Manual, CBA, JCIM, ‘Fillable Grievance Appeal Forms,’  Postal Handbooks and Manuals and other material that the steward needs to perform his/her duties</a:t>
            </a:r>
            <a:r>
              <a:rPr lang="en-US" sz="2700" b="1" dirty="0">
                <a:latin typeface="Times New Roman" panose="02020603050405020304" pitchFamily="18" charset="0"/>
              </a:rPr>
              <a:t>.</a:t>
            </a:r>
          </a:p>
          <a:p>
            <a:pPr marL="0" indent="0" algn="ctr">
              <a:spcBef>
                <a:spcPts val="0"/>
              </a:spcBef>
              <a:buNone/>
            </a:pPr>
            <a:endParaRPr lang="en-US" sz="2800" b="1" i="1" u="sng" dirty="0">
              <a:solidFill>
                <a:schemeClr val="tx1"/>
              </a:solidFill>
              <a:latin typeface="Times New Roman" panose="02020603050405020304" pitchFamily="18" charset="0"/>
            </a:endParaRPr>
          </a:p>
          <a:p>
            <a:pPr marL="0" indent="0" algn="ctr">
              <a:spcBef>
                <a:spcPts val="0"/>
              </a:spcBef>
              <a:buNone/>
            </a:pPr>
            <a:r>
              <a:rPr lang="en-US" sz="2800" b="1" i="1" u="sng" dirty="0">
                <a:solidFill>
                  <a:schemeClr val="tx1"/>
                </a:solidFill>
                <a:latin typeface="Times New Roman" panose="02020603050405020304" pitchFamily="18" charset="0"/>
              </a:rPr>
              <a:t>THE FLASH DRIVE MUST BE ORDERED BY THE LOCAL OR STATE PRESIDENT</a:t>
            </a:r>
            <a:r>
              <a:rPr lang="en-US" sz="2800" b="1" i="1" dirty="0">
                <a:solidFill>
                  <a:schemeClr val="tx1"/>
                </a:solidFill>
                <a:latin typeface="Times New Roman" panose="02020603050405020304" pitchFamily="18" charset="0"/>
              </a:rPr>
              <a:t>!</a:t>
            </a:r>
          </a:p>
          <a:p>
            <a:pPr marL="0" indent="0" algn="ctr">
              <a:spcBef>
                <a:spcPts val="0"/>
              </a:spcBef>
              <a:buNone/>
            </a:pPr>
            <a:endParaRPr lang="en-US" sz="2800" b="1" i="1" dirty="0">
              <a:solidFill>
                <a:schemeClr val="tx1"/>
              </a:solidFill>
              <a:latin typeface="Times New Roman" panose="02020603050405020304" pitchFamily="18" charset="0"/>
            </a:endParaRPr>
          </a:p>
          <a:p>
            <a:pPr marL="0" indent="0" algn="ctr">
              <a:spcBef>
                <a:spcPts val="0"/>
              </a:spcBef>
              <a:buNone/>
            </a:pPr>
            <a:r>
              <a:rPr lang="en-US" sz="2800" b="1" dirty="0">
                <a:solidFill>
                  <a:schemeClr val="tx1"/>
                </a:solidFill>
                <a:latin typeface="Times New Roman" panose="02020603050405020304" pitchFamily="18" charset="0"/>
              </a:rPr>
              <a:t>CONTACT:</a:t>
            </a:r>
          </a:p>
          <a:p>
            <a:pPr marL="0" indent="0" algn="ctr">
              <a:spcBef>
                <a:spcPts val="0"/>
              </a:spcBef>
              <a:buNone/>
            </a:pPr>
            <a:r>
              <a:rPr lang="en-US" sz="2800" b="1" dirty="0">
                <a:solidFill>
                  <a:schemeClr val="tx1"/>
                </a:solidFill>
                <a:latin typeface="Times New Roman" panose="02020603050405020304" pitchFamily="18" charset="0"/>
              </a:rPr>
              <a:t>Joyce B. Robinson, Director</a:t>
            </a:r>
          </a:p>
          <a:p>
            <a:pPr marL="0" indent="0" algn="ctr">
              <a:spcBef>
                <a:spcPts val="0"/>
              </a:spcBef>
              <a:buNone/>
            </a:pPr>
            <a:r>
              <a:rPr lang="en-US" sz="2800" b="1" dirty="0">
                <a:solidFill>
                  <a:schemeClr val="tx1"/>
                </a:solidFill>
                <a:latin typeface="Times New Roman" panose="02020603050405020304" pitchFamily="18" charset="0"/>
              </a:rPr>
              <a:t>Research and Education at</a:t>
            </a:r>
            <a:br>
              <a:rPr lang="en-US" sz="2800" b="1" dirty="0">
                <a:solidFill>
                  <a:schemeClr val="tx1"/>
                </a:solidFill>
                <a:latin typeface="Times New Roman" panose="02020603050405020304" pitchFamily="18" charset="0"/>
              </a:rPr>
            </a:br>
            <a:r>
              <a:rPr lang="en-US" sz="3500" b="1" dirty="0">
                <a:solidFill>
                  <a:srgbClr val="0033CC"/>
                </a:solidFill>
                <a:latin typeface="Times New Roman" panose="02020603050405020304" pitchFamily="18" charset="0"/>
                <a:hlinkClick r:id="rId2">
                  <a:extLst>
                    <a:ext uri="{A12FA001-AC4F-418D-AE19-62706E023703}">
                      <ahyp:hlinkClr xmlns:ahyp="http://schemas.microsoft.com/office/drawing/2018/hyperlinkcolor" val="tx"/>
                    </a:ext>
                  </a:extLst>
                </a:hlinkClick>
              </a:rPr>
              <a:t>jrobinson@apwu.org</a:t>
            </a:r>
            <a:r>
              <a:rPr lang="en-US" sz="3500" b="1" dirty="0">
                <a:solidFill>
                  <a:srgbClr val="0033CC"/>
                </a:solidFill>
                <a:latin typeface="Times New Roman" panose="02020603050405020304" pitchFamily="18" charset="0"/>
              </a:rPr>
              <a:t>.</a:t>
            </a:r>
          </a:p>
          <a:p>
            <a:pPr marL="0" indent="0" algn="ctr">
              <a:spcBef>
                <a:spcPts val="0"/>
              </a:spcBef>
              <a:buNone/>
            </a:pPr>
            <a:endParaRPr lang="en-US" sz="2800" b="1" dirty="0">
              <a:solidFill>
                <a:schemeClr val="tx1"/>
              </a:solidFill>
              <a:latin typeface="Times New Roman" panose="02020603050405020304" pitchFamily="18" charset="0"/>
            </a:endParaRPr>
          </a:p>
          <a:p>
            <a:pPr marL="0" indent="0" algn="ctr">
              <a:spcBef>
                <a:spcPts val="0"/>
              </a:spcBef>
              <a:buNone/>
            </a:pPr>
            <a:endParaRPr lang="en-US" sz="2800" b="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pPr marL="0" indent="0" algn="ctr">
              <a:spcBef>
                <a:spcPts val="0"/>
              </a:spcBef>
              <a:buNone/>
            </a:pPr>
            <a:endParaRPr lang="en-US" sz="3600" b="1" i="1" dirty="0">
              <a:solidFill>
                <a:schemeClr val="tx1"/>
              </a:solidFill>
              <a:latin typeface="Times New Roman" panose="02020603050405020304" pitchFamily="18" charset="0"/>
            </a:endParaRPr>
          </a:p>
          <a:p>
            <a:endParaRPr lang="en-US" dirty="0"/>
          </a:p>
        </p:txBody>
      </p:sp>
    </p:spTree>
    <p:extLst>
      <p:ext uri="{BB962C8B-B14F-4D97-AF65-F5344CB8AC3E}">
        <p14:creationId xmlns:p14="http://schemas.microsoft.com/office/powerpoint/2010/main" val="3428525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21" name="Rectangle 9"/>
          <p:cNvSpPr>
            <a:spLocks noGrp="1" noRot="1" noChangeArrowheads="1"/>
          </p:cNvSpPr>
          <p:nvPr>
            <p:ph type="title"/>
          </p:nvPr>
        </p:nvSpPr>
        <p:spPr>
          <a:xfrm>
            <a:off x="381000" y="685800"/>
            <a:ext cx="8305800" cy="5943600"/>
          </a:xfrm>
        </p:spPr>
        <p:txBody>
          <a:bodyPr>
            <a:normAutofit/>
          </a:bodyPr>
          <a:lstStyle/>
          <a:p>
            <a:pPr algn="ctr" eaLnBrk="1" hangingPunct="1">
              <a:defRPr/>
            </a:pPr>
            <a:br>
              <a:rPr lang="en-US" b="1" dirty="0">
                <a:solidFill>
                  <a:schemeClr val="accent2">
                    <a:lumMod val="75000"/>
                  </a:schemeClr>
                </a:solidFill>
                <a:latin typeface="Tahoma" charset="0"/>
              </a:rPr>
            </a:br>
            <a:br>
              <a:rPr lang="en-US" b="1" dirty="0">
                <a:solidFill>
                  <a:schemeClr val="accent2">
                    <a:lumMod val="75000"/>
                  </a:schemeClr>
                </a:solidFill>
                <a:latin typeface="Tahoma" charset="0"/>
              </a:rPr>
            </a:br>
            <a:r>
              <a:rPr lang="en-US" b="1" dirty="0">
                <a:solidFill>
                  <a:srgbClr val="0033CC"/>
                </a:solidFill>
                <a:latin typeface="Tahoma" charset="0"/>
              </a:rPr>
              <a:t>On Behalf of the </a:t>
            </a:r>
            <a:br>
              <a:rPr lang="en-US" b="1" dirty="0">
                <a:solidFill>
                  <a:srgbClr val="0033CC"/>
                </a:solidFill>
                <a:latin typeface="Tahoma" charset="0"/>
              </a:rPr>
            </a:br>
            <a:r>
              <a:rPr lang="en-US" b="1" dirty="0">
                <a:solidFill>
                  <a:srgbClr val="0033CC"/>
                </a:solidFill>
                <a:latin typeface="Tahoma" charset="0"/>
              </a:rPr>
              <a:t>American Postal Workers Union</a:t>
            </a:r>
            <a:br>
              <a:rPr lang="en-US" b="1" dirty="0">
                <a:solidFill>
                  <a:srgbClr val="0033CC"/>
                </a:solidFill>
                <a:latin typeface="Tahoma" charset="0"/>
              </a:rPr>
            </a:br>
            <a:r>
              <a:rPr lang="en-US" b="1" dirty="0">
                <a:solidFill>
                  <a:srgbClr val="0033CC"/>
                </a:solidFill>
                <a:latin typeface="Tahoma" charset="0"/>
              </a:rPr>
              <a:t>We Salute and Thank you </a:t>
            </a:r>
            <a:br>
              <a:rPr lang="en-US" b="1" dirty="0">
                <a:solidFill>
                  <a:srgbClr val="0033CC"/>
                </a:solidFill>
                <a:latin typeface="Tahoma" charset="0"/>
              </a:rPr>
            </a:br>
            <a:r>
              <a:rPr lang="en-US" b="1" dirty="0">
                <a:solidFill>
                  <a:srgbClr val="0033CC"/>
                </a:solidFill>
                <a:latin typeface="Tahoma" charset="0"/>
              </a:rPr>
              <a:t>for your service to </a:t>
            </a:r>
            <a:br>
              <a:rPr lang="en-US" b="1" dirty="0">
                <a:solidFill>
                  <a:srgbClr val="0033CC"/>
                </a:solidFill>
                <a:latin typeface="Tahoma" charset="0"/>
              </a:rPr>
            </a:br>
            <a:r>
              <a:rPr lang="en-US" b="1" dirty="0">
                <a:solidFill>
                  <a:srgbClr val="0033CC"/>
                </a:solidFill>
                <a:latin typeface="Tahoma" charset="0"/>
              </a:rPr>
              <a:t>the membership</a:t>
            </a:r>
            <a:br>
              <a:rPr lang="en-US" b="1" dirty="0">
                <a:solidFill>
                  <a:srgbClr val="0033CC"/>
                </a:solidFill>
                <a:latin typeface="Tahoma" charset="0"/>
              </a:rPr>
            </a:br>
            <a:br>
              <a:rPr lang="en-US" sz="2000" b="1" dirty="0">
                <a:solidFill>
                  <a:srgbClr val="0033CC"/>
                </a:solidFill>
                <a:latin typeface="Tahoma" charset="0"/>
              </a:rPr>
            </a:br>
            <a:r>
              <a:rPr lang="en-US" b="1" dirty="0">
                <a:solidFill>
                  <a:srgbClr val="0033CC"/>
                </a:solidFill>
                <a:latin typeface="Tahoma" charset="0"/>
              </a:rPr>
              <a:t>Good Luck and Stay Safe!!!</a:t>
            </a:r>
          </a:p>
        </p:txBody>
      </p:sp>
    </p:spTree>
  </p:cSld>
  <p:clrMapOvr>
    <a:masterClrMapping/>
  </p:clrMapOvr>
  <p:transition spd="slow" advClick="0" advTm="5000">
    <p:sndAc>
      <p:stSnd>
        <p:snd r:embed="rId2" name="applause.wav"/>
      </p:stSnd>
    </p:sndAc>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14527</TotalTime>
  <Words>8284</Words>
  <Application>Microsoft Office PowerPoint</Application>
  <PresentationFormat>On-screen Show (4:3)</PresentationFormat>
  <Paragraphs>945</Paragraphs>
  <Slides>87</Slides>
  <Notes>51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87</vt:i4>
      </vt:variant>
    </vt:vector>
  </HeadingPairs>
  <TitlesOfParts>
    <vt:vector size="97" baseType="lpstr">
      <vt:lpstr>Arial</vt:lpstr>
      <vt:lpstr>Arial Black</vt:lpstr>
      <vt:lpstr>Calibri</vt:lpstr>
      <vt:lpstr>Tahoma</vt:lpstr>
      <vt:lpstr>Times New Roman</vt:lpstr>
      <vt:lpstr>TimesNewRomanPSMT</vt:lpstr>
      <vt:lpstr>Trebuchet MS</vt:lpstr>
      <vt:lpstr>Wingdings</vt:lpstr>
      <vt:lpstr>Wingdings 3</vt:lpstr>
      <vt:lpstr>Facet</vt:lpstr>
      <vt:lpstr>PowerPoint Presentation</vt:lpstr>
      <vt:lpstr>PowerPoint Presentation</vt:lpstr>
      <vt:lpstr>PowerPoint Presentation</vt:lpstr>
      <vt:lpstr>ACKNOWLEDGEMENT</vt:lpstr>
      <vt:lpstr>DUTIES OF THE SHOP STEWARD </vt:lpstr>
      <vt:lpstr>DUTIES OF THE SHOP STEWARD CONT’D</vt:lpstr>
      <vt:lpstr>VIOLATING THE DUTY OF FAIR REPRESENTATION</vt:lpstr>
      <vt:lpstr>VIOLATING THE DUTY OF FAIR REPRESENTATION CONT’D</vt:lpstr>
      <vt:lpstr>ARTICLE 17 - REPRESENTATION  </vt:lpstr>
      <vt:lpstr>ARTICLE 17 - REPRESENTATION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RIGHT to Interview Aggrieved Employee(s), Supervisors and Witnesses During Working Hours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KEEPING TRACK OF TIME LIMITS   Keeping track of time limit is critical to a successful grievance.  An untimely grievance jeopardizes your ability to have the grievance at arbitration.  DON’T LET YOUR GRIEVANCE GO UNTIMELY!         GRIEVANCE CHRONOLOGY SHEET.pdf</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DOCUMENTATION NEEDED  FOR GRIEVANCES</vt:lpstr>
      <vt:lpstr>DOCUMENTATION NEEDED  FOR GRIEVANCES CONT’D</vt:lpstr>
      <vt:lpstr>WITNESS STATEMENTS</vt:lpstr>
      <vt:lpstr>HOW TO GET ACCURATE  WITNESS STATEMENTS</vt:lpstr>
      <vt:lpstr>REQUESTING PROPER REMEDIES AT STEP ONE AND STEP TWO </vt:lpstr>
      <vt:lpstr>REQUESTING PROPER REMEDIES AT STEP ONE AND STEP TWO CONT’D </vt:lpstr>
      <vt:lpstr>REQUESTING PROPER REMEDIES AT STEP ONE AND STEP TWO CONT’D</vt:lpstr>
      <vt:lpstr>DOCUMENTATION NEEDED  FOR GRIEVANCES AND  REQUESTING THE PROPER REMEDY</vt:lpstr>
      <vt:lpstr>PowerPoint Presentation</vt:lpstr>
      <vt:lpstr>Steward’s Training Flash Drive  </vt:lpstr>
      <vt:lpstr>  On Behalf of the  American Postal Workers Union We Salute and Thank you  for your service to  the membership  Good Luck and Stay Safe!!!</vt:lpstr>
    </vt:vector>
  </TitlesOfParts>
  <Company>APWU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jrobinson@apwu.org</dc:creator>
  <cp:lastModifiedBy>Joyce Robinson</cp:lastModifiedBy>
  <cp:revision>976</cp:revision>
  <dcterms:created xsi:type="dcterms:W3CDTF">2005-01-29T16:44:30Z</dcterms:created>
  <dcterms:modified xsi:type="dcterms:W3CDTF">2023-05-25T20:43:04Z</dcterms:modified>
</cp:coreProperties>
</file>